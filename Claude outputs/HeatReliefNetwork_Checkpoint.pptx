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D'Andre League
Good morning. I'm D'Andre League, and I'm the Scrum Master for Team 5. With me are James Hawkins, our engineer, Teyana Williams and Ryan Tucker.
What we're presenting today is Heat Relief Network — a platform that helps people find relief during extreme heat, and helps the organizations serving them decide where to send help first. Teyana is going to start us off with the problem we're solving.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Teyana Williams
Thanks D'Andre. Here's where we're headed. We'll start with the problem and our vision for the system, then Ryan will take you through the software stack, our development environment and hardware needs. D'Andre covers version control, the use case diagram and our product backlog, and James walks through the sprint work itself.
We'll close with where the project stands today and what's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Teyana Williams
Extreme heat kills more Americans every year than any other weather event, and it does not kill evenly. Older adults, low-income households who can't afford to run air conditioning all summer, and people who work outdoors carry most of that risk.
Cities do open cooling centers and water stations. The problem isn't that help doesn't exist — it's that the people who need it most often don't know where it is, whether it's open, or which kind of site actually fits their situation. And the organizations doing outreach are making decisions about where to send limited staff without good data on where need is concentrated.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Teyana Williams
Our vision is a single platform that serves both sides of that gap.
For residents: a map and list of real relief sites near them, searchable by ZIP code, showing what's open right now. For organizations: a ranked view of which neighborhoods need outreach first, and a prioritized queue of residents who've registered for help.
The thread connecting both is that the system should be able to explain its own reasoning — which is something James will come back to when he talks about our scoring engines. I'll hand over to James for features and benefits.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James Hawkins
Thanks Teyana. I'm James, the engineer on the team.
On the resident side: ZIP code search, a live map with open and closed status, filtering by site type, and a priority overlay that shades the neighborhoods our scoring engine ranks highest. On the organization side: a secured admin portal for updating site status, a priority-areas table, invite-code registration and a resident queue ordered by need.
The benefit underneath all of it is targeting. Outreach budgets are finite. If you can rank neighborhoods by actual vulnerability and adjust for what resources are already nearby, you send help where it changes outcomes instead of spreading it evenly and thin. Ryan is going to take you through what we built it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Ryan Tucker
Thanks James. I'm Ryan.
Backend is Node.js with Express serving a REST API. Database is PostgreSQL 17 with PostGIS — that extension is doing real work for us, because the question "what's the nearest open site to this point" is a spatial index lookup rather than something we had to write ourselves.
The front end started as plain HTML, CSS and JavaScript with Leaflet for mapping — deliberately no build step, so nothing slowed us down early. We've since decided to move to React, and I'll cover why on the next slide but one. The scoring engine is custom rule-based JavaScript with no machine learning runtime, which keeps the whole thing lightweight.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Ryan Tucker
This is the request path. The browser makes CORS-enabled REST calls to the Express API. Express talks to Postgres through the pg driver. PostGIS handles anything spatial.
The scoring engine sits inside the application tier — riskScore.js computes a vulnerability score from data already in the areas table, and a batch job refreshes those inputs. Configuration and secrets load from a local environment file that's kept out of version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Ryan Tucker
This slide is a decision we made mid-project, and we're presenting it rather than quietly swapping the stack.
We're rebuilding the front end in React with JSX, bundled with Vite. The reasons: we're hand-writing the same site card, status badge and map panel three times across the resident, admin and registration pages, and all our state — filters, markers, the registration flow — is manual DOM manipulation right now.
We've also put the cost on the slide honestly. That's about eighteen hundred lines of working front end to port, it introduces a build step that our launcher scripts have to account for, and Leaflet is the risky piece because it manipulates the DOM directly. What doesn't change is the API, the database or the scoring engines — this is a client-side change only, so we can migrate one page at a time against the same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Ryan Tucker
Development is on macOS with Homebrew for Node, Postgres 17 and PostGIS. Node and npm are the runtime. VS Code for editing.
One thing that changed with the React decision: the front end used to need nothing more than any static file server — that was a convenience, not a dependency. Now the Vite dev server with hot reload is a real part of the toolchain, and a build step produces the bundle. We test the API directly with curl and Postman.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Ryan Tucker
For collaboration: GitHub with a main, develop and feature-branch workflow, everything merged through pull requests. Jira for the Scrum board, sprint planning and story points.
On hardware — and this connects back to the design decision James will expand on — there are no special requirements. Any laptop that runs Node and a local Postgres instance is enough. Because our priority matching is a rule-based function rather than a trained model, there's no GPU and no elevated compute needed. That's not a limitation we're apologizing for; it's a property of the design. Over to D'Andre.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D'Andre League
Thanks Ryan. This is the same system in tiers rather than request flow.
Client tier is the React single-page app — the resident map and list, the organization admin portal, and resident registration, all with Leaflet and OpenStreetMap. Application tier is the Express routes plus the scoring engine. Data tier is Postgres with PostGIS, holding areas, sites, organizations and alerts, with spatial indexes.
On the right are the integrations we've scoped but not yet built — the National Weather Service API and the Census Bureau's survey data. Those are Sprint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D'Andre League
Our repository is on GitHub. We run main as the stable branch, develop as the integration branch, and feature branches off that, merged through pull requests once a story's acceptance criteria are met.
Authentication is over HTTPS with a personal access token. We keep Jira and GitHub linked so every issue traces to the commits and pull request that implemented it — which matters for this course, because it means our process is verifiable rather than just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D'Andre League
This is the system scope. Two primary actors: the resident searching for relief, and the organization administrator managing sites and outreach.
The resident finds sites, filters them, views the priority overlay and — with an invite — registers for priority access. The administrator updates site status, reviews ranked priority areas, issues invite codes and works the resident queue. The scoring engine sits behind both, because it feeds the resident's overlay and the administrator's ranking from the same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D'Andre League
This is our full product backlog — thirty items across four epics, all written as formal user stories, all story-pointed, all tracked in Jira.
The four epics are AI Priority Matching, which is complete; Live Weather Integration; Demographic Integration; and Priority Access and Resident Matching. Three items sit outside any single epic — the cross-cutting recompute job, the Texas site directory story and ZIP code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D'Andre League
For Sprint 1 we selected the AI Priority Matching epic — six stories, twenty-one points. That was a deliberate sequencing decision: the scoring engine is what makes this project more than a directory of addresses, so we wanted it built and proven first rather than saved for last.
All six are Done and merged. The next six slides walk through each one with its acceptance criteria and development tasks. James built these, so I'll hand over to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James Hawkins
Thanks D'Andre. Story one: as a developer, I want an areas database table storing heat and demographic inputs per area, so scores can be computed and stored. Three points.
Acceptance criteria was that the table exists with the right columns, has a spatial index for proximity queries, and is version-controlled so it applies cleanly to a fresh database. This is the foundation — nothing else in the epic works without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James Hawkins
Story two: the scoring function itself. Three points.
This combines heat index and vulnerability percentages into a single zero-to-one-hundred score. Heat index is thirty-five percent of the weight, lack of air conditioning thirty, elderly population twenty, low income fifteen. The acceptance criterion was that it returns a consistent, reproducible score — and critically, a breakdown showing how much each factor contributed, so the number can be explained rather than just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James Hawkins
Story three, five points: ranking areas by priority, adjusted for how far the nearest open site is.
This is the piece that makes the ranking useful rather than just descriptive. Two neighborhoods can be equally vulnerable, but if one has a cooling center three blocks away and the other has nothing within ten miles, they are not equally urgent. This is where PostGIS earns its place — the nearest-open-site lookup is a spatial query against the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James Hawkins
Story four, five points: as an organization administrator, I want a priority areas table in the admin portal, so I can act on this ranking without reading raw JSON.
The acceptance criteria were a ranked table showing area, priority band, heat index and nearest open site with distance; a region filter; and a recompute button that updates a single row without reloading the page. This is the difference between an API that produces a score and a tool somebody can actually use on a Tuesday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James Hawkins
Story five, three points: as a resident, I want to see priority areas shaded on the map, so I understand where help is most needed in my area.
A checkbox toggles a colored overlay, with circle color scaling from red through orange and yellow to green by priority score. Clicking a circle shows the area name, its score and the nearest open site. The same computation drives this and the admin table — residents and organizations see one consistent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James Hawkins
Story six, two points: as a team, we want our scoring methodology documented, so it can be reviewed and later swapped for a trained model.
I want to spend a moment on why this was a story with points rather than an afterthought. This function influences who gets prioritized access to a life-safety resource. If we can't explain the weights and defend where they came from, we shouldn't be shipping it. The documentation names every weight, its public-health source, the known limitations, and exactly what would be required to replace it responsibly with a trained model — labeled outcome data, bias testing across protected groups, and a human override.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James Hawkins
Now Sprint 2, which is scoped and ready to start. The goal of this epic is to replace hand-seeded demographic numbers with live Census data.
SCRUM-18, three points, resolves an area's coordinates to its census tract through the Census geocoder. SCRUM-19, five points, pulls the elderly and low-income percentages for that tract from the American Community Survey. SCRUM-20 caches those lookups, because tract demographics barely change year to year and there's no reason to re-hit the API on every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James Hawkins
SCRUM-21 is a fallback to last-known-good values when the Census API is down, so one flaky external service doesn't break scoring for every area.
SCRUM-22 is the honest one. There is no free live API that provides air-conditioning access at the tract level — and that's thirty percent of our vulnerability weight. Rather than quietly fabricating a number, this story requires us to document the approach we choose and its refresh cadence. A documented gap is a defensible project; an undocumented guess isn't.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James Hawkins
The weather epic replaces hand-typed heat index with live readings. SCRUM-23, five points, is the service module — it calls the National Weather Service API first and falls back to Open-Meteo on failure or timeout. Ryan owns this one and has it in progress.
SCRUM-24 caches responses on a thirty-to-sixty-minute window so we stay inside rate limits. SCRUM-25 is the same last-known-good fallback pattern as the demographic side — deliberately consistent, so the failure behavior is the same wherever an external service is involved.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James Hawkins
SCRUM-26 is the story that ties both epics together: the batch job that pulls live weather and live demographics before scoring each area.
It's deliberately parented to neither epic. We split weather and demographics so two developers could each own one without editing the same files — the recompute job is where they finally meet. It's scheduled to start once either epic lands, and may be reassigned at standup to whoever finishes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James Hawkins
This slide is where concept became real, and I want to be straightforward about it.
We originally built against placeholder neighborhoods in Los Angeles County, because you cannot develop spatial search against an empty database. Our team is in Texas, so we moved the pilot region and replaced that placeholder data with five real neighborhoods — Sunnyside in Harris County, South Dallas and Fair Park in Dallas County, the West Side of San Antonio in Bexar County, Near Southeast Fort Worth in Tarrant County, and East Austin in Travis County — plus eleven real relief sites verified against city library and parks department records.
The pivot also exposed a real defect. When we swapped the data we discovered no relief sites had ever been seeded at all — the resident search had been returning an empty list for the whole sprint, and nobody caught it because we'd been testing the area scoring, not the site directory. We closed it as its own backlog item. Moving from placeholder data to real data isn't a cosmetic change, and this is the evidence.
One more deliberate choice: every seeded site loads with status unknown, not open. Real status gets set by an organization that actually knows. We'd rather show an honest unknown than send someone to a locked door in a hundred and nine degrees. Back to D'Andre.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D'Andre League
Thanks James. Here's how Sprint 2's twenty-three points are distributed.
James has the Demographic Integration epic at twelve points — we kept a whole epic with one owner for continuity. Ryan has the weather service module at five. Teyana has the weather fallback and the cross-cutting recompute job at four. I'm carrying two points.
That's intentional. As Scrum Master my Sprint 2 job is facilitation and unblocking, and that work doesn't show up in story points. The two developers are balanced within a point of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D'Andre League
To close: the Heat Relief Network runs end to end today. A live Express and PostGIS backend, a working resident map and organization portal, and a documented rule-based priority engine ranking real Texas neighborhoods by heat vulnerability.
Sprint 2 is scoped and assigned — live weather and live Census data will replace our hand-seeded inputs without changing the transparent, explainable design underneath.
Our Jira board and GitHub history give a verifiable record of both the process and the product. This is Agile and Scrum practiced on a real, shipping feature — not a paper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D'Andre League
Thank you. On behalf of Team 5 — D'Andre League, James Hawkins, Teyana Williams and Ryan Tucker —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E276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778240" y="-2011680"/>
            <a:ext cx="6858000" cy="6858000"/>
          </a:xfrm>
          <a:prstGeom prst="ellipse">
            <a:avLst/>
          </a:prstGeom>
          <a:solidFill>
            <a:srgbClr val="E8543A">
              <a:alpha val="14000"/>
            </a:srgbClr>
          </a:solidFill>
          <a:ln/>
        </p:spPr>
      </p:sp>
      <p:sp>
        <p:nvSpPr>
          <p:cNvPr id="3" name="Shape 1"/>
          <p:cNvSpPr/>
          <p:nvPr/>
        </p:nvSpPr>
        <p:spPr>
          <a:xfrm>
            <a:off x="-2194560" y="4206240"/>
            <a:ext cx="5669280" cy="5669280"/>
          </a:xfrm>
          <a:prstGeom prst="ellipse">
            <a:avLst/>
          </a:prstGeom>
          <a:solidFill>
            <a:srgbClr val="C98A2E">
              <a:alpha val="12000"/>
            </a:srgbClr>
          </a:solidFill>
          <a:ln/>
        </p:spPr>
      </p:sp>
      <p:sp>
        <p:nvSpPr>
          <p:cNvPr id="4" name="Text 2"/>
          <p:cNvSpPr txBox="1"/>
          <p:nvPr/>
        </p:nvSpPr>
        <p:spPr>
          <a:xfrm>
            <a:off x="822960" y="1371600"/>
            <a:ext cx="7315200" cy="320040"/>
          </a:xfrm>
          <a:prstGeom prst="rect">
            <a:avLst/>
          </a:prstGeom>
          <a:noFill/>
          <a:ln/>
        </p:spPr>
        <p:txBody>
          <a:bodyPr wrap="square" lIns="0" tIns="0" rIns="0" bIns="0" rtlCol="0" anchor="ctr"/>
          <a:lstStyle/>
          <a:p>
            <a:pPr indent="0" marL="0">
              <a:buNone/>
            </a:pPr>
            <a:r>
              <a:rPr lang="en-US" sz="1300" b="1" spc="300" kern="0" dirty="0">
                <a:solidFill>
                  <a:srgbClr val="9AA6E0"/>
                </a:solidFill>
                <a:latin typeface="Calibri" pitchFamily="34" charset="0"/>
                <a:ea typeface="Calibri" pitchFamily="34" charset="-122"/>
                <a:cs typeface="Calibri" pitchFamily="34" charset="-120"/>
              </a:rPr>
              <a:t>PRAIRIE VIEW A&amp;M UNIVERSITY</a:t>
            </a:r>
            <a:endParaRPr lang="en-US" sz="1300" dirty="0"/>
          </a:p>
        </p:txBody>
      </p:sp>
      <p:sp>
        <p:nvSpPr>
          <p:cNvPr id="5" name="Text 3"/>
          <p:cNvSpPr txBox="1"/>
          <p:nvPr/>
        </p:nvSpPr>
        <p:spPr>
          <a:xfrm>
            <a:off x="777240" y="2331720"/>
            <a:ext cx="10607040" cy="137160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HEAT RELIEF NETWORK</a:t>
            </a:r>
            <a:endParaRPr lang="en-US" sz="5200" dirty="0"/>
          </a:p>
        </p:txBody>
      </p:sp>
      <p:sp>
        <p:nvSpPr>
          <p:cNvPr id="6" name="Text 4"/>
          <p:cNvSpPr txBox="1"/>
          <p:nvPr/>
        </p:nvSpPr>
        <p:spPr>
          <a:xfrm>
            <a:off x="822960" y="3520440"/>
            <a:ext cx="9875520" cy="548640"/>
          </a:xfrm>
          <a:prstGeom prst="rect">
            <a:avLst/>
          </a:prstGeom>
          <a:noFill/>
          <a:ln/>
        </p:spPr>
        <p:txBody>
          <a:bodyPr wrap="square" lIns="0" tIns="0" rIns="0" bIns="0" rtlCol="0" anchor="ctr"/>
          <a:lstStyle/>
          <a:p>
            <a:pPr indent="0" marL="0">
              <a:buNone/>
            </a:pPr>
            <a:r>
              <a:rPr lang="en-US" sz="1800" i="1" dirty="0">
                <a:solidFill>
                  <a:srgbClr val="CFD6F5"/>
                </a:solidFill>
                <a:latin typeface="Calibri" pitchFamily="34" charset="0"/>
                <a:ea typeface="Calibri" pitchFamily="34" charset="-122"/>
                <a:cs typeface="Calibri" pitchFamily="34" charset="-120"/>
              </a:rPr>
              <a:t>An AI-Assisted Community Platform for Cooling Centers &amp; Heat Safety</a:t>
            </a:r>
            <a:endParaRPr lang="en-US" sz="1800" dirty="0"/>
          </a:p>
        </p:txBody>
      </p:sp>
      <p:sp>
        <p:nvSpPr>
          <p:cNvPr id="7" name="Shape 5"/>
          <p:cNvSpPr/>
          <p:nvPr/>
        </p:nvSpPr>
        <p:spPr>
          <a:xfrm>
            <a:off x="822960" y="4892040"/>
            <a:ext cx="5212080" cy="1234440"/>
          </a:xfrm>
          <a:prstGeom prst="roundRect">
            <a:avLst>
              <a:gd name="adj" fmla="val 6667"/>
            </a:avLst>
          </a:prstGeom>
          <a:solidFill>
            <a:srgbClr val="252C6B"/>
          </a:solidFill>
          <a:ln w="12700">
            <a:solidFill>
              <a:srgbClr val="3A4290"/>
            </a:solidFill>
            <a:prstDash val="solid"/>
          </a:ln>
        </p:spPr>
      </p:sp>
      <p:sp>
        <p:nvSpPr>
          <p:cNvPr id="8" name="Text 6"/>
          <p:cNvSpPr txBox="1"/>
          <p:nvPr/>
        </p:nvSpPr>
        <p:spPr>
          <a:xfrm>
            <a:off x="1051560" y="5029200"/>
            <a:ext cx="47548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CINS 5338 / 5388 — Software Project Management</a:t>
            </a:r>
            <a:endParaRPr lang="en-US" sz="1300" dirty="0"/>
          </a:p>
        </p:txBody>
      </p:sp>
      <p:sp>
        <p:nvSpPr>
          <p:cNvPr id="9" name="Text 7"/>
          <p:cNvSpPr txBox="1"/>
          <p:nvPr/>
        </p:nvSpPr>
        <p:spPr>
          <a:xfrm>
            <a:off x="1051560" y="5394960"/>
            <a:ext cx="4754880" cy="594360"/>
          </a:xfrm>
          <a:prstGeom prst="rect">
            <a:avLst/>
          </a:prstGeom>
          <a:noFill/>
          <a:ln/>
        </p:spPr>
        <p:txBody>
          <a:bodyPr wrap="square" lIns="0" tIns="0" rIns="0" bIns="0" rtlCol="0" anchor="ctr"/>
          <a:lstStyle/>
          <a:p>
            <a:pPr indent="0" marL="0">
              <a:buNone/>
            </a:pPr>
            <a:r>
              <a:rPr lang="en-US" sz="1250" dirty="0">
                <a:solidFill>
                  <a:srgbClr val="CFD6F5"/>
                </a:solidFill>
                <a:latin typeface="Calibri" pitchFamily="34" charset="0"/>
                <a:ea typeface="Calibri" pitchFamily="34" charset="-122"/>
                <a:cs typeface="Calibri" pitchFamily="34" charset="-120"/>
              </a:rPr>
              <a:t>Prepared by Team 5  •  Checkpoint Presentation</a:t>
            </a:r>
            <a:endParaRPr lang="en-US" sz="1250" dirty="0"/>
          </a:p>
        </p:txBody>
      </p:sp>
      <p:sp>
        <p:nvSpPr>
          <p:cNvPr id="10" name="Text 8"/>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CINS 5338/5388 — Software Project Management</a:t>
            </a:r>
            <a:endParaRPr lang="en-US" sz="900" dirty="0"/>
          </a:p>
        </p:txBody>
      </p:sp>
      <p:sp>
        <p:nvSpPr>
          <p:cNvPr id="11" name="Text 9"/>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5720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Table of Contents</a:t>
            </a:r>
            <a:endParaRPr lang="en-US" sz="3000" dirty="0"/>
          </a:p>
        </p:txBody>
      </p:sp>
      <p:sp>
        <p:nvSpPr>
          <p:cNvPr id="3" name="Shape 1"/>
          <p:cNvSpPr/>
          <p:nvPr/>
        </p:nvSpPr>
        <p:spPr>
          <a:xfrm>
            <a:off x="640080" y="1554480"/>
            <a:ext cx="365760" cy="36576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4" name="Text 2"/>
          <p:cNvSpPr txBox="1"/>
          <p:nvPr/>
        </p:nvSpPr>
        <p:spPr>
          <a:xfrm>
            <a:off x="640080" y="15544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5" name="Text 3"/>
          <p:cNvSpPr txBox="1"/>
          <p:nvPr/>
        </p:nvSpPr>
        <p:spPr>
          <a:xfrm>
            <a:off x="1170432" y="1517904"/>
            <a:ext cx="4572000" cy="438912"/>
          </a:xfrm>
          <a:prstGeom prst="rect">
            <a:avLst/>
          </a:prstGeom>
          <a:noFill/>
          <a:ln/>
        </p:spPr>
        <p:txBody>
          <a:bodyPr wrap="square" lIns="0" tIns="0" rIns="0" bIns="0" rtlCol="0" anchor="ctr"/>
          <a:lstStyle/>
          <a:p>
            <a:pPr indent="0" marL="0">
              <a:buNone/>
            </a:pPr>
            <a:r>
              <a:rPr lang="en-US" sz="1450" dirty="0">
                <a:solidFill>
                  <a:srgbClr val="2B2B2B"/>
                </a:solidFill>
                <a:latin typeface="Calibri" pitchFamily="34" charset="0"/>
                <a:ea typeface="Calibri" pitchFamily="34" charset="-122"/>
                <a:cs typeface="Calibri" pitchFamily="34" charset="-120"/>
              </a:rPr>
              <a:t>Problem Description</a:t>
            </a:r>
            <a:endParaRPr lang="en-US" sz="1450" dirty="0"/>
          </a:p>
        </p:txBody>
      </p:sp>
      <p:sp>
        <p:nvSpPr>
          <p:cNvPr id="6" name="Shape 4"/>
          <p:cNvSpPr/>
          <p:nvPr/>
        </p:nvSpPr>
        <p:spPr>
          <a:xfrm>
            <a:off x="640080" y="2084832"/>
            <a:ext cx="365760" cy="365760"/>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7" name="Text 5"/>
          <p:cNvSpPr txBox="1"/>
          <p:nvPr/>
        </p:nvSpPr>
        <p:spPr>
          <a:xfrm>
            <a:off x="640080" y="208483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8" name="Text 6"/>
          <p:cNvSpPr txBox="1"/>
          <p:nvPr/>
        </p:nvSpPr>
        <p:spPr>
          <a:xfrm>
            <a:off x="1170432" y="2048256"/>
            <a:ext cx="4572000" cy="438912"/>
          </a:xfrm>
          <a:prstGeom prst="rect">
            <a:avLst/>
          </a:prstGeom>
          <a:noFill/>
          <a:ln/>
        </p:spPr>
        <p:txBody>
          <a:bodyPr wrap="square" lIns="0" tIns="0" rIns="0" bIns="0" rtlCol="0" anchor="ctr"/>
          <a:lstStyle/>
          <a:p>
            <a:pPr indent="0" marL="0">
              <a:buNone/>
            </a:pPr>
            <a:r>
              <a:rPr lang="en-US" sz="1450" dirty="0">
                <a:solidFill>
                  <a:srgbClr val="2B2B2B"/>
                </a:solidFill>
                <a:latin typeface="Calibri" pitchFamily="34" charset="0"/>
                <a:ea typeface="Calibri" pitchFamily="34" charset="-122"/>
                <a:cs typeface="Calibri" pitchFamily="34" charset="-120"/>
              </a:rPr>
              <a:t>Project Vision</a:t>
            </a:r>
            <a:endParaRPr lang="en-US" sz="1450" dirty="0"/>
          </a:p>
        </p:txBody>
      </p:sp>
      <p:sp>
        <p:nvSpPr>
          <p:cNvPr id="9" name="Shape 7"/>
          <p:cNvSpPr/>
          <p:nvPr/>
        </p:nvSpPr>
        <p:spPr>
          <a:xfrm>
            <a:off x="640080" y="2615184"/>
            <a:ext cx="365760" cy="36576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10" name="Text 8"/>
          <p:cNvSpPr txBox="1"/>
          <p:nvPr/>
        </p:nvSpPr>
        <p:spPr>
          <a:xfrm>
            <a:off x="640080" y="26151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170432" y="2578608"/>
            <a:ext cx="4572000" cy="438912"/>
          </a:xfrm>
          <a:prstGeom prst="rect">
            <a:avLst/>
          </a:prstGeom>
          <a:noFill/>
          <a:ln/>
        </p:spPr>
        <p:txBody>
          <a:bodyPr wrap="square" lIns="0" tIns="0" rIns="0" bIns="0" rtlCol="0" anchor="ctr"/>
          <a:lstStyle/>
          <a:p>
            <a:pPr indent="0" marL="0">
              <a:buNone/>
            </a:pPr>
            <a:r>
              <a:rPr lang="en-US" sz="1450" dirty="0">
                <a:solidFill>
                  <a:srgbClr val="2B2B2B"/>
                </a:solidFill>
                <a:latin typeface="Calibri" pitchFamily="34" charset="0"/>
                <a:ea typeface="Calibri" pitchFamily="34" charset="-122"/>
                <a:cs typeface="Calibri" pitchFamily="34" charset="-120"/>
              </a:rPr>
              <a:t>Features &amp; Benefits of the System</a:t>
            </a:r>
            <a:endParaRPr lang="en-US" sz="1450" dirty="0"/>
          </a:p>
        </p:txBody>
      </p:sp>
      <p:sp>
        <p:nvSpPr>
          <p:cNvPr id="12" name="Shape 10"/>
          <p:cNvSpPr/>
          <p:nvPr/>
        </p:nvSpPr>
        <p:spPr>
          <a:xfrm>
            <a:off x="640080" y="3145536"/>
            <a:ext cx="365760" cy="365760"/>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13" name="Text 11"/>
          <p:cNvSpPr txBox="1"/>
          <p:nvPr/>
        </p:nvSpPr>
        <p:spPr>
          <a:xfrm>
            <a:off x="640080" y="314553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4" name="Text 12"/>
          <p:cNvSpPr txBox="1"/>
          <p:nvPr/>
        </p:nvSpPr>
        <p:spPr>
          <a:xfrm>
            <a:off x="1170432" y="3108960"/>
            <a:ext cx="4572000" cy="438912"/>
          </a:xfrm>
          <a:prstGeom prst="rect">
            <a:avLst/>
          </a:prstGeom>
          <a:noFill/>
          <a:ln/>
        </p:spPr>
        <p:txBody>
          <a:bodyPr wrap="square" lIns="0" tIns="0" rIns="0" bIns="0" rtlCol="0" anchor="ctr"/>
          <a:lstStyle/>
          <a:p>
            <a:pPr indent="0" marL="0">
              <a:buNone/>
            </a:pPr>
            <a:r>
              <a:rPr lang="en-US" sz="1450" dirty="0">
                <a:solidFill>
                  <a:srgbClr val="2B2B2B"/>
                </a:solidFill>
                <a:latin typeface="Calibri" pitchFamily="34" charset="0"/>
                <a:ea typeface="Calibri" pitchFamily="34" charset="-122"/>
                <a:cs typeface="Calibri" pitchFamily="34" charset="-120"/>
              </a:rPr>
              <a:t>Software Stack</a:t>
            </a:r>
            <a:endParaRPr lang="en-US" sz="1450" dirty="0"/>
          </a:p>
        </p:txBody>
      </p:sp>
      <p:sp>
        <p:nvSpPr>
          <p:cNvPr id="15" name="Shape 13"/>
          <p:cNvSpPr/>
          <p:nvPr/>
        </p:nvSpPr>
        <p:spPr>
          <a:xfrm>
            <a:off x="640080" y="3675888"/>
            <a:ext cx="365760" cy="36576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16" name="Text 14"/>
          <p:cNvSpPr txBox="1"/>
          <p:nvPr/>
        </p:nvSpPr>
        <p:spPr>
          <a:xfrm>
            <a:off x="640080" y="367588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7" name="Text 15"/>
          <p:cNvSpPr txBox="1"/>
          <p:nvPr/>
        </p:nvSpPr>
        <p:spPr>
          <a:xfrm>
            <a:off x="1170432" y="3639312"/>
            <a:ext cx="4572000" cy="438912"/>
          </a:xfrm>
          <a:prstGeom prst="rect">
            <a:avLst/>
          </a:prstGeom>
          <a:noFill/>
          <a:ln/>
        </p:spPr>
        <p:txBody>
          <a:bodyPr wrap="square" lIns="0" tIns="0" rIns="0" bIns="0" rtlCol="0" anchor="ctr"/>
          <a:lstStyle/>
          <a:p>
            <a:pPr indent="0" marL="0">
              <a:buNone/>
            </a:pPr>
            <a:r>
              <a:rPr lang="en-US" sz="1450" dirty="0">
                <a:solidFill>
                  <a:srgbClr val="2B2B2B"/>
                </a:solidFill>
                <a:latin typeface="Calibri" pitchFamily="34" charset="0"/>
                <a:ea typeface="Calibri" pitchFamily="34" charset="-122"/>
                <a:cs typeface="Calibri" pitchFamily="34" charset="-120"/>
              </a:rPr>
              <a:t>How the Stack Works Together</a:t>
            </a:r>
            <a:endParaRPr lang="en-US" sz="1450" dirty="0"/>
          </a:p>
        </p:txBody>
      </p:sp>
      <p:sp>
        <p:nvSpPr>
          <p:cNvPr id="18" name="Shape 16"/>
          <p:cNvSpPr/>
          <p:nvPr/>
        </p:nvSpPr>
        <p:spPr>
          <a:xfrm>
            <a:off x="640080" y="4206240"/>
            <a:ext cx="365760" cy="365760"/>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19" name="Text 17"/>
          <p:cNvSpPr txBox="1"/>
          <p:nvPr/>
        </p:nvSpPr>
        <p:spPr>
          <a:xfrm>
            <a:off x="640080" y="42062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0" name="Text 18"/>
          <p:cNvSpPr txBox="1"/>
          <p:nvPr/>
        </p:nvSpPr>
        <p:spPr>
          <a:xfrm>
            <a:off x="1170432" y="4169664"/>
            <a:ext cx="4572000" cy="438912"/>
          </a:xfrm>
          <a:prstGeom prst="rect">
            <a:avLst/>
          </a:prstGeom>
          <a:noFill/>
          <a:ln/>
        </p:spPr>
        <p:txBody>
          <a:bodyPr wrap="square" lIns="0" tIns="0" rIns="0" bIns="0" rtlCol="0" anchor="ctr"/>
          <a:lstStyle/>
          <a:p>
            <a:pPr indent="0" marL="0">
              <a:buNone/>
            </a:pPr>
            <a:r>
              <a:rPr lang="en-US" sz="1450" dirty="0">
                <a:solidFill>
                  <a:srgbClr val="2B2B2B"/>
                </a:solidFill>
                <a:latin typeface="Calibri" pitchFamily="34" charset="0"/>
                <a:ea typeface="Calibri" pitchFamily="34" charset="-122"/>
                <a:cs typeface="Calibri" pitchFamily="34" charset="-120"/>
              </a:rPr>
              <a:t>Frontend Architecture Decision</a:t>
            </a:r>
            <a:endParaRPr lang="en-US" sz="1450" dirty="0"/>
          </a:p>
        </p:txBody>
      </p:sp>
      <p:sp>
        <p:nvSpPr>
          <p:cNvPr id="21" name="Shape 19"/>
          <p:cNvSpPr/>
          <p:nvPr/>
        </p:nvSpPr>
        <p:spPr>
          <a:xfrm>
            <a:off x="640080" y="4736592"/>
            <a:ext cx="365760" cy="36576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22" name="Text 20"/>
          <p:cNvSpPr txBox="1"/>
          <p:nvPr/>
        </p:nvSpPr>
        <p:spPr>
          <a:xfrm>
            <a:off x="640080" y="473659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23" name="Text 21"/>
          <p:cNvSpPr txBox="1"/>
          <p:nvPr/>
        </p:nvSpPr>
        <p:spPr>
          <a:xfrm>
            <a:off x="1170432" y="4700016"/>
            <a:ext cx="4572000" cy="438912"/>
          </a:xfrm>
          <a:prstGeom prst="rect">
            <a:avLst/>
          </a:prstGeom>
          <a:noFill/>
          <a:ln/>
        </p:spPr>
        <p:txBody>
          <a:bodyPr wrap="square" lIns="0" tIns="0" rIns="0" bIns="0" rtlCol="0" anchor="ctr"/>
          <a:lstStyle/>
          <a:p>
            <a:pPr indent="0" marL="0">
              <a:buNone/>
            </a:pPr>
            <a:r>
              <a:rPr lang="en-US" sz="1450" dirty="0">
                <a:solidFill>
                  <a:srgbClr val="2B2B2B"/>
                </a:solidFill>
                <a:latin typeface="Calibri" pitchFamily="34" charset="0"/>
                <a:ea typeface="Calibri" pitchFamily="34" charset="-122"/>
                <a:cs typeface="Calibri" pitchFamily="34" charset="-120"/>
              </a:rPr>
              <a:t>Development Environments / Tools</a:t>
            </a:r>
            <a:endParaRPr lang="en-US" sz="1450" dirty="0"/>
          </a:p>
        </p:txBody>
      </p:sp>
      <p:sp>
        <p:nvSpPr>
          <p:cNvPr id="24" name="Shape 22"/>
          <p:cNvSpPr/>
          <p:nvPr/>
        </p:nvSpPr>
        <p:spPr>
          <a:xfrm>
            <a:off x="640080" y="5266944"/>
            <a:ext cx="365760" cy="365760"/>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25" name="Text 23"/>
          <p:cNvSpPr txBox="1"/>
          <p:nvPr/>
        </p:nvSpPr>
        <p:spPr>
          <a:xfrm>
            <a:off x="640080" y="52669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26" name="Text 24"/>
          <p:cNvSpPr txBox="1"/>
          <p:nvPr/>
        </p:nvSpPr>
        <p:spPr>
          <a:xfrm>
            <a:off x="1170432" y="5230368"/>
            <a:ext cx="4572000" cy="438912"/>
          </a:xfrm>
          <a:prstGeom prst="rect">
            <a:avLst/>
          </a:prstGeom>
          <a:noFill/>
          <a:ln/>
        </p:spPr>
        <p:txBody>
          <a:bodyPr wrap="square" lIns="0" tIns="0" rIns="0" bIns="0" rtlCol="0" anchor="ctr"/>
          <a:lstStyle/>
          <a:p>
            <a:pPr indent="0" marL="0">
              <a:buNone/>
            </a:pPr>
            <a:r>
              <a:rPr lang="en-US" sz="1450" dirty="0">
                <a:solidFill>
                  <a:srgbClr val="2B2B2B"/>
                </a:solidFill>
                <a:latin typeface="Calibri" pitchFamily="34" charset="0"/>
                <a:ea typeface="Calibri" pitchFamily="34" charset="-122"/>
                <a:cs typeface="Calibri" pitchFamily="34" charset="-120"/>
              </a:rPr>
              <a:t>Hardware Requirements</a:t>
            </a:r>
            <a:endParaRPr lang="en-US" sz="1450" dirty="0"/>
          </a:p>
        </p:txBody>
      </p:sp>
      <p:sp>
        <p:nvSpPr>
          <p:cNvPr id="27" name="Shape 25"/>
          <p:cNvSpPr/>
          <p:nvPr/>
        </p:nvSpPr>
        <p:spPr>
          <a:xfrm>
            <a:off x="640080" y="5797296"/>
            <a:ext cx="365760" cy="36576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28" name="Text 26"/>
          <p:cNvSpPr txBox="1"/>
          <p:nvPr/>
        </p:nvSpPr>
        <p:spPr>
          <a:xfrm>
            <a:off x="640080" y="579729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29" name="Text 27"/>
          <p:cNvSpPr txBox="1"/>
          <p:nvPr/>
        </p:nvSpPr>
        <p:spPr>
          <a:xfrm>
            <a:off x="1170432" y="5760720"/>
            <a:ext cx="4572000" cy="438912"/>
          </a:xfrm>
          <a:prstGeom prst="rect">
            <a:avLst/>
          </a:prstGeom>
          <a:noFill/>
          <a:ln/>
        </p:spPr>
        <p:txBody>
          <a:bodyPr wrap="square" lIns="0" tIns="0" rIns="0" bIns="0" rtlCol="0" anchor="ctr"/>
          <a:lstStyle/>
          <a:p>
            <a:pPr indent="0" marL="0">
              <a:buNone/>
            </a:pPr>
            <a:r>
              <a:rPr lang="en-US" sz="1450" dirty="0">
                <a:solidFill>
                  <a:srgbClr val="2B2B2B"/>
                </a:solidFill>
                <a:latin typeface="Calibri" pitchFamily="34" charset="0"/>
                <a:ea typeface="Calibri" pitchFamily="34" charset="-122"/>
                <a:cs typeface="Calibri" pitchFamily="34" charset="-120"/>
              </a:rPr>
              <a:t>System Architecture</a:t>
            </a:r>
            <a:endParaRPr lang="en-US" sz="1450" dirty="0"/>
          </a:p>
        </p:txBody>
      </p:sp>
      <p:sp>
        <p:nvSpPr>
          <p:cNvPr id="30" name="Shape 28"/>
          <p:cNvSpPr/>
          <p:nvPr/>
        </p:nvSpPr>
        <p:spPr>
          <a:xfrm>
            <a:off x="6309360" y="1554480"/>
            <a:ext cx="365760" cy="365760"/>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31" name="Text 29"/>
          <p:cNvSpPr txBox="1"/>
          <p:nvPr/>
        </p:nvSpPr>
        <p:spPr>
          <a:xfrm>
            <a:off x="6309360" y="15544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32" name="Text 30"/>
          <p:cNvSpPr txBox="1"/>
          <p:nvPr/>
        </p:nvSpPr>
        <p:spPr>
          <a:xfrm>
            <a:off x="6839712" y="1517904"/>
            <a:ext cx="4572000" cy="438912"/>
          </a:xfrm>
          <a:prstGeom prst="rect">
            <a:avLst/>
          </a:prstGeom>
          <a:noFill/>
          <a:ln/>
        </p:spPr>
        <p:txBody>
          <a:bodyPr wrap="square" lIns="0" tIns="0" rIns="0" bIns="0" rtlCol="0" anchor="ctr"/>
          <a:lstStyle/>
          <a:p>
            <a:pPr indent="0" marL="0">
              <a:buNone/>
            </a:pPr>
            <a:r>
              <a:rPr lang="en-US" sz="1450" dirty="0">
                <a:solidFill>
                  <a:srgbClr val="2B2B2B"/>
                </a:solidFill>
                <a:latin typeface="Calibri" pitchFamily="34" charset="0"/>
                <a:ea typeface="Calibri" pitchFamily="34" charset="-122"/>
                <a:cs typeface="Calibri" pitchFamily="34" charset="-120"/>
              </a:rPr>
              <a:t>Version Control</a:t>
            </a:r>
            <a:endParaRPr lang="en-US" sz="1450" dirty="0"/>
          </a:p>
        </p:txBody>
      </p:sp>
      <p:sp>
        <p:nvSpPr>
          <p:cNvPr id="33" name="Shape 31"/>
          <p:cNvSpPr/>
          <p:nvPr/>
        </p:nvSpPr>
        <p:spPr>
          <a:xfrm>
            <a:off x="6309360" y="2084832"/>
            <a:ext cx="365760" cy="36576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34" name="Text 32"/>
          <p:cNvSpPr txBox="1"/>
          <p:nvPr/>
        </p:nvSpPr>
        <p:spPr>
          <a:xfrm>
            <a:off x="6309360" y="208483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11</a:t>
            </a:r>
            <a:endParaRPr lang="en-US" sz="1200" dirty="0"/>
          </a:p>
        </p:txBody>
      </p:sp>
      <p:sp>
        <p:nvSpPr>
          <p:cNvPr id="35" name="Text 33"/>
          <p:cNvSpPr txBox="1"/>
          <p:nvPr/>
        </p:nvSpPr>
        <p:spPr>
          <a:xfrm>
            <a:off x="6839712" y="2048256"/>
            <a:ext cx="4572000" cy="438912"/>
          </a:xfrm>
          <a:prstGeom prst="rect">
            <a:avLst/>
          </a:prstGeom>
          <a:noFill/>
          <a:ln/>
        </p:spPr>
        <p:txBody>
          <a:bodyPr wrap="square" lIns="0" tIns="0" rIns="0" bIns="0" rtlCol="0" anchor="ctr"/>
          <a:lstStyle/>
          <a:p>
            <a:pPr indent="0" marL="0">
              <a:buNone/>
            </a:pPr>
            <a:r>
              <a:rPr lang="en-US" sz="1450" dirty="0">
                <a:solidFill>
                  <a:srgbClr val="2B2B2B"/>
                </a:solidFill>
                <a:latin typeface="Calibri" pitchFamily="34" charset="0"/>
                <a:ea typeface="Calibri" pitchFamily="34" charset="-122"/>
                <a:cs typeface="Calibri" pitchFamily="34" charset="-120"/>
              </a:rPr>
              <a:t>Use Case Diagram</a:t>
            </a:r>
            <a:endParaRPr lang="en-US" sz="1450" dirty="0"/>
          </a:p>
        </p:txBody>
      </p:sp>
      <p:sp>
        <p:nvSpPr>
          <p:cNvPr id="36" name="Shape 34"/>
          <p:cNvSpPr/>
          <p:nvPr/>
        </p:nvSpPr>
        <p:spPr>
          <a:xfrm>
            <a:off x="6309360" y="2615184"/>
            <a:ext cx="365760" cy="365760"/>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37" name="Text 35"/>
          <p:cNvSpPr txBox="1"/>
          <p:nvPr/>
        </p:nvSpPr>
        <p:spPr>
          <a:xfrm>
            <a:off x="6309360" y="26151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12</a:t>
            </a:r>
            <a:endParaRPr lang="en-US" sz="1200" dirty="0"/>
          </a:p>
        </p:txBody>
      </p:sp>
      <p:sp>
        <p:nvSpPr>
          <p:cNvPr id="38" name="Text 36"/>
          <p:cNvSpPr txBox="1"/>
          <p:nvPr/>
        </p:nvSpPr>
        <p:spPr>
          <a:xfrm>
            <a:off x="6839712" y="2578608"/>
            <a:ext cx="4572000" cy="438912"/>
          </a:xfrm>
          <a:prstGeom prst="rect">
            <a:avLst/>
          </a:prstGeom>
          <a:noFill/>
          <a:ln/>
        </p:spPr>
        <p:txBody>
          <a:bodyPr wrap="square" lIns="0" tIns="0" rIns="0" bIns="0" rtlCol="0" anchor="ctr"/>
          <a:lstStyle/>
          <a:p>
            <a:pPr indent="0" marL="0">
              <a:buNone/>
            </a:pPr>
            <a:r>
              <a:rPr lang="en-US" sz="1450" dirty="0">
                <a:solidFill>
                  <a:srgbClr val="2B2B2B"/>
                </a:solidFill>
                <a:latin typeface="Calibri" pitchFamily="34" charset="0"/>
                <a:ea typeface="Calibri" pitchFamily="34" charset="-122"/>
                <a:cs typeface="Calibri" pitchFamily="34" charset="-120"/>
              </a:rPr>
              <a:t>Initial Product Backlog in Jira</a:t>
            </a:r>
            <a:endParaRPr lang="en-US" sz="1450" dirty="0"/>
          </a:p>
        </p:txBody>
      </p:sp>
      <p:sp>
        <p:nvSpPr>
          <p:cNvPr id="39" name="Shape 37"/>
          <p:cNvSpPr/>
          <p:nvPr/>
        </p:nvSpPr>
        <p:spPr>
          <a:xfrm>
            <a:off x="6309360" y="3145536"/>
            <a:ext cx="365760" cy="36576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40" name="Text 38"/>
          <p:cNvSpPr txBox="1"/>
          <p:nvPr/>
        </p:nvSpPr>
        <p:spPr>
          <a:xfrm>
            <a:off x="6309360" y="314553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13</a:t>
            </a:r>
            <a:endParaRPr lang="en-US" sz="1200" dirty="0"/>
          </a:p>
        </p:txBody>
      </p:sp>
      <p:sp>
        <p:nvSpPr>
          <p:cNvPr id="41" name="Text 39"/>
          <p:cNvSpPr txBox="1"/>
          <p:nvPr/>
        </p:nvSpPr>
        <p:spPr>
          <a:xfrm>
            <a:off x="6839712" y="3108960"/>
            <a:ext cx="4572000" cy="438912"/>
          </a:xfrm>
          <a:prstGeom prst="rect">
            <a:avLst/>
          </a:prstGeom>
          <a:noFill/>
          <a:ln/>
        </p:spPr>
        <p:txBody>
          <a:bodyPr wrap="square" lIns="0" tIns="0" rIns="0" bIns="0" rtlCol="0" anchor="ctr"/>
          <a:lstStyle/>
          <a:p>
            <a:pPr indent="0" marL="0">
              <a:buNone/>
            </a:pPr>
            <a:r>
              <a:rPr lang="en-US" sz="1450" dirty="0">
                <a:solidFill>
                  <a:srgbClr val="2B2B2B"/>
                </a:solidFill>
                <a:latin typeface="Calibri" pitchFamily="34" charset="0"/>
                <a:ea typeface="Calibri" pitchFamily="34" charset="-122"/>
                <a:cs typeface="Calibri" pitchFamily="34" charset="-120"/>
              </a:rPr>
              <a:t>User Stories Selected for Sprint 1</a:t>
            </a:r>
            <a:endParaRPr lang="en-US" sz="1450" dirty="0"/>
          </a:p>
        </p:txBody>
      </p:sp>
      <p:sp>
        <p:nvSpPr>
          <p:cNvPr id="42" name="Shape 40"/>
          <p:cNvSpPr/>
          <p:nvPr/>
        </p:nvSpPr>
        <p:spPr>
          <a:xfrm>
            <a:off x="6309360" y="3675888"/>
            <a:ext cx="365760" cy="365760"/>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43" name="Text 41"/>
          <p:cNvSpPr txBox="1"/>
          <p:nvPr/>
        </p:nvSpPr>
        <p:spPr>
          <a:xfrm>
            <a:off x="6309360" y="367588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14</a:t>
            </a:r>
            <a:endParaRPr lang="en-US" sz="1200" dirty="0"/>
          </a:p>
        </p:txBody>
      </p:sp>
      <p:sp>
        <p:nvSpPr>
          <p:cNvPr id="44" name="Text 42"/>
          <p:cNvSpPr txBox="1"/>
          <p:nvPr/>
        </p:nvSpPr>
        <p:spPr>
          <a:xfrm>
            <a:off x="6839712" y="3639312"/>
            <a:ext cx="4572000" cy="438912"/>
          </a:xfrm>
          <a:prstGeom prst="rect">
            <a:avLst/>
          </a:prstGeom>
          <a:noFill/>
          <a:ln/>
        </p:spPr>
        <p:txBody>
          <a:bodyPr wrap="square" lIns="0" tIns="0" rIns="0" bIns="0" rtlCol="0" anchor="ctr"/>
          <a:lstStyle/>
          <a:p>
            <a:pPr indent="0" marL="0">
              <a:buNone/>
            </a:pPr>
            <a:r>
              <a:rPr lang="en-US" sz="1450" dirty="0">
                <a:solidFill>
                  <a:srgbClr val="2B2B2B"/>
                </a:solidFill>
                <a:latin typeface="Calibri" pitchFamily="34" charset="0"/>
                <a:ea typeface="Calibri" pitchFamily="34" charset="-122"/>
                <a:cs typeface="Calibri" pitchFamily="34" charset="-120"/>
              </a:rPr>
              <a:t>Sprint 1 Stories — AC &amp; Dev Tasks</a:t>
            </a:r>
            <a:endParaRPr lang="en-US" sz="1450" dirty="0"/>
          </a:p>
        </p:txBody>
      </p:sp>
      <p:sp>
        <p:nvSpPr>
          <p:cNvPr id="45" name="Shape 43"/>
          <p:cNvSpPr/>
          <p:nvPr/>
        </p:nvSpPr>
        <p:spPr>
          <a:xfrm>
            <a:off x="6309360" y="4206240"/>
            <a:ext cx="365760" cy="36576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46" name="Text 44"/>
          <p:cNvSpPr txBox="1"/>
          <p:nvPr/>
        </p:nvSpPr>
        <p:spPr>
          <a:xfrm>
            <a:off x="6309360" y="42062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15</a:t>
            </a:r>
            <a:endParaRPr lang="en-US" sz="1200" dirty="0"/>
          </a:p>
        </p:txBody>
      </p:sp>
      <p:sp>
        <p:nvSpPr>
          <p:cNvPr id="47" name="Text 45"/>
          <p:cNvSpPr txBox="1"/>
          <p:nvPr/>
        </p:nvSpPr>
        <p:spPr>
          <a:xfrm>
            <a:off x="6839712" y="4169664"/>
            <a:ext cx="4572000" cy="438912"/>
          </a:xfrm>
          <a:prstGeom prst="rect">
            <a:avLst/>
          </a:prstGeom>
          <a:noFill/>
          <a:ln/>
        </p:spPr>
        <p:txBody>
          <a:bodyPr wrap="square" lIns="0" tIns="0" rIns="0" bIns="0" rtlCol="0" anchor="ctr"/>
          <a:lstStyle/>
          <a:p>
            <a:pPr indent="0" marL="0">
              <a:buNone/>
            </a:pPr>
            <a:r>
              <a:rPr lang="en-US" sz="1450" dirty="0">
                <a:solidFill>
                  <a:srgbClr val="2B2B2B"/>
                </a:solidFill>
                <a:latin typeface="Calibri" pitchFamily="34" charset="0"/>
                <a:ea typeface="Calibri" pitchFamily="34" charset="-122"/>
                <a:cs typeface="Calibri" pitchFamily="34" charset="-120"/>
              </a:rPr>
              <a:t>Sprint 2 Stories — AC &amp; Dev Tasks</a:t>
            </a:r>
            <a:endParaRPr lang="en-US" sz="1450" dirty="0"/>
          </a:p>
        </p:txBody>
      </p:sp>
      <p:sp>
        <p:nvSpPr>
          <p:cNvPr id="48" name="Shape 46"/>
          <p:cNvSpPr/>
          <p:nvPr/>
        </p:nvSpPr>
        <p:spPr>
          <a:xfrm>
            <a:off x="6309360" y="4736592"/>
            <a:ext cx="365760" cy="365760"/>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49" name="Text 47"/>
          <p:cNvSpPr txBox="1"/>
          <p:nvPr/>
        </p:nvSpPr>
        <p:spPr>
          <a:xfrm>
            <a:off x="6309360" y="473659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16</a:t>
            </a:r>
            <a:endParaRPr lang="en-US" sz="1200" dirty="0"/>
          </a:p>
        </p:txBody>
      </p:sp>
      <p:sp>
        <p:nvSpPr>
          <p:cNvPr id="50" name="Text 48"/>
          <p:cNvSpPr txBox="1"/>
          <p:nvPr/>
        </p:nvSpPr>
        <p:spPr>
          <a:xfrm>
            <a:off x="6839712" y="4700016"/>
            <a:ext cx="4572000" cy="438912"/>
          </a:xfrm>
          <a:prstGeom prst="rect">
            <a:avLst/>
          </a:prstGeom>
          <a:noFill/>
          <a:ln/>
        </p:spPr>
        <p:txBody>
          <a:bodyPr wrap="square" lIns="0" tIns="0" rIns="0" bIns="0" rtlCol="0" anchor="ctr"/>
          <a:lstStyle/>
          <a:p>
            <a:pPr indent="0" marL="0">
              <a:buNone/>
            </a:pPr>
            <a:r>
              <a:rPr lang="en-US" sz="1450" dirty="0">
                <a:solidFill>
                  <a:srgbClr val="2B2B2B"/>
                </a:solidFill>
                <a:latin typeface="Calibri" pitchFamily="34" charset="0"/>
                <a:ea typeface="Calibri" pitchFamily="34" charset="-122"/>
                <a:cs typeface="Calibri" pitchFamily="34" charset="-120"/>
              </a:rPr>
              <a:t>Site Directory — Pilot Region Update</a:t>
            </a:r>
            <a:endParaRPr lang="en-US" sz="1450" dirty="0"/>
          </a:p>
        </p:txBody>
      </p:sp>
      <p:sp>
        <p:nvSpPr>
          <p:cNvPr id="51" name="Shape 49"/>
          <p:cNvSpPr/>
          <p:nvPr/>
        </p:nvSpPr>
        <p:spPr>
          <a:xfrm>
            <a:off x="6309360" y="5266944"/>
            <a:ext cx="365760" cy="36576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52" name="Text 50"/>
          <p:cNvSpPr txBox="1"/>
          <p:nvPr/>
        </p:nvSpPr>
        <p:spPr>
          <a:xfrm>
            <a:off x="6309360" y="52669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17</a:t>
            </a:r>
            <a:endParaRPr lang="en-US" sz="1200" dirty="0"/>
          </a:p>
        </p:txBody>
      </p:sp>
      <p:sp>
        <p:nvSpPr>
          <p:cNvPr id="53" name="Text 51"/>
          <p:cNvSpPr txBox="1"/>
          <p:nvPr/>
        </p:nvSpPr>
        <p:spPr>
          <a:xfrm>
            <a:off x="6839712" y="5230368"/>
            <a:ext cx="4572000" cy="438912"/>
          </a:xfrm>
          <a:prstGeom prst="rect">
            <a:avLst/>
          </a:prstGeom>
          <a:noFill/>
          <a:ln/>
        </p:spPr>
        <p:txBody>
          <a:bodyPr wrap="square" lIns="0" tIns="0" rIns="0" bIns="0" rtlCol="0" anchor="ctr"/>
          <a:lstStyle/>
          <a:p>
            <a:pPr indent="0" marL="0">
              <a:buNone/>
            </a:pPr>
            <a:r>
              <a:rPr lang="en-US" sz="1450" dirty="0">
                <a:solidFill>
                  <a:srgbClr val="2B2B2B"/>
                </a:solidFill>
                <a:latin typeface="Calibri" pitchFamily="34" charset="0"/>
                <a:ea typeface="Calibri" pitchFamily="34" charset="-122"/>
                <a:cs typeface="Calibri" pitchFamily="34" charset="-120"/>
              </a:rPr>
              <a:t>Sprint 2 — Team Assignments</a:t>
            </a:r>
            <a:endParaRPr lang="en-US" sz="1450" dirty="0"/>
          </a:p>
        </p:txBody>
      </p:sp>
      <p:sp>
        <p:nvSpPr>
          <p:cNvPr id="54" name="Shape 52"/>
          <p:cNvSpPr/>
          <p:nvPr/>
        </p:nvSpPr>
        <p:spPr>
          <a:xfrm>
            <a:off x="6309360" y="5797296"/>
            <a:ext cx="365760" cy="365760"/>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55" name="Text 53"/>
          <p:cNvSpPr txBox="1"/>
          <p:nvPr/>
        </p:nvSpPr>
        <p:spPr>
          <a:xfrm>
            <a:off x="6309360" y="579729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18</a:t>
            </a:r>
            <a:endParaRPr lang="en-US" sz="1200" dirty="0"/>
          </a:p>
        </p:txBody>
      </p:sp>
      <p:sp>
        <p:nvSpPr>
          <p:cNvPr id="56" name="Text 54"/>
          <p:cNvSpPr txBox="1"/>
          <p:nvPr/>
        </p:nvSpPr>
        <p:spPr>
          <a:xfrm>
            <a:off x="6839712" y="5760720"/>
            <a:ext cx="4572000" cy="438912"/>
          </a:xfrm>
          <a:prstGeom prst="rect">
            <a:avLst/>
          </a:prstGeom>
          <a:noFill/>
          <a:ln/>
        </p:spPr>
        <p:txBody>
          <a:bodyPr wrap="square" lIns="0" tIns="0" rIns="0" bIns="0" rtlCol="0" anchor="ctr"/>
          <a:lstStyle/>
          <a:p>
            <a:pPr indent="0" marL="0">
              <a:buNone/>
            </a:pPr>
            <a:r>
              <a:rPr lang="en-US" sz="1450" dirty="0">
                <a:solidFill>
                  <a:srgbClr val="2B2B2B"/>
                </a:solidFill>
                <a:latin typeface="Calibri" pitchFamily="34" charset="0"/>
                <a:ea typeface="Calibri" pitchFamily="34" charset="-122"/>
                <a:cs typeface="Calibri" pitchFamily="34" charset="-120"/>
              </a:rPr>
              <a:t>Conclusion</a:t>
            </a:r>
            <a:endParaRPr lang="en-US" sz="1450" dirty="0"/>
          </a:p>
        </p:txBody>
      </p:sp>
      <p:sp>
        <p:nvSpPr>
          <p:cNvPr id="57" name="Text 55"/>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CINS 5338/5388 — Software Project Management</a:t>
            </a:r>
            <a:endParaRPr lang="en-US" sz="900" dirty="0"/>
          </a:p>
        </p:txBody>
      </p:sp>
      <p:sp>
        <p:nvSpPr>
          <p:cNvPr id="58" name="Text 56"/>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5720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Problem Description</a:t>
            </a:r>
            <a:endParaRPr lang="en-US" sz="3000" dirty="0"/>
          </a:p>
        </p:txBody>
      </p:sp>
      <p:sp>
        <p:nvSpPr>
          <p:cNvPr id="3" name="Text 1"/>
          <p:cNvSpPr txBox="1"/>
          <p:nvPr/>
        </p:nvSpPr>
        <p:spPr>
          <a:xfrm>
            <a:off x="548640" y="1600200"/>
            <a:ext cx="6858000" cy="1417320"/>
          </a:xfrm>
          <a:prstGeom prst="rect">
            <a:avLst/>
          </a:prstGeom>
          <a:noFill/>
          <a:ln/>
        </p:spPr>
        <p:txBody>
          <a:bodyPr wrap="square" lIns="0" tIns="0" rIns="0" bIns="0" rtlCol="0" anchor="ctr"/>
          <a:lstStyle/>
          <a:p>
            <a:pPr indent="0" marL="0">
              <a:lnSpc>
                <a:spcPct val="122000"/>
              </a:lnSpc>
              <a:buNone/>
            </a:pPr>
            <a:r>
              <a:rPr lang="en-US" sz="1330" dirty="0">
                <a:solidFill>
                  <a:srgbClr val="2B2B2B"/>
                </a:solidFill>
                <a:latin typeface="Calibri" pitchFamily="34" charset="0"/>
                <a:ea typeface="Calibri" pitchFamily="34" charset="-122"/>
                <a:cs typeface="Calibri" pitchFamily="34" charset="-120"/>
              </a:rPr>
              <a:t>Extreme heat is the deadliest weather hazard in the United States, and the people most at risk — older residents, low-income households, and anyone without reliable air conditioning — are often the same people least able to find out where a cooling center or water station is open right now.</a:t>
            </a:r>
            <a:endParaRPr lang="en-US" sz="1330" dirty="0"/>
          </a:p>
        </p:txBody>
      </p:sp>
      <p:sp>
        <p:nvSpPr>
          <p:cNvPr id="4" name="Text 2"/>
          <p:cNvSpPr txBox="1"/>
          <p:nvPr/>
        </p:nvSpPr>
        <p:spPr>
          <a:xfrm>
            <a:off x="548640" y="3081528"/>
            <a:ext cx="6858000" cy="1417320"/>
          </a:xfrm>
          <a:prstGeom prst="rect">
            <a:avLst/>
          </a:prstGeom>
          <a:noFill/>
          <a:ln/>
        </p:spPr>
        <p:txBody>
          <a:bodyPr wrap="square" lIns="0" tIns="0" rIns="0" bIns="0" rtlCol="0" anchor="ctr"/>
          <a:lstStyle/>
          <a:p>
            <a:pPr indent="0" marL="0">
              <a:lnSpc>
                <a:spcPct val="122000"/>
              </a:lnSpc>
              <a:buNone/>
            </a:pPr>
            <a:r>
              <a:rPr lang="en-US" sz="1330" dirty="0">
                <a:solidFill>
                  <a:srgbClr val="2B2B2B"/>
                </a:solidFill>
                <a:latin typeface="Calibri" pitchFamily="34" charset="0"/>
                <a:ea typeface="Calibri" pitchFamily="34" charset="-122"/>
                <a:cs typeface="Calibri" pitchFamily="34" charset="-120"/>
              </a:rPr>
              <a:t>Local governments and relief organizations run these sites, but without a shared, real-time system, residents have no reliable way to check what's open, and organizations have no clear, data-driven way to see which neighborhoods need outreach most urgently.</a:t>
            </a:r>
            <a:endParaRPr lang="en-US" sz="1330" dirty="0"/>
          </a:p>
        </p:txBody>
      </p:sp>
      <p:sp>
        <p:nvSpPr>
          <p:cNvPr id="5" name="Text 3"/>
          <p:cNvSpPr txBox="1"/>
          <p:nvPr/>
        </p:nvSpPr>
        <p:spPr>
          <a:xfrm>
            <a:off x="548640" y="4562856"/>
            <a:ext cx="6858000" cy="1417320"/>
          </a:xfrm>
          <a:prstGeom prst="rect">
            <a:avLst/>
          </a:prstGeom>
          <a:noFill/>
          <a:ln/>
        </p:spPr>
        <p:txBody>
          <a:bodyPr wrap="square" lIns="0" tIns="0" rIns="0" bIns="0" rtlCol="0" anchor="ctr"/>
          <a:lstStyle/>
          <a:p>
            <a:pPr indent="0" marL="0">
              <a:lnSpc>
                <a:spcPct val="122000"/>
              </a:lnSpc>
              <a:buNone/>
            </a:pPr>
            <a:r>
              <a:rPr lang="en-US" sz="1330" dirty="0">
                <a:solidFill>
                  <a:srgbClr val="2B2B2B"/>
                </a:solidFill>
                <a:latin typeface="Calibri" pitchFamily="34" charset="0"/>
                <a:ea typeface="Calibri" pitchFamily="34" charset="-122"/>
                <a:cs typeface="Calibri" pitchFamily="34" charset="-120"/>
              </a:rPr>
              <a:t>The Heat Relief Network closes both gaps: a resident-facing map and directory of live cooling/water sites and active heat alerts, plus an org-facing priority-matching engine that ranks areas by heat vulnerability so limited outreach resources go where they matter most.</a:t>
            </a:r>
            <a:endParaRPr lang="en-US" sz="1330" dirty="0"/>
          </a:p>
        </p:txBody>
      </p:sp>
      <p:sp>
        <p:nvSpPr>
          <p:cNvPr id="6" name="Shape 4"/>
          <p:cNvSpPr/>
          <p:nvPr/>
        </p:nvSpPr>
        <p:spPr>
          <a:xfrm>
            <a:off x="7772400" y="1600200"/>
            <a:ext cx="3840480" cy="1024128"/>
          </a:xfrm>
          <a:prstGeom prst="roundRect">
            <a:avLst>
              <a:gd name="adj" fmla="val 8036"/>
            </a:avLst>
          </a:prstGeom>
          <a:solidFill>
            <a:srgbClr val="FDE8E4"/>
          </a:solidFill>
          <a:ln w="12700">
            <a:solidFill>
              <a:srgbClr val="F4C9C0"/>
            </a:solidFill>
            <a:prstDash val="solid"/>
          </a:ln>
          <a:effectLst>
            <a:outerShdw sx="100000" sy="100000" kx="0" ky="0" algn="bl" rotWithShape="0" blurRad="101600" dist="38100" dir="5400000">
              <a:srgbClr val="1E2761">
                <a:alpha val="18000"/>
              </a:srgbClr>
            </a:outerShdw>
          </a:effectLst>
        </p:spPr>
      </p:sp>
      <p:sp>
        <p:nvSpPr>
          <p:cNvPr id="7" name="Text 5"/>
          <p:cNvSpPr txBox="1"/>
          <p:nvPr/>
        </p:nvSpPr>
        <p:spPr>
          <a:xfrm>
            <a:off x="7973568" y="1709928"/>
            <a:ext cx="3474720" cy="320040"/>
          </a:xfrm>
          <a:prstGeom prst="rect">
            <a:avLst/>
          </a:prstGeom>
          <a:noFill/>
          <a:ln/>
        </p:spPr>
        <p:txBody>
          <a:bodyPr wrap="square" lIns="0" tIns="0" rIns="0" bIns="0" rtlCol="0" anchor="ctr"/>
          <a:lstStyle/>
          <a:p>
            <a:pPr indent="0" marL="0">
              <a:buNone/>
            </a:pPr>
            <a:r>
              <a:rPr lang="en-US" sz="1350" b="1" dirty="0">
                <a:solidFill>
                  <a:srgbClr val="E8543A"/>
                </a:solidFill>
                <a:latin typeface="Calibri" pitchFamily="34" charset="0"/>
                <a:ea typeface="Calibri" pitchFamily="34" charset="-122"/>
                <a:cs typeface="Calibri" pitchFamily="34" charset="-120"/>
              </a:rPr>
              <a:t>Missed</a:t>
            </a:r>
            <a:endParaRPr lang="en-US" sz="1350" dirty="0"/>
          </a:p>
        </p:txBody>
      </p:sp>
      <p:sp>
        <p:nvSpPr>
          <p:cNvPr id="8" name="Text 6"/>
          <p:cNvSpPr txBox="1"/>
          <p:nvPr/>
        </p:nvSpPr>
        <p:spPr>
          <a:xfrm>
            <a:off x="7973568" y="2057400"/>
            <a:ext cx="3474720" cy="457200"/>
          </a:xfrm>
          <a:prstGeom prst="rect">
            <a:avLst/>
          </a:prstGeom>
          <a:noFill/>
          <a:ln/>
        </p:spPr>
        <p:txBody>
          <a:bodyPr wrap="square" lIns="0" tIns="0" rIns="0" bIns="0" rtlCol="0" anchor="ctr"/>
          <a:lstStyle/>
          <a:p>
            <a:pPr indent="0" marL="0">
              <a:buNone/>
            </a:pPr>
            <a:r>
              <a:rPr lang="en-US" sz="1160" dirty="0">
                <a:solidFill>
                  <a:srgbClr val="2B2B2B"/>
                </a:solidFill>
                <a:latin typeface="Calibri" pitchFamily="34" charset="0"/>
                <a:ea typeface="Calibri" pitchFamily="34" charset="-122"/>
                <a:cs typeface="Calibri" pitchFamily="34" charset="-120"/>
              </a:rPr>
              <a:t>Deadlines &amp; Alerts</a:t>
            </a:r>
            <a:endParaRPr lang="en-US" sz="1160" dirty="0"/>
          </a:p>
        </p:txBody>
      </p:sp>
      <p:sp>
        <p:nvSpPr>
          <p:cNvPr id="9" name="Shape 7"/>
          <p:cNvSpPr/>
          <p:nvPr/>
        </p:nvSpPr>
        <p:spPr>
          <a:xfrm>
            <a:off x="7772400" y="2807208"/>
            <a:ext cx="3840480" cy="1024128"/>
          </a:xfrm>
          <a:prstGeom prst="roundRect">
            <a:avLst>
              <a:gd name="adj" fmla="val 8036"/>
            </a:avLst>
          </a:prstGeom>
          <a:solidFill>
            <a:srgbClr val="FDE8E4"/>
          </a:solidFill>
          <a:ln w="12700">
            <a:solidFill>
              <a:srgbClr val="F4C9C0"/>
            </a:solidFill>
            <a:prstDash val="solid"/>
          </a:ln>
          <a:effectLst>
            <a:outerShdw sx="100000" sy="100000" kx="0" ky="0" algn="bl" rotWithShape="0" blurRad="101600" dist="38100" dir="5400000">
              <a:srgbClr val="1E2761">
                <a:alpha val="18000"/>
              </a:srgbClr>
            </a:outerShdw>
          </a:effectLst>
        </p:spPr>
      </p:sp>
      <p:sp>
        <p:nvSpPr>
          <p:cNvPr id="10" name="Text 8"/>
          <p:cNvSpPr txBox="1"/>
          <p:nvPr/>
        </p:nvSpPr>
        <p:spPr>
          <a:xfrm>
            <a:off x="7973568" y="2916936"/>
            <a:ext cx="3474720" cy="320040"/>
          </a:xfrm>
          <a:prstGeom prst="rect">
            <a:avLst/>
          </a:prstGeom>
          <a:noFill/>
          <a:ln/>
        </p:spPr>
        <p:txBody>
          <a:bodyPr wrap="square" lIns="0" tIns="0" rIns="0" bIns="0" rtlCol="0" anchor="ctr"/>
          <a:lstStyle/>
          <a:p>
            <a:pPr indent="0" marL="0">
              <a:buNone/>
            </a:pPr>
            <a:r>
              <a:rPr lang="en-US" sz="1350" b="1" dirty="0">
                <a:solidFill>
                  <a:srgbClr val="E8543A"/>
                </a:solidFill>
                <a:latin typeface="Calibri" pitchFamily="34" charset="0"/>
                <a:ea typeface="Calibri" pitchFamily="34" charset="-122"/>
                <a:cs typeface="Calibri" pitchFamily="34" charset="-120"/>
              </a:rPr>
              <a:t>Manual, Outdated</a:t>
            </a:r>
            <a:endParaRPr lang="en-US" sz="1350" dirty="0"/>
          </a:p>
        </p:txBody>
      </p:sp>
      <p:sp>
        <p:nvSpPr>
          <p:cNvPr id="11" name="Text 9"/>
          <p:cNvSpPr txBox="1"/>
          <p:nvPr/>
        </p:nvSpPr>
        <p:spPr>
          <a:xfrm>
            <a:off x="7973568" y="3264408"/>
            <a:ext cx="3474720" cy="457200"/>
          </a:xfrm>
          <a:prstGeom prst="rect">
            <a:avLst/>
          </a:prstGeom>
          <a:noFill/>
          <a:ln/>
        </p:spPr>
        <p:txBody>
          <a:bodyPr wrap="square" lIns="0" tIns="0" rIns="0" bIns="0" rtlCol="0" anchor="ctr"/>
          <a:lstStyle/>
          <a:p>
            <a:pPr indent="0" marL="0">
              <a:buNone/>
            </a:pPr>
            <a:r>
              <a:rPr lang="en-US" sz="1160" dirty="0">
                <a:solidFill>
                  <a:srgbClr val="2B2B2B"/>
                </a:solidFill>
                <a:latin typeface="Calibri" pitchFamily="34" charset="0"/>
                <a:ea typeface="Calibri" pitchFamily="34" charset="-122"/>
                <a:cs typeface="Calibri" pitchFamily="34" charset="-120"/>
              </a:rPr>
              <a:t>Site Status</a:t>
            </a:r>
            <a:endParaRPr lang="en-US" sz="1160" dirty="0"/>
          </a:p>
        </p:txBody>
      </p:sp>
      <p:sp>
        <p:nvSpPr>
          <p:cNvPr id="12" name="Shape 10"/>
          <p:cNvSpPr/>
          <p:nvPr/>
        </p:nvSpPr>
        <p:spPr>
          <a:xfrm>
            <a:off x="7772400" y="4014216"/>
            <a:ext cx="3840480" cy="1024128"/>
          </a:xfrm>
          <a:prstGeom prst="roundRect">
            <a:avLst>
              <a:gd name="adj" fmla="val 8036"/>
            </a:avLst>
          </a:prstGeom>
          <a:solidFill>
            <a:srgbClr val="FDE8E4"/>
          </a:solidFill>
          <a:ln w="12700">
            <a:solidFill>
              <a:srgbClr val="F4C9C0"/>
            </a:solidFill>
            <a:prstDash val="solid"/>
          </a:ln>
          <a:effectLst>
            <a:outerShdw sx="100000" sy="100000" kx="0" ky="0" algn="bl" rotWithShape="0" blurRad="101600" dist="38100" dir="5400000">
              <a:srgbClr val="1E2761">
                <a:alpha val="18000"/>
              </a:srgbClr>
            </a:outerShdw>
          </a:effectLst>
        </p:spPr>
      </p:sp>
      <p:sp>
        <p:nvSpPr>
          <p:cNvPr id="13" name="Text 11"/>
          <p:cNvSpPr txBox="1"/>
          <p:nvPr/>
        </p:nvSpPr>
        <p:spPr>
          <a:xfrm>
            <a:off x="7973568" y="4123944"/>
            <a:ext cx="3474720" cy="320040"/>
          </a:xfrm>
          <a:prstGeom prst="rect">
            <a:avLst/>
          </a:prstGeom>
          <a:noFill/>
          <a:ln/>
        </p:spPr>
        <p:txBody>
          <a:bodyPr wrap="square" lIns="0" tIns="0" rIns="0" bIns="0" rtlCol="0" anchor="ctr"/>
          <a:lstStyle/>
          <a:p>
            <a:pPr indent="0" marL="0">
              <a:buNone/>
            </a:pPr>
            <a:r>
              <a:rPr lang="en-US" sz="1350" b="1" dirty="0">
                <a:solidFill>
                  <a:srgbClr val="E8543A"/>
                </a:solidFill>
                <a:latin typeface="Calibri" pitchFamily="34" charset="0"/>
                <a:ea typeface="Calibri" pitchFamily="34" charset="-122"/>
                <a:cs typeface="Calibri" pitchFamily="34" charset="-120"/>
              </a:rPr>
              <a:t>No Ranked View</a:t>
            </a:r>
            <a:endParaRPr lang="en-US" sz="1350" dirty="0"/>
          </a:p>
        </p:txBody>
      </p:sp>
      <p:sp>
        <p:nvSpPr>
          <p:cNvPr id="14" name="Text 12"/>
          <p:cNvSpPr txBox="1"/>
          <p:nvPr/>
        </p:nvSpPr>
        <p:spPr>
          <a:xfrm>
            <a:off x="7973568" y="4471416"/>
            <a:ext cx="3474720" cy="457200"/>
          </a:xfrm>
          <a:prstGeom prst="rect">
            <a:avLst/>
          </a:prstGeom>
          <a:noFill/>
          <a:ln/>
        </p:spPr>
        <p:txBody>
          <a:bodyPr wrap="square" lIns="0" tIns="0" rIns="0" bIns="0" rtlCol="0" anchor="ctr"/>
          <a:lstStyle/>
          <a:p>
            <a:pPr indent="0" marL="0">
              <a:buNone/>
            </a:pPr>
            <a:r>
              <a:rPr lang="en-US" sz="1160" dirty="0">
                <a:solidFill>
                  <a:srgbClr val="2B2B2B"/>
                </a:solidFill>
                <a:latin typeface="Calibri" pitchFamily="34" charset="0"/>
                <a:ea typeface="Calibri" pitchFamily="34" charset="-122"/>
                <a:cs typeface="Calibri" pitchFamily="34" charset="-120"/>
              </a:rPr>
              <a:t>of Highest-Need Areas</a:t>
            </a:r>
            <a:endParaRPr lang="en-US" sz="1160" dirty="0"/>
          </a:p>
        </p:txBody>
      </p:sp>
      <p:sp>
        <p:nvSpPr>
          <p:cNvPr id="15" name="Shape 13"/>
          <p:cNvSpPr/>
          <p:nvPr/>
        </p:nvSpPr>
        <p:spPr>
          <a:xfrm>
            <a:off x="7772400" y="5221224"/>
            <a:ext cx="3840480" cy="1024128"/>
          </a:xfrm>
          <a:prstGeom prst="roundRect">
            <a:avLst>
              <a:gd name="adj" fmla="val 8036"/>
            </a:avLst>
          </a:prstGeom>
          <a:solidFill>
            <a:srgbClr val="FDE8E4"/>
          </a:solidFill>
          <a:ln w="12700">
            <a:solidFill>
              <a:srgbClr val="F4C9C0"/>
            </a:solidFill>
            <a:prstDash val="solid"/>
          </a:ln>
          <a:effectLst>
            <a:outerShdw sx="100000" sy="100000" kx="0" ky="0" algn="bl" rotWithShape="0" blurRad="101600" dist="38100" dir="5400000">
              <a:srgbClr val="1E2761">
                <a:alpha val="18000"/>
              </a:srgbClr>
            </a:outerShdw>
          </a:effectLst>
        </p:spPr>
      </p:sp>
      <p:sp>
        <p:nvSpPr>
          <p:cNvPr id="16" name="Text 14"/>
          <p:cNvSpPr txBox="1"/>
          <p:nvPr/>
        </p:nvSpPr>
        <p:spPr>
          <a:xfrm>
            <a:off x="7973568" y="5330952"/>
            <a:ext cx="3474720" cy="320040"/>
          </a:xfrm>
          <a:prstGeom prst="rect">
            <a:avLst/>
          </a:prstGeom>
          <a:noFill/>
          <a:ln/>
        </p:spPr>
        <p:txBody>
          <a:bodyPr wrap="square" lIns="0" tIns="0" rIns="0" bIns="0" rtlCol="0" anchor="ctr"/>
          <a:lstStyle/>
          <a:p>
            <a:pPr indent="0" marL="0">
              <a:buNone/>
            </a:pPr>
            <a:r>
              <a:rPr lang="en-US" sz="1350" b="1" dirty="0">
                <a:solidFill>
                  <a:srgbClr val="E8543A"/>
                </a:solidFill>
                <a:latin typeface="Calibri" pitchFamily="34" charset="0"/>
                <a:ea typeface="Calibri" pitchFamily="34" charset="-122"/>
                <a:cs typeface="Calibri" pitchFamily="34" charset="-120"/>
              </a:rPr>
              <a:t>Spreadsheet-Driven</a:t>
            </a:r>
            <a:endParaRPr lang="en-US" sz="1350" dirty="0"/>
          </a:p>
        </p:txBody>
      </p:sp>
      <p:sp>
        <p:nvSpPr>
          <p:cNvPr id="17" name="Text 15"/>
          <p:cNvSpPr txBox="1"/>
          <p:nvPr/>
        </p:nvSpPr>
        <p:spPr>
          <a:xfrm>
            <a:off x="7973568" y="5678424"/>
            <a:ext cx="3474720" cy="457200"/>
          </a:xfrm>
          <a:prstGeom prst="rect">
            <a:avLst/>
          </a:prstGeom>
          <a:noFill/>
          <a:ln/>
        </p:spPr>
        <p:txBody>
          <a:bodyPr wrap="square" lIns="0" tIns="0" rIns="0" bIns="0" rtlCol="0" anchor="ctr"/>
          <a:lstStyle/>
          <a:p>
            <a:pPr indent="0" marL="0">
              <a:buNone/>
            </a:pPr>
            <a:r>
              <a:rPr lang="en-US" sz="1160" dirty="0">
                <a:solidFill>
                  <a:srgbClr val="2B2B2B"/>
                </a:solidFill>
                <a:latin typeface="Calibri" pitchFamily="34" charset="0"/>
                <a:ea typeface="Calibri" pitchFamily="34" charset="-122"/>
                <a:cs typeface="Calibri" pitchFamily="34" charset="-120"/>
              </a:rPr>
              <a:t>Outreach Planning</a:t>
            </a:r>
            <a:endParaRPr lang="en-US" sz="1160" dirty="0"/>
          </a:p>
        </p:txBody>
      </p:sp>
      <p:sp>
        <p:nvSpPr>
          <p:cNvPr id="18" name="Text 16"/>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CINS 5338/5388 — Software Project Management</a:t>
            </a:r>
            <a:endParaRPr lang="en-US" sz="900" dirty="0"/>
          </a:p>
        </p:txBody>
      </p:sp>
      <p:sp>
        <p:nvSpPr>
          <p:cNvPr id="19" name="Text 17"/>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5720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Project Vision</a:t>
            </a:r>
            <a:endParaRPr lang="en-US" sz="3000" dirty="0"/>
          </a:p>
        </p:txBody>
      </p:sp>
      <p:sp>
        <p:nvSpPr>
          <p:cNvPr id="3" name="Text 1"/>
          <p:cNvSpPr txBox="1"/>
          <p:nvPr/>
        </p:nvSpPr>
        <p:spPr>
          <a:xfrm>
            <a:off x="548640" y="1554480"/>
            <a:ext cx="6675120" cy="4754880"/>
          </a:xfrm>
          <a:prstGeom prst="rect">
            <a:avLst/>
          </a:prstGeom>
          <a:noFill/>
          <a:ln/>
        </p:spPr>
        <p:txBody>
          <a:bodyPr wrap="square" lIns="0" tIns="0" rIns="0" bIns="0" rtlCol="0" anchor="ctr"/>
          <a:lstStyle/>
          <a:p>
            <a:pPr indent="0" marL="0">
              <a:lnSpc>
                <a:spcPct val="125000"/>
              </a:lnSpc>
              <a:buNone/>
            </a:pPr>
            <a:r>
              <a:rPr lang="en-US" sz="1360" dirty="0">
                <a:solidFill>
                  <a:srgbClr val="2B2B2B"/>
                </a:solidFill>
                <a:latin typeface="Calibri" pitchFamily="34" charset="0"/>
                <a:ea typeface="Calibri" pitchFamily="34" charset="-122"/>
                <a:cs typeface="Calibri" pitchFamily="34" charset="-120"/>
              </a:rPr>
              <a:t>The vision behind the Heat Relief Network is a single, always-current source of truth for heat relief in a community — one residents can check from any device to find help nearby, and one partner organizations can use to decide where to send it.</a:t>
            </a:r>
            <a:endParaRPr lang="en-US" sz="1360" dirty="0"/>
          </a:p>
          <a:p>
            <a:pPr indent="0" marL="0">
              <a:lnSpc>
                <a:spcPct val="125000"/>
              </a:lnSpc>
              <a:buNone/>
            </a:pPr>
            <a:endParaRPr lang="en-US" sz="1360" dirty="0"/>
          </a:p>
          <a:p>
            <a:pPr indent="0" marL="0">
              <a:lnSpc>
                <a:spcPct val="125000"/>
              </a:lnSpc>
              <a:buNone/>
            </a:pPr>
            <a:r>
              <a:rPr lang="en-US" sz="1360" dirty="0">
                <a:solidFill>
                  <a:srgbClr val="2B2B2B"/>
                </a:solidFill>
                <a:latin typeface="Calibri" pitchFamily="34" charset="0"/>
                <a:ea typeface="Calibri" pitchFamily="34" charset="-122"/>
                <a:cs typeface="Calibri" pitchFamily="34" charset="-120"/>
              </a:rPr>
              <a:t>For residents, that means a simple map and list of cooling centers and water stations with live open/closed status, plus active heat alerts for their area — no more calling around or guessing which locations are actually staffed today.</a:t>
            </a:r>
            <a:endParaRPr lang="en-US" sz="1360" dirty="0"/>
          </a:p>
          <a:p>
            <a:pPr indent="0" marL="0">
              <a:lnSpc>
                <a:spcPct val="125000"/>
              </a:lnSpc>
              <a:buNone/>
            </a:pPr>
            <a:endParaRPr lang="en-US" sz="1360" dirty="0"/>
          </a:p>
          <a:p>
            <a:pPr indent="0" marL="0">
              <a:lnSpc>
                <a:spcPct val="125000"/>
              </a:lnSpc>
              <a:buNone/>
            </a:pPr>
            <a:r>
              <a:rPr lang="en-US" sz="1360" dirty="0">
                <a:solidFill>
                  <a:srgbClr val="2B2B2B"/>
                </a:solidFill>
                <a:latin typeface="Calibri" pitchFamily="34" charset="0"/>
                <a:ea typeface="Calibri" pitchFamily="34" charset="-122"/>
                <a:cs typeface="Calibri" pitchFamily="34" charset="-120"/>
              </a:rPr>
              <a:t>For organizations, it means moving from static spreadsheets to a live, ranked view of need: a heat-vulnerability score for every tracked area, combining current heat index with demographic risk factors, and adjusted for how far the nearest open site already is.</a:t>
            </a:r>
            <a:endParaRPr lang="en-US" sz="1360" dirty="0"/>
          </a:p>
        </p:txBody>
      </p:sp>
      <p:sp>
        <p:nvSpPr>
          <p:cNvPr id="4" name="Shape 2"/>
          <p:cNvSpPr/>
          <p:nvPr/>
        </p:nvSpPr>
        <p:spPr>
          <a:xfrm>
            <a:off x="7589520" y="1783080"/>
            <a:ext cx="4023360" cy="4206240"/>
          </a:xfrm>
          <a:prstGeom prst="roundRect">
            <a:avLst>
              <a:gd name="adj" fmla="val 2045"/>
            </a:avLst>
          </a:prstGeom>
          <a:solidFill>
            <a:srgbClr val="1E2761"/>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5" name="Text 3"/>
          <p:cNvSpPr txBox="1"/>
          <p:nvPr/>
        </p:nvSpPr>
        <p:spPr>
          <a:xfrm>
            <a:off x="7818120" y="1828800"/>
            <a:ext cx="1097280" cy="914400"/>
          </a:xfrm>
          <a:prstGeom prst="rect">
            <a:avLst/>
          </a:prstGeom>
          <a:noFill/>
          <a:ln/>
        </p:spPr>
        <p:txBody>
          <a:bodyPr wrap="square" lIns="0" tIns="0" rIns="0" bIns="0" rtlCol="0" anchor="ctr"/>
          <a:lstStyle/>
          <a:p>
            <a:pPr indent="0" marL="0">
              <a:buNone/>
            </a:pPr>
            <a:r>
              <a:rPr lang="en-US" sz="6000" b="1" dirty="0">
                <a:solidFill>
                  <a:srgbClr val="3A4290"/>
                </a:solidFill>
                <a:latin typeface="Cambria" pitchFamily="34" charset="0"/>
                <a:ea typeface="Cambria" pitchFamily="34" charset="-122"/>
                <a:cs typeface="Cambria" pitchFamily="34" charset="-120"/>
              </a:rPr>
              <a:t>“</a:t>
            </a:r>
            <a:endParaRPr lang="en-US" sz="6000" dirty="0"/>
          </a:p>
        </p:txBody>
      </p:sp>
      <p:sp>
        <p:nvSpPr>
          <p:cNvPr id="6" name="Text 4"/>
          <p:cNvSpPr txBox="1"/>
          <p:nvPr/>
        </p:nvSpPr>
        <p:spPr>
          <a:xfrm>
            <a:off x="7955280" y="2651760"/>
            <a:ext cx="3429000" cy="1554480"/>
          </a:xfrm>
          <a:prstGeom prst="rect">
            <a:avLst/>
          </a:prstGeom>
          <a:noFill/>
          <a:ln/>
        </p:spPr>
        <p:txBody>
          <a:bodyPr wrap="square" lIns="0" tIns="0" rIns="0" bIns="0" rtlCol="0" anchor="ctr"/>
          <a:lstStyle/>
          <a:p>
            <a:pPr indent="0" marL="0">
              <a:lnSpc>
                <a:spcPct val="125000"/>
              </a:lnSpc>
              <a:buNone/>
            </a:pPr>
            <a:r>
              <a:rPr lang="en-US" sz="1700" b="1" i="1" dirty="0">
                <a:solidFill>
                  <a:srgbClr val="FFFFFF"/>
                </a:solidFill>
                <a:latin typeface="Cambria" pitchFamily="34" charset="0"/>
                <a:ea typeface="Cambria" pitchFamily="34" charset="-122"/>
                <a:cs typeface="Cambria" pitchFamily="34" charset="-120"/>
              </a:rPr>
              <a:t>One map. One ranked list. Every heat-relief resource going where it's needed most.</a:t>
            </a:r>
            <a:endParaRPr lang="en-US" sz="1700" dirty="0"/>
          </a:p>
        </p:txBody>
      </p:sp>
      <p:sp>
        <p:nvSpPr>
          <p:cNvPr id="7" name="Shape 5"/>
          <p:cNvSpPr/>
          <p:nvPr/>
        </p:nvSpPr>
        <p:spPr>
          <a:xfrm>
            <a:off x="7955280" y="4343400"/>
            <a:ext cx="914400" cy="0"/>
          </a:xfrm>
          <a:prstGeom prst="line">
            <a:avLst/>
          </a:prstGeom>
          <a:noFill/>
          <a:ln w="31750">
            <a:solidFill>
              <a:srgbClr val="E8543A"/>
            </a:solidFill>
            <a:prstDash val="solid"/>
          </a:ln>
        </p:spPr>
      </p:sp>
      <p:sp>
        <p:nvSpPr>
          <p:cNvPr id="8" name="Text 6"/>
          <p:cNvSpPr txBox="1"/>
          <p:nvPr/>
        </p:nvSpPr>
        <p:spPr>
          <a:xfrm>
            <a:off x="7955280" y="4526280"/>
            <a:ext cx="3429000" cy="365760"/>
          </a:xfrm>
          <a:prstGeom prst="rect">
            <a:avLst/>
          </a:prstGeom>
          <a:noFill/>
          <a:ln/>
        </p:spPr>
        <p:txBody>
          <a:bodyPr wrap="square" lIns="0" tIns="0" rIns="0" bIns="0" rtlCol="0" anchor="ctr"/>
          <a:lstStyle/>
          <a:p>
            <a:pPr indent="0" marL="0">
              <a:buNone/>
            </a:pPr>
            <a:r>
              <a:rPr lang="en-US" sz="1100" dirty="0">
                <a:solidFill>
                  <a:srgbClr val="9AA6E0"/>
                </a:solidFill>
                <a:latin typeface="Calibri" pitchFamily="34" charset="0"/>
                <a:ea typeface="Calibri" pitchFamily="34" charset="-122"/>
                <a:cs typeface="Calibri" pitchFamily="34" charset="-120"/>
              </a:rPr>
              <a:t>Product vision statement</a:t>
            </a:r>
            <a:endParaRPr lang="en-US" sz="1100" dirty="0"/>
          </a:p>
        </p:txBody>
      </p:sp>
      <p:sp>
        <p:nvSpPr>
          <p:cNvPr id="9" name="Text 7"/>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CINS 5338/5388 — Software Project Management</a:t>
            </a:r>
            <a:endParaRPr lang="en-US" sz="900" dirty="0"/>
          </a:p>
        </p:txBody>
      </p:sp>
      <p:sp>
        <p:nvSpPr>
          <p:cNvPr id="10" name="Text 8"/>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45720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Features and Benefits of the System</a:t>
            </a:r>
            <a:endParaRPr lang="en-US" sz="3000" dirty="0"/>
          </a:p>
        </p:txBody>
      </p:sp>
      <p:sp>
        <p:nvSpPr>
          <p:cNvPr id="3" name="Shape 1"/>
          <p:cNvSpPr/>
          <p:nvPr/>
        </p:nvSpPr>
        <p:spPr>
          <a:xfrm>
            <a:off x="548640" y="1508760"/>
            <a:ext cx="3611880" cy="1965960"/>
          </a:xfrm>
          <a:prstGeom prst="roundRect">
            <a:avLst>
              <a:gd name="adj" fmla="val 4186"/>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4" name="Shape 2"/>
          <p:cNvSpPr/>
          <p:nvPr/>
        </p:nvSpPr>
        <p:spPr>
          <a:xfrm>
            <a:off x="749808" y="1709928"/>
            <a:ext cx="457200" cy="45720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5" name="Text 3"/>
          <p:cNvSpPr txBox="1"/>
          <p:nvPr/>
        </p:nvSpPr>
        <p:spPr>
          <a:xfrm>
            <a:off x="749808" y="170992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749808" y="2286000"/>
            <a:ext cx="3209544" cy="502920"/>
          </a:xfrm>
          <a:prstGeom prst="rect">
            <a:avLst/>
          </a:prstGeom>
          <a:noFill/>
          <a:ln/>
        </p:spPr>
        <p:txBody>
          <a:bodyPr wrap="square" lIns="0" tIns="0" rIns="0" bIns="0" rtlCol="0" anchor="ctr"/>
          <a:lstStyle/>
          <a:p>
            <a:pPr indent="0" marL="0">
              <a:lnSpc>
                <a:spcPct val="105000"/>
              </a:lnSpc>
              <a:buNone/>
            </a:pPr>
            <a:r>
              <a:rPr lang="en-US" sz="1320" b="1" dirty="0">
                <a:solidFill>
                  <a:srgbClr val="1E2761"/>
                </a:solidFill>
                <a:latin typeface="Calibri" pitchFamily="34" charset="0"/>
                <a:ea typeface="Calibri" pitchFamily="34" charset="-122"/>
                <a:cs typeface="Calibri" pitchFamily="34" charset="-120"/>
              </a:rPr>
              <a:t>Real-Time Site Search &amp; Status</a:t>
            </a:r>
            <a:endParaRPr lang="en-US" sz="1320" dirty="0"/>
          </a:p>
        </p:txBody>
      </p:sp>
      <p:sp>
        <p:nvSpPr>
          <p:cNvPr id="7" name="Text 5"/>
          <p:cNvSpPr txBox="1"/>
          <p:nvPr/>
        </p:nvSpPr>
        <p:spPr>
          <a:xfrm>
            <a:off x="749808" y="2743200"/>
            <a:ext cx="3209544" cy="658368"/>
          </a:xfrm>
          <a:prstGeom prst="rect">
            <a:avLst/>
          </a:prstGeom>
          <a:noFill/>
          <a:ln/>
        </p:spPr>
        <p:txBody>
          <a:bodyPr wrap="square" lIns="0" tIns="0" rIns="0" bIns="0" rtlCol="0" anchor="ctr"/>
          <a:lstStyle/>
          <a:p>
            <a:pPr indent="0" marL="0">
              <a:lnSpc>
                <a:spcPct val="115000"/>
              </a:lnSpc>
              <a:buNone/>
            </a:pPr>
            <a:r>
              <a:rPr lang="en-US" sz="1080" dirty="0">
                <a:solidFill>
                  <a:srgbClr val="2B2B2B"/>
                </a:solidFill>
                <a:latin typeface="Calibri" pitchFamily="34" charset="0"/>
                <a:ea typeface="Calibri" pitchFamily="34" charset="-122"/>
                <a:cs typeface="Calibri" pitchFamily="34" charset="-120"/>
              </a:rPr>
              <a:t>Residents search cooling/water sites near them and see live open/closed status — no more outdated lists.</a:t>
            </a:r>
            <a:endParaRPr lang="en-US" sz="1080" dirty="0"/>
          </a:p>
        </p:txBody>
      </p:sp>
      <p:sp>
        <p:nvSpPr>
          <p:cNvPr id="8" name="Shape 6"/>
          <p:cNvSpPr/>
          <p:nvPr/>
        </p:nvSpPr>
        <p:spPr>
          <a:xfrm>
            <a:off x="4416552" y="1508760"/>
            <a:ext cx="3611880" cy="1965960"/>
          </a:xfrm>
          <a:prstGeom prst="roundRect">
            <a:avLst>
              <a:gd name="adj" fmla="val 4186"/>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9" name="Shape 7"/>
          <p:cNvSpPr/>
          <p:nvPr/>
        </p:nvSpPr>
        <p:spPr>
          <a:xfrm>
            <a:off x="4617720" y="1709928"/>
            <a:ext cx="457200" cy="457200"/>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10" name="Text 8"/>
          <p:cNvSpPr txBox="1"/>
          <p:nvPr/>
        </p:nvSpPr>
        <p:spPr>
          <a:xfrm>
            <a:off x="4617720" y="170992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txBox="1"/>
          <p:nvPr/>
        </p:nvSpPr>
        <p:spPr>
          <a:xfrm>
            <a:off x="4617720" y="2286000"/>
            <a:ext cx="3209544" cy="502920"/>
          </a:xfrm>
          <a:prstGeom prst="rect">
            <a:avLst/>
          </a:prstGeom>
          <a:noFill/>
          <a:ln/>
        </p:spPr>
        <p:txBody>
          <a:bodyPr wrap="square" lIns="0" tIns="0" rIns="0" bIns="0" rtlCol="0" anchor="ctr"/>
          <a:lstStyle/>
          <a:p>
            <a:pPr indent="0" marL="0">
              <a:lnSpc>
                <a:spcPct val="105000"/>
              </a:lnSpc>
              <a:buNone/>
            </a:pPr>
            <a:r>
              <a:rPr lang="en-US" sz="1320" b="1" dirty="0">
                <a:solidFill>
                  <a:srgbClr val="1E2761"/>
                </a:solidFill>
                <a:latin typeface="Calibri" pitchFamily="34" charset="0"/>
                <a:ea typeface="Calibri" pitchFamily="34" charset="-122"/>
                <a:cs typeface="Calibri" pitchFamily="34" charset="-120"/>
              </a:rPr>
              <a:t>Priority-Area Matching Engine</a:t>
            </a:r>
            <a:endParaRPr lang="en-US" sz="1320" dirty="0"/>
          </a:p>
        </p:txBody>
      </p:sp>
      <p:sp>
        <p:nvSpPr>
          <p:cNvPr id="12" name="Text 10"/>
          <p:cNvSpPr txBox="1"/>
          <p:nvPr/>
        </p:nvSpPr>
        <p:spPr>
          <a:xfrm>
            <a:off x="4617720" y="2743200"/>
            <a:ext cx="3209544" cy="658368"/>
          </a:xfrm>
          <a:prstGeom prst="rect">
            <a:avLst/>
          </a:prstGeom>
          <a:noFill/>
          <a:ln/>
        </p:spPr>
        <p:txBody>
          <a:bodyPr wrap="square" lIns="0" tIns="0" rIns="0" bIns="0" rtlCol="0" anchor="ctr"/>
          <a:lstStyle/>
          <a:p>
            <a:pPr indent="0" marL="0">
              <a:lnSpc>
                <a:spcPct val="115000"/>
              </a:lnSpc>
              <a:buNone/>
            </a:pPr>
            <a:r>
              <a:rPr lang="en-US" sz="1080" dirty="0">
                <a:solidFill>
                  <a:srgbClr val="2B2B2B"/>
                </a:solidFill>
                <a:latin typeface="Calibri" pitchFamily="34" charset="0"/>
                <a:ea typeface="Calibri" pitchFamily="34" charset="-122"/>
                <a:cs typeface="Calibri" pitchFamily="34" charset="-120"/>
              </a:rPr>
              <a:t>A transparent, rule-based heat-vulnerability index ranks every area by heat index + demographic risk.</a:t>
            </a:r>
            <a:endParaRPr lang="en-US" sz="1080" dirty="0"/>
          </a:p>
        </p:txBody>
      </p:sp>
      <p:sp>
        <p:nvSpPr>
          <p:cNvPr id="13" name="Shape 11"/>
          <p:cNvSpPr/>
          <p:nvPr/>
        </p:nvSpPr>
        <p:spPr>
          <a:xfrm>
            <a:off x="8284464" y="1508760"/>
            <a:ext cx="3611880" cy="1965960"/>
          </a:xfrm>
          <a:prstGeom prst="roundRect">
            <a:avLst>
              <a:gd name="adj" fmla="val 4186"/>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14" name="Shape 12"/>
          <p:cNvSpPr/>
          <p:nvPr/>
        </p:nvSpPr>
        <p:spPr>
          <a:xfrm>
            <a:off x="8485632" y="1709928"/>
            <a:ext cx="457200" cy="45720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15" name="Text 13"/>
          <p:cNvSpPr txBox="1"/>
          <p:nvPr/>
        </p:nvSpPr>
        <p:spPr>
          <a:xfrm>
            <a:off x="8485632" y="170992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6" name="Text 14"/>
          <p:cNvSpPr txBox="1"/>
          <p:nvPr/>
        </p:nvSpPr>
        <p:spPr>
          <a:xfrm>
            <a:off x="8485632" y="2286000"/>
            <a:ext cx="3209544" cy="502920"/>
          </a:xfrm>
          <a:prstGeom prst="rect">
            <a:avLst/>
          </a:prstGeom>
          <a:noFill/>
          <a:ln/>
        </p:spPr>
        <p:txBody>
          <a:bodyPr wrap="square" lIns="0" tIns="0" rIns="0" bIns="0" rtlCol="0" anchor="ctr"/>
          <a:lstStyle/>
          <a:p>
            <a:pPr indent="0" marL="0">
              <a:lnSpc>
                <a:spcPct val="105000"/>
              </a:lnSpc>
              <a:buNone/>
            </a:pPr>
            <a:r>
              <a:rPr lang="en-US" sz="1320" b="1" dirty="0">
                <a:solidFill>
                  <a:srgbClr val="1E2761"/>
                </a:solidFill>
                <a:latin typeface="Calibri" pitchFamily="34" charset="0"/>
                <a:ea typeface="Calibri" pitchFamily="34" charset="-122"/>
                <a:cs typeface="Calibri" pitchFamily="34" charset="-120"/>
              </a:rPr>
              <a:t>Distance-Aware Resource Gap</a:t>
            </a:r>
            <a:endParaRPr lang="en-US" sz="1320" dirty="0"/>
          </a:p>
        </p:txBody>
      </p:sp>
      <p:sp>
        <p:nvSpPr>
          <p:cNvPr id="17" name="Text 15"/>
          <p:cNvSpPr txBox="1"/>
          <p:nvPr/>
        </p:nvSpPr>
        <p:spPr>
          <a:xfrm>
            <a:off x="8485632" y="2743200"/>
            <a:ext cx="3209544" cy="658368"/>
          </a:xfrm>
          <a:prstGeom prst="rect">
            <a:avLst/>
          </a:prstGeom>
          <a:noFill/>
          <a:ln/>
        </p:spPr>
        <p:txBody>
          <a:bodyPr wrap="square" lIns="0" tIns="0" rIns="0" bIns="0" rtlCol="0" anchor="ctr"/>
          <a:lstStyle/>
          <a:p>
            <a:pPr indent="0" marL="0">
              <a:lnSpc>
                <a:spcPct val="115000"/>
              </a:lnSpc>
              <a:buNone/>
            </a:pPr>
            <a:r>
              <a:rPr lang="en-US" sz="1080" dirty="0">
                <a:solidFill>
                  <a:srgbClr val="2B2B2B"/>
                </a:solidFill>
                <a:latin typeface="Calibri" pitchFamily="34" charset="0"/>
                <a:ea typeface="Calibri" pitchFamily="34" charset="-122"/>
                <a:cs typeface="Calibri" pitchFamily="34" charset="-120"/>
              </a:rPr>
              <a:t>Areas far from any open site score higher, surfacing under-resourced high-need areas automatically.</a:t>
            </a:r>
            <a:endParaRPr lang="en-US" sz="1080" dirty="0"/>
          </a:p>
        </p:txBody>
      </p:sp>
      <p:sp>
        <p:nvSpPr>
          <p:cNvPr id="18" name="Shape 16"/>
          <p:cNvSpPr/>
          <p:nvPr/>
        </p:nvSpPr>
        <p:spPr>
          <a:xfrm>
            <a:off x="548640" y="3730752"/>
            <a:ext cx="3611880" cy="1965960"/>
          </a:xfrm>
          <a:prstGeom prst="roundRect">
            <a:avLst>
              <a:gd name="adj" fmla="val 4186"/>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19" name="Shape 17"/>
          <p:cNvSpPr/>
          <p:nvPr/>
        </p:nvSpPr>
        <p:spPr>
          <a:xfrm>
            <a:off x="749808" y="3931920"/>
            <a:ext cx="457200" cy="457200"/>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20" name="Text 18"/>
          <p:cNvSpPr txBox="1"/>
          <p:nvPr/>
        </p:nvSpPr>
        <p:spPr>
          <a:xfrm>
            <a:off x="749808" y="39319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9"/>
          <p:cNvSpPr txBox="1"/>
          <p:nvPr/>
        </p:nvSpPr>
        <p:spPr>
          <a:xfrm>
            <a:off x="749808" y="4507992"/>
            <a:ext cx="3209544" cy="502920"/>
          </a:xfrm>
          <a:prstGeom prst="rect">
            <a:avLst/>
          </a:prstGeom>
          <a:noFill/>
          <a:ln/>
        </p:spPr>
        <p:txBody>
          <a:bodyPr wrap="square" lIns="0" tIns="0" rIns="0" bIns="0" rtlCol="0" anchor="ctr"/>
          <a:lstStyle/>
          <a:p>
            <a:pPr indent="0" marL="0">
              <a:lnSpc>
                <a:spcPct val="105000"/>
              </a:lnSpc>
              <a:buNone/>
            </a:pPr>
            <a:r>
              <a:rPr lang="en-US" sz="1320" b="1" dirty="0">
                <a:solidFill>
                  <a:srgbClr val="1E2761"/>
                </a:solidFill>
                <a:latin typeface="Calibri" pitchFamily="34" charset="0"/>
                <a:ea typeface="Calibri" pitchFamily="34" charset="-122"/>
                <a:cs typeface="Calibri" pitchFamily="34" charset="-120"/>
              </a:rPr>
              <a:t>Org Admin Priority Dashboard</a:t>
            </a:r>
            <a:endParaRPr lang="en-US" sz="1320" dirty="0"/>
          </a:p>
        </p:txBody>
      </p:sp>
      <p:sp>
        <p:nvSpPr>
          <p:cNvPr id="22" name="Text 20"/>
          <p:cNvSpPr txBox="1"/>
          <p:nvPr/>
        </p:nvSpPr>
        <p:spPr>
          <a:xfrm>
            <a:off x="749808" y="4965192"/>
            <a:ext cx="3209544" cy="658368"/>
          </a:xfrm>
          <a:prstGeom prst="rect">
            <a:avLst/>
          </a:prstGeom>
          <a:noFill/>
          <a:ln/>
        </p:spPr>
        <p:txBody>
          <a:bodyPr wrap="square" lIns="0" tIns="0" rIns="0" bIns="0" rtlCol="0" anchor="ctr"/>
          <a:lstStyle/>
          <a:p>
            <a:pPr indent="0" marL="0">
              <a:lnSpc>
                <a:spcPct val="115000"/>
              </a:lnSpc>
              <a:buNone/>
            </a:pPr>
            <a:r>
              <a:rPr lang="en-US" sz="1080" dirty="0">
                <a:solidFill>
                  <a:srgbClr val="2B2B2B"/>
                </a:solidFill>
                <a:latin typeface="Calibri" pitchFamily="34" charset="0"/>
                <a:ea typeface="Calibri" pitchFamily="34" charset="-122"/>
                <a:cs typeface="Calibri" pitchFamily="34" charset="-120"/>
              </a:rPr>
              <a:t>A ranked, filterable table with one-click recompute replaces reading raw JSON or spreadsheets.</a:t>
            </a:r>
            <a:endParaRPr lang="en-US" sz="1080" dirty="0"/>
          </a:p>
        </p:txBody>
      </p:sp>
      <p:sp>
        <p:nvSpPr>
          <p:cNvPr id="23" name="Shape 21"/>
          <p:cNvSpPr/>
          <p:nvPr/>
        </p:nvSpPr>
        <p:spPr>
          <a:xfrm>
            <a:off x="4416552" y="3730752"/>
            <a:ext cx="3611880" cy="1965960"/>
          </a:xfrm>
          <a:prstGeom prst="roundRect">
            <a:avLst>
              <a:gd name="adj" fmla="val 4186"/>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24" name="Shape 22"/>
          <p:cNvSpPr/>
          <p:nvPr/>
        </p:nvSpPr>
        <p:spPr>
          <a:xfrm>
            <a:off x="4617720" y="3931920"/>
            <a:ext cx="457200" cy="45720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25" name="Text 23"/>
          <p:cNvSpPr txBox="1"/>
          <p:nvPr/>
        </p:nvSpPr>
        <p:spPr>
          <a:xfrm>
            <a:off x="4617720" y="39319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6" name="Text 24"/>
          <p:cNvSpPr txBox="1"/>
          <p:nvPr/>
        </p:nvSpPr>
        <p:spPr>
          <a:xfrm>
            <a:off x="4617720" y="4507992"/>
            <a:ext cx="3209544" cy="502920"/>
          </a:xfrm>
          <a:prstGeom prst="rect">
            <a:avLst/>
          </a:prstGeom>
          <a:noFill/>
          <a:ln/>
        </p:spPr>
        <p:txBody>
          <a:bodyPr wrap="square" lIns="0" tIns="0" rIns="0" bIns="0" rtlCol="0" anchor="ctr"/>
          <a:lstStyle/>
          <a:p>
            <a:pPr indent="0" marL="0">
              <a:lnSpc>
                <a:spcPct val="105000"/>
              </a:lnSpc>
              <a:buNone/>
            </a:pPr>
            <a:r>
              <a:rPr lang="en-US" sz="1320" b="1" dirty="0">
                <a:solidFill>
                  <a:srgbClr val="1E2761"/>
                </a:solidFill>
                <a:latin typeface="Calibri" pitchFamily="34" charset="0"/>
                <a:ea typeface="Calibri" pitchFamily="34" charset="-122"/>
                <a:cs typeface="Calibri" pitchFamily="34" charset="-120"/>
              </a:rPr>
              <a:t>Map-Based Priority Overlay</a:t>
            </a:r>
            <a:endParaRPr lang="en-US" sz="1320" dirty="0"/>
          </a:p>
        </p:txBody>
      </p:sp>
      <p:sp>
        <p:nvSpPr>
          <p:cNvPr id="27" name="Text 25"/>
          <p:cNvSpPr txBox="1"/>
          <p:nvPr/>
        </p:nvSpPr>
        <p:spPr>
          <a:xfrm>
            <a:off x="4617720" y="4965192"/>
            <a:ext cx="3209544" cy="658368"/>
          </a:xfrm>
          <a:prstGeom prst="rect">
            <a:avLst/>
          </a:prstGeom>
          <a:noFill/>
          <a:ln/>
        </p:spPr>
        <p:txBody>
          <a:bodyPr wrap="square" lIns="0" tIns="0" rIns="0" bIns="0" rtlCol="0" anchor="ctr"/>
          <a:lstStyle/>
          <a:p>
            <a:pPr indent="0" marL="0">
              <a:lnSpc>
                <a:spcPct val="115000"/>
              </a:lnSpc>
              <a:buNone/>
            </a:pPr>
            <a:r>
              <a:rPr lang="en-US" sz="1080" dirty="0">
                <a:solidFill>
                  <a:srgbClr val="2B2B2B"/>
                </a:solidFill>
                <a:latin typeface="Calibri" pitchFamily="34" charset="0"/>
                <a:ea typeface="Calibri" pitchFamily="34" charset="-122"/>
                <a:cs typeface="Calibri" pitchFamily="34" charset="-120"/>
              </a:rPr>
              <a:t>A toggleable colored-circle layer shows residents and partners exactly where risk is concentrated.</a:t>
            </a:r>
            <a:endParaRPr lang="en-US" sz="1080" dirty="0"/>
          </a:p>
        </p:txBody>
      </p:sp>
      <p:sp>
        <p:nvSpPr>
          <p:cNvPr id="28" name="Shape 26"/>
          <p:cNvSpPr/>
          <p:nvPr/>
        </p:nvSpPr>
        <p:spPr>
          <a:xfrm>
            <a:off x="8284464" y="3730752"/>
            <a:ext cx="3611880" cy="1965960"/>
          </a:xfrm>
          <a:prstGeom prst="roundRect">
            <a:avLst>
              <a:gd name="adj" fmla="val 4186"/>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29" name="Shape 27"/>
          <p:cNvSpPr/>
          <p:nvPr/>
        </p:nvSpPr>
        <p:spPr>
          <a:xfrm>
            <a:off x="8485632" y="3931920"/>
            <a:ext cx="457200" cy="457200"/>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30" name="Text 28"/>
          <p:cNvSpPr txBox="1"/>
          <p:nvPr/>
        </p:nvSpPr>
        <p:spPr>
          <a:xfrm>
            <a:off x="8485632" y="39319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1" name="Text 29"/>
          <p:cNvSpPr txBox="1"/>
          <p:nvPr/>
        </p:nvSpPr>
        <p:spPr>
          <a:xfrm>
            <a:off x="8485632" y="4507992"/>
            <a:ext cx="3209544" cy="502920"/>
          </a:xfrm>
          <a:prstGeom prst="rect">
            <a:avLst/>
          </a:prstGeom>
          <a:noFill/>
          <a:ln/>
        </p:spPr>
        <p:txBody>
          <a:bodyPr wrap="square" lIns="0" tIns="0" rIns="0" bIns="0" rtlCol="0" anchor="ctr"/>
          <a:lstStyle/>
          <a:p>
            <a:pPr indent="0" marL="0">
              <a:lnSpc>
                <a:spcPct val="105000"/>
              </a:lnSpc>
              <a:buNone/>
            </a:pPr>
            <a:r>
              <a:rPr lang="en-US" sz="1320" b="1" dirty="0">
                <a:solidFill>
                  <a:srgbClr val="1E2761"/>
                </a:solidFill>
                <a:latin typeface="Calibri" pitchFamily="34" charset="0"/>
                <a:ea typeface="Calibri" pitchFamily="34" charset="-122"/>
                <a:cs typeface="Calibri" pitchFamily="34" charset="-120"/>
              </a:rPr>
              <a:t>Built for Real Data, Today</a:t>
            </a:r>
            <a:endParaRPr lang="en-US" sz="1320" dirty="0"/>
          </a:p>
        </p:txBody>
      </p:sp>
      <p:sp>
        <p:nvSpPr>
          <p:cNvPr id="32" name="Text 30"/>
          <p:cNvSpPr txBox="1"/>
          <p:nvPr/>
        </p:nvSpPr>
        <p:spPr>
          <a:xfrm>
            <a:off x="8485632" y="4965192"/>
            <a:ext cx="3209544" cy="658368"/>
          </a:xfrm>
          <a:prstGeom prst="rect">
            <a:avLst/>
          </a:prstGeom>
          <a:noFill/>
          <a:ln/>
        </p:spPr>
        <p:txBody>
          <a:bodyPr wrap="square" lIns="0" tIns="0" rIns="0" bIns="0" rtlCol="0" anchor="ctr"/>
          <a:lstStyle/>
          <a:p>
            <a:pPr indent="0" marL="0">
              <a:lnSpc>
                <a:spcPct val="115000"/>
              </a:lnSpc>
              <a:buNone/>
            </a:pPr>
            <a:r>
              <a:rPr lang="en-US" sz="1080" dirty="0">
                <a:solidFill>
                  <a:srgbClr val="2B2B2B"/>
                </a:solidFill>
                <a:latin typeface="Calibri" pitchFamily="34" charset="0"/>
                <a:ea typeface="Calibri" pitchFamily="34" charset="-122"/>
                <a:cs typeface="Calibri" pitchFamily="34" charset="-120"/>
              </a:rPr>
              <a:t>Ships with a working, documented model now, with a clear upgrade path to live weather + Census data.</a:t>
            </a:r>
            <a:endParaRPr lang="en-US" sz="1080" dirty="0"/>
          </a:p>
        </p:txBody>
      </p:sp>
      <p:sp>
        <p:nvSpPr>
          <p:cNvPr id="33" name="Text 31"/>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CINS 5338/5388 — Software Project Management</a:t>
            </a:r>
            <a:endParaRPr lang="en-US" sz="900" dirty="0"/>
          </a:p>
        </p:txBody>
      </p:sp>
      <p:sp>
        <p:nvSpPr>
          <p:cNvPr id="34" name="Text 32"/>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45720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Software Stack</a:t>
            </a:r>
            <a:endParaRPr lang="en-US" sz="3000" dirty="0"/>
          </a:p>
        </p:txBody>
      </p:sp>
      <p:sp>
        <p:nvSpPr>
          <p:cNvPr id="3" name="Shape 1"/>
          <p:cNvSpPr/>
          <p:nvPr/>
        </p:nvSpPr>
        <p:spPr>
          <a:xfrm>
            <a:off x="594360" y="1499616"/>
            <a:ext cx="457200" cy="45720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4" name="Text 2"/>
          <p:cNvSpPr txBox="1"/>
          <p:nvPr/>
        </p:nvSpPr>
        <p:spPr>
          <a:xfrm>
            <a:off x="594360" y="14996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FE</a:t>
            </a:r>
            <a:endParaRPr lang="en-US" sz="1200" dirty="0"/>
          </a:p>
        </p:txBody>
      </p:sp>
      <p:sp>
        <p:nvSpPr>
          <p:cNvPr id="5" name="Text 3"/>
          <p:cNvSpPr txBox="1"/>
          <p:nvPr/>
        </p:nvSpPr>
        <p:spPr>
          <a:xfrm>
            <a:off x="1252728" y="1426464"/>
            <a:ext cx="10314432"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Frontend</a:t>
            </a:r>
            <a:endParaRPr lang="en-US" sz="1450" dirty="0"/>
          </a:p>
        </p:txBody>
      </p:sp>
      <p:sp>
        <p:nvSpPr>
          <p:cNvPr id="6" name="Text 4"/>
          <p:cNvSpPr txBox="1"/>
          <p:nvPr/>
        </p:nvSpPr>
        <p:spPr>
          <a:xfrm>
            <a:off x="1252728" y="1700784"/>
            <a:ext cx="10314432" cy="548640"/>
          </a:xfrm>
          <a:prstGeom prst="rect">
            <a:avLst/>
          </a:prstGeom>
          <a:noFill/>
          <a:ln/>
        </p:spPr>
        <p:txBody>
          <a:bodyPr wrap="square" lIns="0" tIns="0" rIns="0" bIns="0" rtlCol="0" anchor="ctr"/>
          <a:lstStyle/>
          <a:p>
            <a:pPr indent="0" marL="0">
              <a:lnSpc>
                <a:spcPct val="112000"/>
              </a:lnSpc>
              <a:buNone/>
            </a:pPr>
            <a:r>
              <a:rPr lang="en-US" sz="1130" dirty="0">
                <a:solidFill>
                  <a:srgbClr val="2B2B2B"/>
                </a:solidFill>
                <a:latin typeface="Calibri" pitchFamily="34" charset="0"/>
                <a:ea typeface="Calibri" pitchFamily="34" charset="-122"/>
                <a:cs typeface="Calibri" pitchFamily="34" charset="-120"/>
              </a:rPr>
              <a:t>React (JSX) bundled with Vite — migrating from the original plain HTML/CSS/JS build. Leaflet.js + OpenStreetMap still provide the interactive map.</a:t>
            </a:r>
            <a:endParaRPr lang="en-US" sz="1130" dirty="0"/>
          </a:p>
        </p:txBody>
      </p:sp>
      <p:sp>
        <p:nvSpPr>
          <p:cNvPr id="7" name="Shape 5"/>
          <p:cNvSpPr/>
          <p:nvPr/>
        </p:nvSpPr>
        <p:spPr>
          <a:xfrm>
            <a:off x="594360" y="2286000"/>
            <a:ext cx="457200" cy="457200"/>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8" name="Text 6"/>
          <p:cNvSpPr txBox="1"/>
          <p:nvPr/>
        </p:nvSpPr>
        <p:spPr>
          <a:xfrm>
            <a:off x="594360" y="22860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BE</a:t>
            </a:r>
            <a:endParaRPr lang="en-US" sz="1200" dirty="0"/>
          </a:p>
        </p:txBody>
      </p:sp>
      <p:sp>
        <p:nvSpPr>
          <p:cNvPr id="9" name="Text 7"/>
          <p:cNvSpPr txBox="1"/>
          <p:nvPr/>
        </p:nvSpPr>
        <p:spPr>
          <a:xfrm>
            <a:off x="1252728" y="2212848"/>
            <a:ext cx="10314432"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Backend</a:t>
            </a:r>
            <a:endParaRPr lang="en-US" sz="1450" dirty="0"/>
          </a:p>
        </p:txBody>
      </p:sp>
      <p:sp>
        <p:nvSpPr>
          <p:cNvPr id="10" name="Text 8"/>
          <p:cNvSpPr txBox="1"/>
          <p:nvPr/>
        </p:nvSpPr>
        <p:spPr>
          <a:xfrm>
            <a:off x="1252728" y="2487168"/>
            <a:ext cx="10314432" cy="548640"/>
          </a:xfrm>
          <a:prstGeom prst="rect">
            <a:avLst/>
          </a:prstGeom>
          <a:noFill/>
          <a:ln/>
        </p:spPr>
        <p:txBody>
          <a:bodyPr wrap="square" lIns="0" tIns="0" rIns="0" bIns="0" rtlCol="0" anchor="ctr"/>
          <a:lstStyle/>
          <a:p>
            <a:pPr indent="0" marL="0">
              <a:lnSpc>
                <a:spcPct val="112000"/>
              </a:lnSpc>
              <a:buNone/>
            </a:pPr>
            <a:r>
              <a:rPr lang="en-US" sz="1130" dirty="0">
                <a:solidFill>
                  <a:srgbClr val="2B2B2B"/>
                </a:solidFill>
                <a:latin typeface="Calibri" pitchFamily="34" charset="0"/>
                <a:ea typeface="Calibri" pitchFamily="34" charset="-122"/>
                <a:cs typeface="Calibri" pitchFamily="34" charset="-120"/>
              </a:rPr>
              <a:t>Node.js + Express, serving REST routes: /api/sites, /api/alerts, /api/orgs, /api/risk-areas.</a:t>
            </a:r>
            <a:endParaRPr lang="en-US" sz="1130" dirty="0"/>
          </a:p>
        </p:txBody>
      </p:sp>
      <p:sp>
        <p:nvSpPr>
          <p:cNvPr id="11" name="Shape 9"/>
          <p:cNvSpPr/>
          <p:nvPr/>
        </p:nvSpPr>
        <p:spPr>
          <a:xfrm>
            <a:off x="594360" y="3072384"/>
            <a:ext cx="457200" cy="45720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12" name="Text 10"/>
          <p:cNvSpPr txBox="1"/>
          <p:nvPr/>
        </p:nvSpPr>
        <p:spPr>
          <a:xfrm>
            <a:off x="594360" y="307238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DB</a:t>
            </a:r>
            <a:endParaRPr lang="en-US" sz="1200" dirty="0"/>
          </a:p>
        </p:txBody>
      </p:sp>
      <p:sp>
        <p:nvSpPr>
          <p:cNvPr id="13" name="Text 11"/>
          <p:cNvSpPr txBox="1"/>
          <p:nvPr/>
        </p:nvSpPr>
        <p:spPr>
          <a:xfrm>
            <a:off x="1252728" y="2999232"/>
            <a:ext cx="10314432"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Database</a:t>
            </a:r>
            <a:endParaRPr lang="en-US" sz="1450" dirty="0"/>
          </a:p>
        </p:txBody>
      </p:sp>
      <p:sp>
        <p:nvSpPr>
          <p:cNvPr id="14" name="Text 12"/>
          <p:cNvSpPr txBox="1"/>
          <p:nvPr/>
        </p:nvSpPr>
        <p:spPr>
          <a:xfrm>
            <a:off x="1252728" y="3273552"/>
            <a:ext cx="10314432" cy="548640"/>
          </a:xfrm>
          <a:prstGeom prst="rect">
            <a:avLst/>
          </a:prstGeom>
          <a:noFill/>
          <a:ln/>
        </p:spPr>
        <p:txBody>
          <a:bodyPr wrap="square" lIns="0" tIns="0" rIns="0" bIns="0" rtlCol="0" anchor="ctr"/>
          <a:lstStyle/>
          <a:p>
            <a:pPr indent="0" marL="0">
              <a:lnSpc>
                <a:spcPct val="112000"/>
              </a:lnSpc>
              <a:buNone/>
            </a:pPr>
            <a:r>
              <a:rPr lang="en-US" sz="1130" dirty="0">
                <a:solidFill>
                  <a:srgbClr val="2B2B2B"/>
                </a:solidFill>
                <a:latin typeface="Calibri" pitchFamily="34" charset="0"/>
                <a:ea typeface="Calibri" pitchFamily="34" charset="-122"/>
                <a:cs typeface="Calibri" pitchFamily="34" charset="-120"/>
              </a:rPr>
              <a:t>PostgreSQL 17+ with the PostGIS extension for spatial / proximity ("nearest open site") queries.</a:t>
            </a:r>
            <a:endParaRPr lang="en-US" sz="1130" dirty="0"/>
          </a:p>
        </p:txBody>
      </p:sp>
      <p:sp>
        <p:nvSpPr>
          <p:cNvPr id="15" name="Shape 13"/>
          <p:cNvSpPr/>
          <p:nvPr/>
        </p:nvSpPr>
        <p:spPr>
          <a:xfrm>
            <a:off x="594360" y="3858768"/>
            <a:ext cx="457200" cy="457200"/>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16" name="Text 14"/>
          <p:cNvSpPr txBox="1"/>
          <p:nvPr/>
        </p:nvSpPr>
        <p:spPr>
          <a:xfrm>
            <a:off x="594360" y="385876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LB</a:t>
            </a:r>
            <a:endParaRPr lang="en-US" sz="1200" dirty="0"/>
          </a:p>
        </p:txBody>
      </p:sp>
      <p:sp>
        <p:nvSpPr>
          <p:cNvPr id="17" name="Text 15"/>
          <p:cNvSpPr txBox="1"/>
          <p:nvPr/>
        </p:nvSpPr>
        <p:spPr>
          <a:xfrm>
            <a:off x="1252728" y="3785616"/>
            <a:ext cx="10314432"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Core Libraries</a:t>
            </a:r>
            <a:endParaRPr lang="en-US" sz="1450" dirty="0"/>
          </a:p>
        </p:txBody>
      </p:sp>
      <p:sp>
        <p:nvSpPr>
          <p:cNvPr id="18" name="Text 16"/>
          <p:cNvSpPr txBox="1"/>
          <p:nvPr/>
        </p:nvSpPr>
        <p:spPr>
          <a:xfrm>
            <a:off x="1252728" y="4059936"/>
            <a:ext cx="10314432" cy="548640"/>
          </a:xfrm>
          <a:prstGeom prst="rect">
            <a:avLst/>
          </a:prstGeom>
          <a:noFill/>
          <a:ln/>
        </p:spPr>
        <p:txBody>
          <a:bodyPr wrap="square" lIns="0" tIns="0" rIns="0" bIns="0" rtlCol="0" anchor="ctr"/>
          <a:lstStyle/>
          <a:p>
            <a:pPr indent="0" marL="0">
              <a:lnSpc>
                <a:spcPct val="112000"/>
              </a:lnSpc>
              <a:buNone/>
            </a:pPr>
            <a:r>
              <a:rPr lang="en-US" sz="1130" dirty="0">
                <a:solidFill>
                  <a:srgbClr val="2B2B2B"/>
                </a:solidFill>
                <a:latin typeface="Calibri" pitchFamily="34" charset="0"/>
                <a:ea typeface="Calibri" pitchFamily="34" charset="-122"/>
                <a:cs typeface="Calibri" pitchFamily="34" charset="-120"/>
              </a:rPr>
              <a:t>pg (node-postgres) for DB access, cors for cross-origin requests, dotenv for config/secrets.</a:t>
            </a:r>
            <a:endParaRPr lang="en-US" sz="1130" dirty="0"/>
          </a:p>
        </p:txBody>
      </p:sp>
      <p:sp>
        <p:nvSpPr>
          <p:cNvPr id="19" name="Shape 17"/>
          <p:cNvSpPr/>
          <p:nvPr/>
        </p:nvSpPr>
        <p:spPr>
          <a:xfrm>
            <a:off x="594360" y="4645152"/>
            <a:ext cx="457200" cy="45720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20" name="Text 18"/>
          <p:cNvSpPr txBox="1"/>
          <p:nvPr/>
        </p:nvSpPr>
        <p:spPr>
          <a:xfrm>
            <a:off x="594360" y="464515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AI</a:t>
            </a:r>
            <a:endParaRPr lang="en-US" sz="1200" dirty="0"/>
          </a:p>
        </p:txBody>
      </p:sp>
      <p:sp>
        <p:nvSpPr>
          <p:cNvPr id="21" name="Text 19"/>
          <p:cNvSpPr txBox="1"/>
          <p:nvPr/>
        </p:nvSpPr>
        <p:spPr>
          <a:xfrm>
            <a:off x="1252728" y="4572000"/>
            <a:ext cx="10314432"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Scoring Engine</a:t>
            </a:r>
            <a:endParaRPr lang="en-US" sz="1450" dirty="0"/>
          </a:p>
        </p:txBody>
      </p:sp>
      <p:sp>
        <p:nvSpPr>
          <p:cNvPr id="22" name="Text 20"/>
          <p:cNvSpPr txBox="1"/>
          <p:nvPr/>
        </p:nvSpPr>
        <p:spPr>
          <a:xfrm>
            <a:off x="1252728" y="4846320"/>
            <a:ext cx="10314432" cy="548640"/>
          </a:xfrm>
          <a:prstGeom prst="rect">
            <a:avLst/>
          </a:prstGeom>
          <a:noFill/>
          <a:ln/>
        </p:spPr>
        <p:txBody>
          <a:bodyPr wrap="square" lIns="0" tIns="0" rIns="0" bIns="0" rtlCol="0" anchor="ctr"/>
          <a:lstStyle/>
          <a:p>
            <a:pPr indent="0" marL="0">
              <a:lnSpc>
                <a:spcPct val="112000"/>
              </a:lnSpc>
              <a:buNone/>
            </a:pPr>
            <a:r>
              <a:rPr lang="en-US" sz="1130" dirty="0">
                <a:solidFill>
                  <a:srgbClr val="2B2B2B"/>
                </a:solidFill>
                <a:latin typeface="Calibri" pitchFamily="34" charset="0"/>
                <a:ea typeface="Calibri" pitchFamily="34" charset="-122"/>
                <a:cs typeface="Calibri" pitchFamily="34" charset="-120"/>
              </a:rPr>
              <a:t>Custom rule-based JS heat-vulnerability scorer (riskScore.js) — transparent, no ML runtime dependency yet.</a:t>
            </a:r>
            <a:endParaRPr lang="en-US" sz="1130" dirty="0"/>
          </a:p>
        </p:txBody>
      </p:sp>
      <p:sp>
        <p:nvSpPr>
          <p:cNvPr id="23" name="Shape 21"/>
          <p:cNvSpPr/>
          <p:nvPr/>
        </p:nvSpPr>
        <p:spPr>
          <a:xfrm>
            <a:off x="594360" y="5431536"/>
            <a:ext cx="457200" cy="457200"/>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24" name="Text 22"/>
          <p:cNvSpPr txBox="1"/>
          <p:nvPr/>
        </p:nvSpPr>
        <p:spPr>
          <a:xfrm>
            <a:off x="594360" y="543153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5" name="Text 23"/>
          <p:cNvSpPr txBox="1"/>
          <p:nvPr/>
        </p:nvSpPr>
        <p:spPr>
          <a:xfrm>
            <a:off x="1252728" y="5358384"/>
            <a:ext cx="10314432"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Planned Integrations</a:t>
            </a:r>
            <a:endParaRPr lang="en-US" sz="1450" dirty="0"/>
          </a:p>
        </p:txBody>
      </p:sp>
      <p:sp>
        <p:nvSpPr>
          <p:cNvPr id="26" name="Text 24"/>
          <p:cNvSpPr txBox="1"/>
          <p:nvPr/>
        </p:nvSpPr>
        <p:spPr>
          <a:xfrm>
            <a:off x="1252728" y="5632704"/>
            <a:ext cx="10314432" cy="548640"/>
          </a:xfrm>
          <a:prstGeom prst="rect">
            <a:avLst/>
          </a:prstGeom>
          <a:noFill/>
          <a:ln/>
        </p:spPr>
        <p:txBody>
          <a:bodyPr wrap="square" lIns="0" tIns="0" rIns="0" bIns="0" rtlCol="0" anchor="ctr"/>
          <a:lstStyle/>
          <a:p>
            <a:pPr indent="0" marL="0">
              <a:lnSpc>
                <a:spcPct val="112000"/>
              </a:lnSpc>
              <a:buNone/>
            </a:pPr>
            <a:r>
              <a:rPr lang="en-US" sz="1130" dirty="0">
                <a:solidFill>
                  <a:srgbClr val="2B2B2B"/>
                </a:solidFill>
                <a:latin typeface="Calibri" pitchFamily="34" charset="0"/>
                <a:ea typeface="Calibri" pitchFamily="34" charset="-122"/>
                <a:cs typeface="Calibri" pitchFamily="34" charset="-120"/>
              </a:rPr>
              <a:t>National Weather Service API, U.S. Census Bureau ACS API, Twilio (SMS), Firebase Cloud Messaging (push).</a:t>
            </a:r>
            <a:endParaRPr lang="en-US" sz="1130" dirty="0"/>
          </a:p>
        </p:txBody>
      </p:sp>
      <p:sp>
        <p:nvSpPr>
          <p:cNvPr id="27" name="Text 25"/>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CINS 5338/5388 — Software Project Management</a:t>
            </a:r>
            <a:endParaRPr lang="en-US" sz="900" dirty="0"/>
          </a:p>
        </p:txBody>
      </p:sp>
      <p:sp>
        <p:nvSpPr>
          <p:cNvPr id="28" name="Text 26"/>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5720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How the Stack Works Together</a:t>
            </a:r>
            <a:endParaRPr lang="en-US" sz="3000" dirty="0"/>
          </a:p>
        </p:txBody>
      </p:sp>
      <p:sp>
        <p:nvSpPr>
          <p:cNvPr id="3" name="Shape 1"/>
          <p:cNvSpPr/>
          <p:nvPr/>
        </p:nvSpPr>
        <p:spPr>
          <a:xfrm>
            <a:off x="640080" y="1737360"/>
            <a:ext cx="3063240" cy="1554480"/>
          </a:xfrm>
          <a:prstGeom prst="roundRect">
            <a:avLst>
              <a:gd name="adj" fmla="val 5294"/>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4" name="Text 2"/>
          <p:cNvSpPr txBox="1"/>
          <p:nvPr/>
        </p:nvSpPr>
        <p:spPr>
          <a:xfrm>
            <a:off x="822960" y="1901952"/>
            <a:ext cx="269748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Client</a:t>
            </a:r>
            <a:endParaRPr lang="en-US" sz="1500" dirty="0"/>
          </a:p>
        </p:txBody>
      </p:sp>
      <p:sp>
        <p:nvSpPr>
          <p:cNvPr id="5" name="Text 3"/>
          <p:cNvSpPr txBox="1"/>
          <p:nvPr/>
        </p:nvSpPr>
        <p:spPr>
          <a:xfrm>
            <a:off x="822960" y="2304288"/>
            <a:ext cx="2697480" cy="914400"/>
          </a:xfrm>
          <a:prstGeom prst="rect">
            <a:avLst/>
          </a:prstGeom>
          <a:noFill/>
          <a:ln/>
        </p:spPr>
        <p:txBody>
          <a:bodyPr wrap="square" lIns="0" tIns="0" rIns="0" bIns="0" rtlCol="0" anchor="ctr"/>
          <a:lstStyle/>
          <a:p>
            <a:pPr indent="0" marL="0">
              <a:lnSpc>
                <a:spcPct val="120000"/>
              </a:lnSpc>
              <a:buNone/>
            </a:pPr>
            <a:r>
              <a:rPr lang="en-US" sz="1130" dirty="0">
                <a:solidFill>
                  <a:srgbClr val="2B2B2B"/>
                </a:solidFill>
                <a:latin typeface="Calibri" pitchFamily="34" charset="0"/>
                <a:ea typeface="Calibri" pitchFamily="34" charset="-122"/>
                <a:cs typeface="Calibri" pitchFamily="34" charset="-120"/>
              </a:rPr>
              <a:t>Browser — React (JSX) via Vite</a:t>
            </a:r>
            <a:endParaRPr lang="en-US" sz="1130" dirty="0"/>
          </a:p>
          <a:p>
            <a:pPr indent="0" marL="0">
              <a:lnSpc>
                <a:spcPct val="120000"/>
              </a:lnSpc>
              <a:buNone/>
            </a:pPr>
            <a:r>
              <a:rPr lang="en-US" sz="1130" dirty="0">
                <a:solidFill>
                  <a:srgbClr val="2B2B2B"/>
                </a:solidFill>
                <a:latin typeface="Calibri" pitchFamily="34" charset="0"/>
                <a:ea typeface="Calibri" pitchFamily="34" charset="-122"/>
                <a:cs typeface="Calibri" pitchFamily="34" charset="-120"/>
              </a:rPr>
              <a:t>+ Leaflet map (OpenStreetMap tiles)</a:t>
            </a:r>
            <a:endParaRPr lang="en-US" sz="1130" dirty="0"/>
          </a:p>
        </p:txBody>
      </p:sp>
      <p:sp>
        <p:nvSpPr>
          <p:cNvPr id="6" name="Shape 4"/>
          <p:cNvSpPr/>
          <p:nvPr/>
        </p:nvSpPr>
        <p:spPr>
          <a:xfrm>
            <a:off x="4617720" y="1737360"/>
            <a:ext cx="3063240" cy="1554480"/>
          </a:xfrm>
          <a:prstGeom prst="roundRect">
            <a:avLst>
              <a:gd name="adj" fmla="val 5294"/>
            </a:avLst>
          </a:prstGeom>
          <a:solidFill>
            <a:srgbClr val="1E2761"/>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7" name="Text 5"/>
          <p:cNvSpPr txBox="1"/>
          <p:nvPr/>
        </p:nvSpPr>
        <p:spPr>
          <a:xfrm>
            <a:off x="4800600" y="1901952"/>
            <a:ext cx="269748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Application</a:t>
            </a:r>
            <a:endParaRPr lang="en-US" sz="1500" dirty="0"/>
          </a:p>
        </p:txBody>
      </p:sp>
      <p:sp>
        <p:nvSpPr>
          <p:cNvPr id="8" name="Text 6"/>
          <p:cNvSpPr txBox="1"/>
          <p:nvPr/>
        </p:nvSpPr>
        <p:spPr>
          <a:xfrm>
            <a:off x="4800600" y="2304288"/>
            <a:ext cx="2697480" cy="914400"/>
          </a:xfrm>
          <a:prstGeom prst="rect">
            <a:avLst/>
          </a:prstGeom>
          <a:noFill/>
          <a:ln/>
        </p:spPr>
        <p:txBody>
          <a:bodyPr wrap="square" lIns="0" tIns="0" rIns="0" bIns="0" rtlCol="0" anchor="ctr"/>
          <a:lstStyle/>
          <a:p>
            <a:pPr indent="0" marL="0">
              <a:lnSpc>
                <a:spcPct val="120000"/>
              </a:lnSpc>
              <a:buNone/>
            </a:pPr>
            <a:r>
              <a:rPr lang="en-US" sz="1130" dirty="0">
                <a:solidFill>
                  <a:srgbClr val="D8DCF7"/>
                </a:solidFill>
                <a:latin typeface="Calibri" pitchFamily="34" charset="0"/>
                <a:ea typeface="Calibri" pitchFamily="34" charset="-122"/>
                <a:cs typeface="Calibri" pitchFamily="34" charset="-120"/>
              </a:rPr>
              <a:t>Node.js + Express REST API</a:t>
            </a:r>
            <a:endParaRPr lang="en-US" sz="1130" dirty="0"/>
          </a:p>
          <a:p>
            <a:pPr indent="0" marL="0">
              <a:lnSpc>
                <a:spcPct val="120000"/>
              </a:lnSpc>
              <a:buNone/>
            </a:pPr>
            <a:r>
              <a:rPr lang="en-US" sz="1130" dirty="0">
                <a:solidFill>
                  <a:srgbClr val="D8DCF7"/>
                </a:solidFill>
                <a:latin typeface="Calibri" pitchFamily="34" charset="0"/>
                <a:ea typeface="Calibri" pitchFamily="34" charset="-122"/>
                <a:cs typeface="Calibri" pitchFamily="34" charset="-120"/>
              </a:rPr>
              <a:t>sites · alerts · orgs · risk-areas</a:t>
            </a:r>
            <a:endParaRPr lang="en-US" sz="1130" dirty="0"/>
          </a:p>
        </p:txBody>
      </p:sp>
      <p:sp>
        <p:nvSpPr>
          <p:cNvPr id="9" name="Shape 7"/>
          <p:cNvSpPr/>
          <p:nvPr/>
        </p:nvSpPr>
        <p:spPr>
          <a:xfrm>
            <a:off x="8595360" y="1737360"/>
            <a:ext cx="3063240" cy="1554480"/>
          </a:xfrm>
          <a:prstGeom prst="roundRect">
            <a:avLst>
              <a:gd name="adj" fmla="val 5294"/>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10" name="Text 8"/>
          <p:cNvSpPr txBox="1"/>
          <p:nvPr/>
        </p:nvSpPr>
        <p:spPr>
          <a:xfrm>
            <a:off x="8778240" y="1901952"/>
            <a:ext cx="269748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Data</a:t>
            </a:r>
            <a:endParaRPr lang="en-US" sz="1500" dirty="0"/>
          </a:p>
        </p:txBody>
      </p:sp>
      <p:sp>
        <p:nvSpPr>
          <p:cNvPr id="11" name="Text 9"/>
          <p:cNvSpPr txBox="1"/>
          <p:nvPr/>
        </p:nvSpPr>
        <p:spPr>
          <a:xfrm>
            <a:off x="8778240" y="2304288"/>
            <a:ext cx="2697480" cy="914400"/>
          </a:xfrm>
          <a:prstGeom prst="rect">
            <a:avLst/>
          </a:prstGeom>
          <a:noFill/>
          <a:ln/>
        </p:spPr>
        <p:txBody>
          <a:bodyPr wrap="square" lIns="0" tIns="0" rIns="0" bIns="0" rtlCol="0" anchor="ctr"/>
          <a:lstStyle/>
          <a:p>
            <a:pPr indent="0" marL="0">
              <a:lnSpc>
                <a:spcPct val="120000"/>
              </a:lnSpc>
              <a:buNone/>
            </a:pPr>
            <a:r>
              <a:rPr lang="en-US" sz="1130" dirty="0">
                <a:solidFill>
                  <a:srgbClr val="2B2B2B"/>
                </a:solidFill>
                <a:latin typeface="Calibri" pitchFamily="34" charset="0"/>
                <a:ea typeface="Calibri" pitchFamily="34" charset="-122"/>
                <a:cs typeface="Calibri" pitchFamily="34" charset="-120"/>
              </a:rPr>
              <a:t>PostgreSQL 17 + PostGIS</a:t>
            </a:r>
            <a:endParaRPr lang="en-US" sz="1130" dirty="0"/>
          </a:p>
          <a:p>
            <a:pPr indent="0" marL="0">
              <a:lnSpc>
                <a:spcPct val="120000"/>
              </a:lnSpc>
              <a:buNone/>
            </a:pPr>
            <a:r>
              <a:rPr lang="en-US" sz="1130" dirty="0">
                <a:solidFill>
                  <a:srgbClr val="2B2B2B"/>
                </a:solidFill>
                <a:latin typeface="Calibri" pitchFamily="34" charset="0"/>
                <a:ea typeface="Calibri" pitchFamily="34" charset="-122"/>
                <a:cs typeface="Calibri" pitchFamily="34" charset="-120"/>
              </a:rPr>
              <a:t>spatial / proximity queries</a:t>
            </a:r>
            <a:endParaRPr lang="en-US" sz="1130" dirty="0"/>
          </a:p>
        </p:txBody>
      </p:sp>
      <p:sp>
        <p:nvSpPr>
          <p:cNvPr id="12" name="Shape 10"/>
          <p:cNvSpPr/>
          <p:nvPr/>
        </p:nvSpPr>
        <p:spPr>
          <a:xfrm>
            <a:off x="3749040" y="2514600"/>
            <a:ext cx="822960" cy="0"/>
          </a:xfrm>
          <a:prstGeom prst="line">
            <a:avLst/>
          </a:prstGeom>
          <a:noFill/>
          <a:ln w="28575">
            <a:solidFill>
              <a:srgbClr val="E8543A"/>
            </a:solidFill>
            <a:prstDash val="solid"/>
            <a:tailEnd type="triangle"/>
          </a:ln>
        </p:spPr>
      </p:sp>
      <p:sp>
        <p:nvSpPr>
          <p:cNvPr id="13" name="Shape 11"/>
          <p:cNvSpPr/>
          <p:nvPr/>
        </p:nvSpPr>
        <p:spPr>
          <a:xfrm>
            <a:off x="7726680" y="2514600"/>
            <a:ext cx="822960" cy="0"/>
          </a:xfrm>
          <a:prstGeom prst="line">
            <a:avLst/>
          </a:prstGeom>
          <a:noFill/>
          <a:ln w="28575">
            <a:solidFill>
              <a:srgbClr val="E8543A"/>
            </a:solidFill>
            <a:prstDash val="solid"/>
            <a:tailEnd type="triangle"/>
          </a:ln>
        </p:spPr>
      </p:sp>
      <p:sp>
        <p:nvSpPr>
          <p:cNvPr id="14" name="Text 12"/>
          <p:cNvSpPr txBox="1"/>
          <p:nvPr/>
        </p:nvSpPr>
        <p:spPr>
          <a:xfrm>
            <a:off x="3200400" y="1115568"/>
            <a:ext cx="1280160" cy="566928"/>
          </a:xfrm>
          <a:prstGeom prst="rect">
            <a:avLst/>
          </a:prstGeom>
          <a:noFill/>
          <a:ln/>
        </p:spPr>
        <p:txBody>
          <a:bodyPr wrap="square" lIns="0" tIns="0" rIns="0" bIns="0" rtlCol="0" anchor="ctr"/>
          <a:lstStyle/>
          <a:p>
            <a:pPr algn="ctr" indent="0" marL="0">
              <a:lnSpc>
                <a:spcPct val="110000"/>
              </a:lnSpc>
              <a:buNone/>
            </a:pPr>
            <a:r>
              <a:rPr lang="en-US" sz="950" i="1" dirty="0">
                <a:solidFill>
                  <a:srgbClr val="6B7280"/>
                </a:solidFill>
                <a:latin typeface="Calibri" pitchFamily="34" charset="0"/>
                <a:ea typeface="Calibri" pitchFamily="34" charset="-122"/>
                <a:cs typeface="Calibri" pitchFamily="34" charset="-120"/>
              </a:rPr>
              <a:t>cors-enabled</a:t>
            </a:r>
            <a:endParaRPr lang="en-US" sz="950" dirty="0"/>
          </a:p>
          <a:p>
            <a:pPr algn="ctr" indent="0" marL="0">
              <a:lnSpc>
                <a:spcPct val="110000"/>
              </a:lnSpc>
              <a:buNone/>
            </a:pPr>
            <a:r>
              <a:rPr lang="en-US" sz="950" i="1" dirty="0">
                <a:solidFill>
                  <a:srgbClr val="6B7280"/>
                </a:solidFill>
                <a:latin typeface="Calibri" pitchFamily="34" charset="0"/>
                <a:ea typeface="Calibri" pitchFamily="34" charset="-122"/>
                <a:cs typeface="Calibri" pitchFamily="34" charset="-120"/>
              </a:rPr>
              <a:t>REST calls</a:t>
            </a:r>
            <a:endParaRPr lang="en-US" sz="950" dirty="0"/>
          </a:p>
        </p:txBody>
      </p:sp>
      <p:sp>
        <p:nvSpPr>
          <p:cNvPr id="15" name="Text 13"/>
          <p:cNvSpPr txBox="1"/>
          <p:nvPr/>
        </p:nvSpPr>
        <p:spPr>
          <a:xfrm>
            <a:off x="7178040" y="1115568"/>
            <a:ext cx="1280160" cy="566928"/>
          </a:xfrm>
          <a:prstGeom prst="rect">
            <a:avLst/>
          </a:prstGeom>
          <a:noFill/>
          <a:ln/>
        </p:spPr>
        <p:txBody>
          <a:bodyPr wrap="square" lIns="0" tIns="0" rIns="0" bIns="0" rtlCol="0" anchor="ctr"/>
          <a:lstStyle/>
          <a:p>
            <a:pPr algn="ctr" indent="0" marL="0">
              <a:lnSpc>
                <a:spcPct val="110000"/>
              </a:lnSpc>
              <a:buNone/>
            </a:pPr>
            <a:r>
              <a:rPr lang="en-US" sz="950" i="1" dirty="0">
                <a:solidFill>
                  <a:srgbClr val="6B7280"/>
                </a:solidFill>
                <a:latin typeface="Calibri" pitchFamily="34" charset="0"/>
                <a:ea typeface="Calibri" pitchFamily="34" charset="-122"/>
                <a:cs typeface="Calibri" pitchFamily="34" charset="-120"/>
              </a:rPr>
              <a:t>pg</a:t>
            </a:r>
            <a:endParaRPr lang="en-US" sz="950" dirty="0"/>
          </a:p>
          <a:p>
            <a:pPr algn="ctr" indent="0" marL="0">
              <a:lnSpc>
                <a:spcPct val="110000"/>
              </a:lnSpc>
              <a:buNone/>
            </a:pPr>
            <a:r>
              <a:rPr lang="en-US" sz="950" i="1" dirty="0">
                <a:solidFill>
                  <a:srgbClr val="6B7280"/>
                </a:solidFill>
                <a:latin typeface="Calibri" pitchFamily="34" charset="0"/>
                <a:ea typeface="Calibri" pitchFamily="34" charset="-122"/>
                <a:cs typeface="Calibri" pitchFamily="34" charset="-120"/>
              </a:rPr>
              <a:t>(node-postgres)</a:t>
            </a:r>
            <a:endParaRPr lang="en-US" sz="950" dirty="0"/>
          </a:p>
        </p:txBody>
      </p:sp>
      <p:sp>
        <p:nvSpPr>
          <p:cNvPr id="16" name="Shape 14"/>
          <p:cNvSpPr/>
          <p:nvPr/>
        </p:nvSpPr>
        <p:spPr>
          <a:xfrm>
            <a:off x="640080" y="3703320"/>
            <a:ext cx="11018520" cy="932688"/>
          </a:xfrm>
          <a:prstGeom prst="roundRect">
            <a:avLst>
              <a:gd name="adj" fmla="val 8824"/>
            </a:avLst>
          </a:prstGeom>
          <a:solidFill>
            <a:srgbClr val="FBF0DC"/>
          </a:solidFill>
          <a:ln w="12700">
            <a:solidFill>
              <a:srgbClr val="EFD9AE"/>
            </a:solidFill>
            <a:prstDash val="solid"/>
          </a:ln>
          <a:effectLst>
            <a:outerShdw sx="100000" sy="100000" kx="0" ky="0" algn="bl" rotWithShape="0" blurRad="101600" dist="38100" dir="5400000">
              <a:srgbClr val="1E2761">
                <a:alpha val="18000"/>
              </a:srgbClr>
            </a:outerShdw>
          </a:effectLst>
        </p:spPr>
      </p:sp>
      <p:sp>
        <p:nvSpPr>
          <p:cNvPr id="17" name="Text 15"/>
          <p:cNvSpPr txBox="1"/>
          <p:nvPr/>
        </p:nvSpPr>
        <p:spPr>
          <a:xfrm>
            <a:off x="868680" y="3813048"/>
            <a:ext cx="2743200" cy="320040"/>
          </a:xfrm>
          <a:prstGeom prst="rect">
            <a:avLst/>
          </a:prstGeom>
          <a:noFill/>
          <a:ln/>
        </p:spPr>
        <p:txBody>
          <a:bodyPr wrap="square" lIns="0" tIns="0" rIns="0" bIns="0" rtlCol="0" anchor="ctr"/>
          <a:lstStyle/>
          <a:p>
            <a:pPr indent="0" marL="0">
              <a:buNone/>
            </a:pPr>
            <a:r>
              <a:rPr lang="en-US" sz="1250" b="1" dirty="0">
                <a:solidFill>
                  <a:srgbClr val="C98A2E"/>
                </a:solidFill>
                <a:latin typeface="Calibri" pitchFamily="34" charset="0"/>
                <a:ea typeface="Calibri" pitchFamily="34" charset="-122"/>
                <a:cs typeface="Calibri" pitchFamily="34" charset="-120"/>
              </a:rPr>
              <a:t>Scoring Engine</a:t>
            </a:r>
            <a:endParaRPr lang="en-US" sz="1250" dirty="0"/>
          </a:p>
        </p:txBody>
      </p:sp>
      <p:sp>
        <p:nvSpPr>
          <p:cNvPr id="18" name="Text 16"/>
          <p:cNvSpPr txBox="1"/>
          <p:nvPr/>
        </p:nvSpPr>
        <p:spPr>
          <a:xfrm>
            <a:off x="868680" y="4105656"/>
            <a:ext cx="10515600" cy="457200"/>
          </a:xfrm>
          <a:prstGeom prst="rect">
            <a:avLst/>
          </a:prstGeom>
          <a:noFill/>
          <a:ln/>
        </p:spPr>
        <p:txBody>
          <a:bodyPr wrap="square" lIns="0" tIns="0" rIns="0" bIns="0" rtlCol="0" anchor="ctr"/>
          <a:lstStyle/>
          <a:p>
            <a:pPr indent="0" marL="0">
              <a:lnSpc>
                <a:spcPct val="115000"/>
              </a:lnSpc>
              <a:buNone/>
            </a:pPr>
            <a:r>
              <a:rPr lang="en-US" sz="1100" dirty="0">
                <a:solidFill>
                  <a:srgbClr val="2B2B2B"/>
                </a:solidFill>
                <a:latin typeface="Calibri" pitchFamily="34" charset="0"/>
                <a:ea typeface="Calibri" pitchFamily="34" charset="-122"/>
                <a:cs typeface="Calibri" pitchFamily="34" charset="-120"/>
              </a:rPr>
              <a:t>riskScore.js computes a 0–100 vulnerability score from heat index + demographic inputs already in the areas table; recomputeAllRiskScores.js is the batch job that will refresh those inputs once weather/Census integration lands.</a:t>
            </a:r>
            <a:endParaRPr lang="en-US" sz="1100" dirty="0"/>
          </a:p>
        </p:txBody>
      </p:sp>
      <p:sp>
        <p:nvSpPr>
          <p:cNvPr id="19" name="Shape 17"/>
          <p:cNvSpPr/>
          <p:nvPr/>
        </p:nvSpPr>
        <p:spPr>
          <a:xfrm>
            <a:off x="640080" y="4800600"/>
            <a:ext cx="11018520" cy="932688"/>
          </a:xfrm>
          <a:prstGeom prst="roundRect">
            <a:avLst>
              <a:gd name="adj" fmla="val 8824"/>
            </a:avLst>
          </a:prstGeom>
          <a:solidFill>
            <a:srgbClr val="FBF0DC"/>
          </a:solidFill>
          <a:ln w="12700">
            <a:solidFill>
              <a:srgbClr val="EFD9AE"/>
            </a:solidFill>
            <a:prstDash val="solid"/>
          </a:ln>
          <a:effectLst>
            <a:outerShdw sx="100000" sy="100000" kx="0" ky="0" algn="bl" rotWithShape="0" blurRad="101600" dist="38100" dir="5400000">
              <a:srgbClr val="1E2761">
                <a:alpha val="18000"/>
              </a:srgbClr>
            </a:outerShdw>
          </a:effectLst>
        </p:spPr>
      </p:sp>
      <p:sp>
        <p:nvSpPr>
          <p:cNvPr id="20" name="Text 18"/>
          <p:cNvSpPr txBox="1"/>
          <p:nvPr/>
        </p:nvSpPr>
        <p:spPr>
          <a:xfrm>
            <a:off x="868680" y="4910328"/>
            <a:ext cx="2743200" cy="320040"/>
          </a:xfrm>
          <a:prstGeom prst="rect">
            <a:avLst/>
          </a:prstGeom>
          <a:noFill/>
          <a:ln/>
        </p:spPr>
        <p:txBody>
          <a:bodyPr wrap="square" lIns="0" tIns="0" rIns="0" bIns="0" rtlCol="0" anchor="ctr"/>
          <a:lstStyle/>
          <a:p>
            <a:pPr indent="0" marL="0">
              <a:buNone/>
            </a:pPr>
            <a:r>
              <a:rPr lang="en-US" sz="1250" b="1" dirty="0">
                <a:solidFill>
                  <a:srgbClr val="C98A2E"/>
                </a:solidFill>
                <a:latin typeface="Calibri" pitchFamily="34" charset="0"/>
                <a:ea typeface="Calibri" pitchFamily="34" charset="-122"/>
                <a:cs typeface="Calibri" pitchFamily="34" charset="-120"/>
              </a:rPr>
              <a:t>Config &amp; Secrets</a:t>
            </a:r>
            <a:endParaRPr lang="en-US" sz="1250" dirty="0"/>
          </a:p>
        </p:txBody>
      </p:sp>
      <p:sp>
        <p:nvSpPr>
          <p:cNvPr id="21" name="Text 19"/>
          <p:cNvSpPr txBox="1"/>
          <p:nvPr/>
        </p:nvSpPr>
        <p:spPr>
          <a:xfrm>
            <a:off x="868680" y="5202936"/>
            <a:ext cx="10515600" cy="457200"/>
          </a:xfrm>
          <a:prstGeom prst="rect">
            <a:avLst/>
          </a:prstGeom>
          <a:noFill/>
          <a:ln/>
        </p:spPr>
        <p:txBody>
          <a:bodyPr wrap="square" lIns="0" tIns="0" rIns="0" bIns="0" rtlCol="0" anchor="ctr"/>
          <a:lstStyle/>
          <a:p>
            <a:pPr indent="0" marL="0">
              <a:lnSpc>
                <a:spcPct val="115000"/>
              </a:lnSpc>
              <a:buNone/>
            </a:pPr>
            <a:r>
              <a:rPr lang="en-US" sz="1100" dirty="0">
                <a:solidFill>
                  <a:srgbClr val="2B2B2B"/>
                </a:solidFill>
                <a:latin typeface="Calibri" pitchFamily="34" charset="0"/>
                <a:ea typeface="Calibri" pitchFamily="34" charset="-122"/>
                <a:cs typeface="Calibri" pitchFamily="34" charset="-120"/>
              </a:rPr>
              <a:t>dotenv loads the database URL (and future API keys) from a local .env file kept out of version control.</a:t>
            </a:r>
            <a:endParaRPr lang="en-US" sz="1100" dirty="0"/>
          </a:p>
        </p:txBody>
      </p:sp>
      <p:sp>
        <p:nvSpPr>
          <p:cNvPr id="22" name="Text 20"/>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CINS 5338/5388 — Software Project Management</a:t>
            </a:r>
            <a:endParaRPr lang="en-US" sz="900" dirty="0"/>
          </a:p>
        </p:txBody>
      </p:sp>
      <p:sp>
        <p:nvSpPr>
          <p:cNvPr id="23" name="Text 21"/>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SPRINT 3 · VANILLA JS → REACT + VITE</a:t>
            </a:r>
            <a:endParaRPr lang="en-US" sz="1250" dirty="0"/>
          </a:p>
        </p:txBody>
      </p:sp>
      <p:sp>
        <p:nvSpPr>
          <p:cNvPr id="3" name="Text 1"/>
          <p:cNvSpPr txBox="1"/>
          <p:nvPr/>
        </p:nvSpPr>
        <p:spPr>
          <a:xfrm>
            <a:off x="548640" y="59436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Frontend Architecture Decision</a:t>
            </a:r>
            <a:endParaRPr lang="en-US" sz="3000" dirty="0"/>
          </a:p>
        </p:txBody>
      </p:sp>
      <p:sp>
        <p:nvSpPr>
          <p:cNvPr id="4" name="Shape 2"/>
          <p:cNvSpPr/>
          <p:nvPr/>
        </p:nvSpPr>
        <p:spPr>
          <a:xfrm>
            <a:off x="594360" y="1389888"/>
            <a:ext cx="10972800" cy="786384"/>
          </a:xfrm>
          <a:prstGeom prst="roundRect">
            <a:avLst>
              <a:gd name="adj" fmla="val 10465"/>
            </a:avLst>
          </a:prstGeom>
          <a:solidFill>
            <a:srgbClr val="1E2761"/>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5" name="Shape 3"/>
          <p:cNvSpPr/>
          <p:nvPr/>
        </p:nvSpPr>
        <p:spPr>
          <a:xfrm>
            <a:off x="841248" y="1572768"/>
            <a:ext cx="457200" cy="457200"/>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6" name="Text 4"/>
          <p:cNvSpPr txBox="1"/>
          <p:nvPr/>
        </p:nvSpPr>
        <p:spPr>
          <a:xfrm>
            <a:off x="841248" y="157276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AD</a:t>
            </a:r>
            <a:endParaRPr lang="en-US" sz="1200" dirty="0"/>
          </a:p>
        </p:txBody>
      </p:sp>
      <p:sp>
        <p:nvSpPr>
          <p:cNvPr id="7" name="Text 5"/>
          <p:cNvSpPr txBox="1"/>
          <p:nvPr/>
        </p:nvSpPr>
        <p:spPr>
          <a:xfrm>
            <a:off x="1481328" y="1517904"/>
            <a:ext cx="768096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Rebuild the front end in React (JSX), bundled with Vite.</a:t>
            </a:r>
            <a:endParaRPr lang="en-US" sz="1400" dirty="0"/>
          </a:p>
        </p:txBody>
      </p:sp>
      <p:sp>
        <p:nvSpPr>
          <p:cNvPr id="8" name="Text 6"/>
          <p:cNvSpPr txBox="1"/>
          <p:nvPr/>
        </p:nvSpPr>
        <p:spPr>
          <a:xfrm>
            <a:off x="1481328" y="1847088"/>
            <a:ext cx="7680960" cy="274320"/>
          </a:xfrm>
          <a:prstGeom prst="rect">
            <a:avLst/>
          </a:prstGeom>
          <a:noFill/>
          <a:ln/>
        </p:spPr>
        <p:txBody>
          <a:bodyPr wrap="square" lIns="0" tIns="0" rIns="0" bIns="0" rtlCol="0" anchor="ctr"/>
          <a:lstStyle/>
          <a:p>
            <a:pPr indent="0" marL="0">
              <a:buNone/>
            </a:pPr>
            <a:r>
              <a:rPr lang="en-US" sz="1060" dirty="0">
                <a:solidFill>
                  <a:srgbClr val="D8DCF7"/>
                </a:solidFill>
                <a:latin typeface="Calibri" pitchFamily="34" charset="0"/>
                <a:ea typeface="Calibri" pitchFamily="34" charset="-122"/>
                <a:cs typeface="Calibri" pitchFamily="34" charset="-120"/>
              </a:rPr>
              <a:t>Proposed by Ryan Tucker and D'Andre League · Backend, database and scoring engines are unaffected.</a:t>
            </a:r>
            <a:endParaRPr lang="en-US" sz="1060" dirty="0"/>
          </a:p>
        </p:txBody>
      </p:sp>
      <p:sp>
        <p:nvSpPr>
          <p:cNvPr id="9" name="Shape 7"/>
          <p:cNvSpPr/>
          <p:nvPr/>
        </p:nvSpPr>
        <p:spPr>
          <a:xfrm>
            <a:off x="9601200" y="1636776"/>
            <a:ext cx="1783080" cy="310896"/>
          </a:xfrm>
          <a:prstGeom prst="roundRect">
            <a:avLst>
              <a:gd name="adj" fmla="val 50000"/>
            </a:avLst>
          </a:prstGeom>
          <a:solidFill>
            <a:srgbClr val="C98A2E"/>
          </a:solidFill>
          <a:ln/>
        </p:spPr>
      </p:sp>
      <p:sp>
        <p:nvSpPr>
          <p:cNvPr id="10" name="Text 8"/>
          <p:cNvSpPr txBox="1"/>
          <p:nvPr/>
        </p:nvSpPr>
        <p:spPr>
          <a:xfrm>
            <a:off x="9601200" y="1636776"/>
            <a:ext cx="1783080" cy="310896"/>
          </a:xfrm>
          <a:prstGeom prst="rect">
            <a:avLst/>
          </a:prstGeom>
          <a:noFill/>
          <a:ln/>
        </p:spPr>
        <p:txBody>
          <a:bodyPr wrap="square" lIns="0" tIns="0" rIns="0" bIns="0" rtlCol="0" anchor="ctr"/>
          <a:lstStyle/>
          <a:p>
            <a:pPr algn="ctr" indent="0" marL="0">
              <a:buNone/>
            </a:pPr>
            <a:r>
              <a:rPr lang="en-US" sz="950" b="1" dirty="0">
                <a:solidFill>
                  <a:srgbClr val="3D2F00"/>
                </a:solidFill>
                <a:latin typeface="Calibri" pitchFamily="34" charset="0"/>
                <a:ea typeface="Calibri" pitchFamily="34" charset="-122"/>
                <a:cs typeface="Calibri" pitchFamily="34" charset="-120"/>
              </a:rPr>
              <a:t>NOT YET BUILT</a:t>
            </a:r>
            <a:endParaRPr lang="en-US" sz="950" dirty="0"/>
          </a:p>
        </p:txBody>
      </p:sp>
      <p:sp>
        <p:nvSpPr>
          <p:cNvPr id="11" name="Shape 9"/>
          <p:cNvSpPr/>
          <p:nvPr/>
        </p:nvSpPr>
        <p:spPr>
          <a:xfrm>
            <a:off x="594360" y="2395728"/>
            <a:ext cx="5349240" cy="2121408"/>
          </a:xfrm>
          <a:prstGeom prst="roundRect">
            <a:avLst>
              <a:gd name="adj" fmla="val 3879"/>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12" name="Text 10"/>
          <p:cNvSpPr txBox="1"/>
          <p:nvPr/>
        </p:nvSpPr>
        <p:spPr>
          <a:xfrm>
            <a:off x="868680" y="2542032"/>
            <a:ext cx="4754880" cy="292608"/>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Why change</a:t>
            </a:r>
            <a:endParaRPr lang="en-US" sz="1400" dirty="0"/>
          </a:p>
        </p:txBody>
      </p:sp>
      <p:sp>
        <p:nvSpPr>
          <p:cNvPr id="13" name="Text 11"/>
          <p:cNvSpPr/>
          <p:nvPr/>
        </p:nvSpPr>
        <p:spPr>
          <a:xfrm>
            <a:off x="868680" y="2889504"/>
            <a:ext cx="4846320" cy="1481328"/>
          </a:xfrm>
          <a:prstGeom prst="rect">
            <a:avLst/>
          </a:prstGeom>
          <a:noFill/>
          <a:ln/>
        </p:spPr>
        <p:txBody>
          <a:bodyPr wrap="square" lIns="0" tIns="0" rIns="0" bIns="0" rtlCol="0" anchor="t"/>
          <a:lstStyle/>
          <a:p>
            <a:pPr marL="152400" indent="-152400">
              <a:lnSpc>
                <a:spcPct val="108000"/>
              </a:lnSpc>
              <a:buSzPct val="100000"/>
              <a:buChar char="•"/>
            </a:pPr>
            <a:r>
              <a:rPr lang="en-US" sz="1040" dirty="0">
                <a:solidFill>
                  <a:srgbClr val="2B2B2B"/>
                </a:solidFill>
                <a:latin typeface="Calibri" pitchFamily="34" charset="0"/>
                <a:ea typeface="Calibri" pitchFamily="34" charset="-122"/>
                <a:cs typeface="Calibri" pitchFamily="34" charset="-120"/>
              </a:rPr>
              <a:t>Component reuse — the site card, status badge and map panel are hand-written three times today across the resident, admin and registration pages.</a:t>
            </a:r>
            <a:endParaRPr lang="en-US" sz="1040" dirty="0"/>
          </a:p>
          <a:p>
            <a:pPr marL="152400" indent="-152400">
              <a:lnSpc>
                <a:spcPct val="108000"/>
              </a:lnSpc>
              <a:buSzPct val="100000"/>
              <a:buChar char="•"/>
            </a:pPr>
            <a:r>
              <a:rPr lang="en-US" sz="1040" dirty="0">
                <a:solidFill>
                  <a:srgbClr val="2B2B2B"/>
                </a:solidFill>
                <a:latin typeface="Calibri" pitchFamily="34" charset="0"/>
                <a:ea typeface="Calibri" pitchFamily="34" charset="-122"/>
                <a:cs typeface="Calibri" pitchFamily="34" charset="-120"/>
              </a:rPr>
              <a:t>Declarative state — filters, map markers and the registration flow are manual DOM updates today.</a:t>
            </a:r>
            <a:endParaRPr lang="en-US" sz="1040" dirty="0"/>
          </a:p>
          <a:p>
            <a:pPr marL="152400" indent="-152400">
              <a:lnSpc>
                <a:spcPct val="108000"/>
              </a:lnSpc>
              <a:buSzPct val="100000"/>
              <a:buChar char="•"/>
            </a:pPr>
            <a:r>
              <a:rPr lang="en-US" sz="1040" dirty="0">
                <a:solidFill>
                  <a:srgbClr val="2B2B2B"/>
                </a:solidFill>
                <a:latin typeface="Calibri" pitchFamily="34" charset="0"/>
                <a:ea typeface="Calibri" pitchFamily="34" charset="-122"/>
                <a:cs typeface="Calibri" pitchFamily="34" charset="-120"/>
              </a:rPr>
              <a:t>A framework the team wants experience in.</a:t>
            </a:r>
            <a:endParaRPr lang="en-US" sz="1040" dirty="0"/>
          </a:p>
        </p:txBody>
      </p:sp>
      <p:sp>
        <p:nvSpPr>
          <p:cNvPr id="14" name="Shape 12"/>
          <p:cNvSpPr/>
          <p:nvPr/>
        </p:nvSpPr>
        <p:spPr>
          <a:xfrm>
            <a:off x="6217920" y="2395728"/>
            <a:ext cx="5349240" cy="2121408"/>
          </a:xfrm>
          <a:prstGeom prst="roundRect">
            <a:avLst>
              <a:gd name="adj" fmla="val 3879"/>
            </a:avLst>
          </a:prstGeom>
          <a:solidFill>
            <a:srgbClr val="FDE8E4"/>
          </a:solidFill>
          <a:ln w="12700">
            <a:solidFill>
              <a:srgbClr val="F4C9C0"/>
            </a:solidFill>
            <a:prstDash val="solid"/>
          </a:ln>
          <a:effectLst>
            <a:outerShdw sx="100000" sy="100000" kx="0" ky="0" algn="bl" rotWithShape="0" blurRad="101600" dist="38100" dir="5400000">
              <a:srgbClr val="1E2761">
                <a:alpha val="18000"/>
              </a:srgbClr>
            </a:outerShdw>
          </a:effectLst>
        </p:spPr>
      </p:sp>
      <p:sp>
        <p:nvSpPr>
          <p:cNvPr id="15" name="Text 13"/>
          <p:cNvSpPr txBox="1"/>
          <p:nvPr/>
        </p:nvSpPr>
        <p:spPr>
          <a:xfrm>
            <a:off x="6492240" y="2542032"/>
            <a:ext cx="4754880" cy="292608"/>
          </a:xfrm>
          <a:prstGeom prst="rect">
            <a:avLst/>
          </a:prstGeom>
          <a:noFill/>
          <a:ln/>
        </p:spPr>
        <p:txBody>
          <a:bodyPr wrap="square" lIns="0" tIns="0" rIns="0" bIns="0" rtlCol="0" anchor="ctr"/>
          <a:lstStyle/>
          <a:p>
            <a:pPr indent="0" marL="0">
              <a:buNone/>
            </a:pPr>
            <a:r>
              <a:rPr lang="en-US" sz="1400" b="1" dirty="0">
                <a:solidFill>
                  <a:srgbClr val="E8543A"/>
                </a:solidFill>
                <a:latin typeface="Calibri" pitchFamily="34" charset="0"/>
                <a:ea typeface="Calibri" pitchFamily="34" charset="-122"/>
                <a:cs typeface="Calibri" pitchFamily="34" charset="-120"/>
              </a:rPr>
              <a:t>What it costs</a:t>
            </a:r>
            <a:endParaRPr lang="en-US" sz="1400" dirty="0"/>
          </a:p>
        </p:txBody>
      </p:sp>
      <p:sp>
        <p:nvSpPr>
          <p:cNvPr id="16" name="Text 14"/>
          <p:cNvSpPr/>
          <p:nvPr/>
        </p:nvSpPr>
        <p:spPr>
          <a:xfrm>
            <a:off x="6492240" y="2889504"/>
            <a:ext cx="4846320" cy="1481328"/>
          </a:xfrm>
          <a:prstGeom prst="rect">
            <a:avLst/>
          </a:prstGeom>
          <a:noFill/>
          <a:ln/>
        </p:spPr>
        <p:txBody>
          <a:bodyPr wrap="square" lIns="0" tIns="0" rIns="0" bIns="0" rtlCol="0" anchor="t"/>
          <a:lstStyle/>
          <a:p>
            <a:pPr marL="152400" indent="-152400">
              <a:lnSpc>
                <a:spcPct val="108000"/>
              </a:lnSpc>
              <a:buSzPct val="100000"/>
              <a:buChar char="•"/>
            </a:pPr>
            <a:r>
              <a:rPr lang="en-US" sz="1040" dirty="0">
                <a:solidFill>
                  <a:srgbClr val="2B2B2B"/>
                </a:solidFill>
                <a:latin typeface="Calibri" pitchFamily="34" charset="0"/>
                <a:ea typeface="Calibri" pitchFamily="34" charset="-122"/>
                <a:cs typeface="Calibri" pitchFamily="34" charset="-120"/>
              </a:rPr>
              <a:t>1,863 lines of working front end to port — 3 pages, 5 scripts, 1 stylesheet.</a:t>
            </a:r>
            <a:endParaRPr lang="en-US" sz="1040" dirty="0"/>
          </a:p>
          <a:p>
            <a:pPr marL="152400" indent="-152400">
              <a:lnSpc>
                <a:spcPct val="108000"/>
              </a:lnSpc>
              <a:buSzPct val="100000"/>
              <a:buChar char="•"/>
            </a:pPr>
            <a:r>
              <a:rPr lang="en-US" sz="1040" dirty="0">
                <a:solidFill>
                  <a:srgbClr val="2B2B2B"/>
                </a:solidFill>
                <a:latin typeface="Calibri" pitchFamily="34" charset="0"/>
                <a:ea typeface="Calibri" pitchFamily="34" charset="-122"/>
                <a:cs typeface="Calibri" pitchFamily="34" charset="-120"/>
              </a:rPr>
              <a:t>Introduces a build step: start.sh and the desktop launcher both need rework.</a:t>
            </a:r>
            <a:endParaRPr lang="en-US" sz="1040" dirty="0"/>
          </a:p>
          <a:p>
            <a:pPr marL="152400" indent="-152400">
              <a:lnSpc>
                <a:spcPct val="108000"/>
              </a:lnSpc>
              <a:buSzPct val="100000"/>
              <a:buChar char="•"/>
            </a:pPr>
            <a:r>
              <a:rPr lang="en-US" sz="1040" dirty="0">
                <a:solidFill>
                  <a:srgbClr val="2B2B2B"/>
                </a:solidFill>
                <a:latin typeface="Calibri" pitchFamily="34" charset="0"/>
                <a:ea typeface="Calibri" pitchFamily="34" charset="-122"/>
                <a:cs typeface="Calibri" pitchFamily="34" charset="-120"/>
              </a:rPr>
              <a:t>Leaflet is the riskiest piece — it manipulates the DOM directly and needs react-leaflet or manual refs.</a:t>
            </a:r>
            <a:endParaRPr lang="en-US" sz="1040" dirty="0"/>
          </a:p>
        </p:txBody>
      </p:sp>
      <p:sp>
        <p:nvSpPr>
          <p:cNvPr id="17" name="Shape 15"/>
          <p:cNvSpPr/>
          <p:nvPr/>
        </p:nvSpPr>
        <p:spPr>
          <a:xfrm>
            <a:off x="594360" y="4700016"/>
            <a:ext cx="10972800" cy="1371600"/>
          </a:xfrm>
          <a:prstGeom prst="roundRect">
            <a:avLst>
              <a:gd name="adj" fmla="val 6000"/>
            </a:avLst>
          </a:prstGeom>
          <a:solidFill>
            <a:srgbClr val="E4F3EB"/>
          </a:solidFill>
          <a:ln w="12700">
            <a:solidFill>
              <a:srgbClr val="BFE3C9"/>
            </a:solidFill>
            <a:prstDash val="solid"/>
          </a:ln>
          <a:effectLst>
            <a:outerShdw sx="100000" sy="100000" kx="0" ky="0" algn="bl" rotWithShape="0" blurRad="101600" dist="38100" dir="5400000">
              <a:srgbClr val="1E2761">
                <a:alpha val="18000"/>
              </a:srgbClr>
            </a:outerShdw>
          </a:effectLst>
        </p:spPr>
      </p:sp>
      <p:sp>
        <p:nvSpPr>
          <p:cNvPr id="18" name="Shape 16"/>
          <p:cNvSpPr/>
          <p:nvPr/>
        </p:nvSpPr>
        <p:spPr>
          <a:xfrm>
            <a:off x="868680" y="4901184"/>
            <a:ext cx="457200" cy="457200"/>
          </a:xfrm>
          <a:prstGeom prst="ellipse">
            <a:avLst/>
          </a:prstGeom>
          <a:solidFill>
            <a:srgbClr val="2E8B57"/>
          </a:solidFill>
          <a:ln/>
          <a:effectLst>
            <a:outerShdw sx="100000" sy="100000" kx="0" ky="0" algn="bl" rotWithShape="0" blurRad="101600" dist="38100" dir="5400000">
              <a:srgbClr val="1E2761">
                <a:alpha val="18000"/>
              </a:srgbClr>
            </a:outerShdw>
          </a:effectLst>
        </p:spPr>
      </p:sp>
      <p:sp>
        <p:nvSpPr>
          <p:cNvPr id="19" name="Text 17"/>
          <p:cNvSpPr txBox="1"/>
          <p:nvPr/>
        </p:nvSpPr>
        <p:spPr>
          <a:xfrm>
            <a:off x="868680" y="490118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OK</a:t>
            </a:r>
            <a:endParaRPr lang="en-US" sz="1200" dirty="0"/>
          </a:p>
        </p:txBody>
      </p:sp>
      <p:sp>
        <p:nvSpPr>
          <p:cNvPr id="20" name="Text 18"/>
          <p:cNvSpPr txBox="1"/>
          <p:nvPr/>
        </p:nvSpPr>
        <p:spPr>
          <a:xfrm>
            <a:off x="1508760" y="4864608"/>
            <a:ext cx="9601200" cy="292608"/>
          </a:xfrm>
          <a:prstGeom prst="rect">
            <a:avLst/>
          </a:prstGeom>
          <a:noFill/>
          <a:ln/>
        </p:spPr>
        <p:txBody>
          <a:bodyPr wrap="square" lIns="0" tIns="0" rIns="0" bIns="0" rtlCol="0" anchor="ctr"/>
          <a:lstStyle/>
          <a:p>
            <a:pPr indent="0" marL="0">
              <a:buNone/>
            </a:pPr>
            <a:r>
              <a:rPr lang="en-US" sz="1350" b="1" dirty="0">
                <a:solidFill>
                  <a:srgbClr val="2E8B57"/>
                </a:solidFill>
                <a:latin typeface="Calibri" pitchFamily="34" charset="0"/>
                <a:ea typeface="Calibri" pitchFamily="34" charset="-122"/>
                <a:cs typeface="Calibri" pitchFamily="34" charset="-120"/>
              </a:rPr>
              <a:t>What this does not change</a:t>
            </a:r>
            <a:endParaRPr lang="en-US" sz="1350" dirty="0"/>
          </a:p>
        </p:txBody>
      </p:sp>
      <p:sp>
        <p:nvSpPr>
          <p:cNvPr id="21" name="Text 19"/>
          <p:cNvSpPr txBox="1"/>
          <p:nvPr/>
        </p:nvSpPr>
        <p:spPr>
          <a:xfrm>
            <a:off x="1508760" y="5212080"/>
            <a:ext cx="9784080" cy="749808"/>
          </a:xfrm>
          <a:prstGeom prst="rect">
            <a:avLst/>
          </a:prstGeom>
          <a:noFill/>
          <a:ln/>
        </p:spPr>
        <p:txBody>
          <a:bodyPr wrap="square" lIns="0" tIns="0" rIns="0" bIns="0" rtlCol="0" anchor="ctr"/>
          <a:lstStyle/>
          <a:p>
            <a:pPr indent="0" marL="0">
              <a:lnSpc>
                <a:spcPct val="120000"/>
              </a:lnSpc>
              <a:buNone/>
            </a:pPr>
            <a:r>
              <a:rPr lang="en-US" sz="1120" dirty="0">
                <a:solidFill>
                  <a:srgbClr val="2B2B2B"/>
                </a:solidFill>
                <a:latin typeface="Calibri" pitchFamily="34" charset="0"/>
                <a:ea typeface="Calibri" pitchFamily="34" charset="-122"/>
                <a:cs typeface="Calibri" pitchFamily="34" charset="-120"/>
              </a:rPr>
              <a:t>The Express REST API, the PostgreSQL + PostGIS schema, and both scoring engines (riskScore.js for areas, needScore.js for residents) are untouched — this is a client-side change only. Every /api route keeps its current contract, so the old and new front ends can call the same backend and the migration can proceed one page at a time.</a:t>
            </a:r>
            <a:endParaRPr lang="en-US" sz="1120" dirty="0"/>
          </a:p>
        </p:txBody>
      </p:sp>
      <p:sp>
        <p:nvSpPr>
          <p:cNvPr id="22" name="Text 20"/>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CINS 5338/5388 — Software Project Management</a:t>
            </a:r>
            <a:endParaRPr lang="en-US" sz="900" dirty="0"/>
          </a:p>
        </p:txBody>
      </p:sp>
      <p:sp>
        <p:nvSpPr>
          <p:cNvPr id="23" name="Text 21"/>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45720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Development Environments / Tools</a:t>
            </a:r>
            <a:endParaRPr lang="en-US" sz="3000" dirty="0"/>
          </a:p>
        </p:txBody>
      </p:sp>
      <p:sp>
        <p:nvSpPr>
          <p:cNvPr id="3" name="Shape 1"/>
          <p:cNvSpPr/>
          <p:nvPr/>
        </p:nvSpPr>
        <p:spPr>
          <a:xfrm>
            <a:off x="594360" y="1554480"/>
            <a:ext cx="457200" cy="45720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4" name="Text 2"/>
          <p:cNvSpPr txBox="1"/>
          <p:nvPr/>
        </p:nvSpPr>
        <p:spPr>
          <a:xfrm>
            <a:off x="594360" y="15544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OS</a:t>
            </a:r>
            <a:endParaRPr lang="en-US" sz="1200" dirty="0"/>
          </a:p>
        </p:txBody>
      </p:sp>
      <p:sp>
        <p:nvSpPr>
          <p:cNvPr id="5" name="Text 3"/>
          <p:cNvSpPr txBox="1"/>
          <p:nvPr/>
        </p:nvSpPr>
        <p:spPr>
          <a:xfrm>
            <a:off x="1252728" y="1481328"/>
            <a:ext cx="10314432"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Local Machine</a:t>
            </a:r>
            <a:endParaRPr lang="en-US" sz="1450" dirty="0"/>
          </a:p>
        </p:txBody>
      </p:sp>
      <p:sp>
        <p:nvSpPr>
          <p:cNvPr id="6" name="Text 4"/>
          <p:cNvSpPr txBox="1"/>
          <p:nvPr/>
        </p:nvSpPr>
        <p:spPr>
          <a:xfrm>
            <a:off x="1252728" y="1755648"/>
            <a:ext cx="10314432" cy="548640"/>
          </a:xfrm>
          <a:prstGeom prst="rect">
            <a:avLst/>
          </a:prstGeom>
          <a:noFill/>
          <a:ln/>
        </p:spPr>
        <p:txBody>
          <a:bodyPr wrap="square" lIns="0" tIns="0" rIns="0" bIns="0" rtlCol="0" anchor="ctr"/>
          <a:lstStyle/>
          <a:p>
            <a:pPr indent="0" marL="0">
              <a:lnSpc>
                <a:spcPct val="112000"/>
              </a:lnSpc>
              <a:buNone/>
            </a:pPr>
            <a:r>
              <a:rPr lang="en-US" sz="1130" dirty="0">
                <a:solidFill>
                  <a:srgbClr val="2B2B2B"/>
                </a:solidFill>
                <a:latin typeface="Calibri" pitchFamily="34" charset="0"/>
                <a:ea typeface="Calibri" pitchFamily="34" charset="-122"/>
                <a:cs typeface="Calibri" pitchFamily="34" charset="-120"/>
              </a:rPr>
              <a:t>macOS Terminal + Homebrew (brew install node, postgresql@17, postgis).</a:t>
            </a:r>
            <a:endParaRPr lang="en-US" sz="1130" dirty="0"/>
          </a:p>
        </p:txBody>
      </p:sp>
      <p:sp>
        <p:nvSpPr>
          <p:cNvPr id="7" name="Shape 5"/>
          <p:cNvSpPr/>
          <p:nvPr/>
        </p:nvSpPr>
        <p:spPr>
          <a:xfrm>
            <a:off x="594360" y="2450592"/>
            <a:ext cx="457200" cy="457200"/>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8" name="Text 6"/>
          <p:cNvSpPr txBox="1"/>
          <p:nvPr/>
        </p:nvSpPr>
        <p:spPr>
          <a:xfrm>
            <a:off x="594360" y="245059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JS</a:t>
            </a:r>
            <a:endParaRPr lang="en-US" sz="1200" dirty="0"/>
          </a:p>
        </p:txBody>
      </p:sp>
      <p:sp>
        <p:nvSpPr>
          <p:cNvPr id="9" name="Text 7"/>
          <p:cNvSpPr txBox="1"/>
          <p:nvPr/>
        </p:nvSpPr>
        <p:spPr>
          <a:xfrm>
            <a:off x="1252728" y="2377440"/>
            <a:ext cx="10314432"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Runtime</a:t>
            </a:r>
            <a:endParaRPr lang="en-US" sz="1450" dirty="0"/>
          </a:p>
        </p:txBody>
      </p:sp>
      <p:sp>
        <p:nvSpPr>
          <p:cNvPr id="10" name="Text 8"/>
          <p:cNvSpPr txBox="1"/>
          <p:nvPr/>
        </p:nvSpPr>
        <p:spPr>
          <a:xfrm>
            <a:off x="1252728" y="2651760"/>
            <a:ext cx="10314432" cy="548640"/>
          </a:xfrm>
          <a:prstGeom prst="rect">
            <a:avLst/>
          </a:prstGeom>
          <a:noFill/>
          <a:ln/>
        </p:spPr>
        <p:txBody>
          <a:bodyPr wrap="square" lIns="0" tIns="0" rIns="0" bIns="0" rtlCol="0" anchor="ctr"/>
          <a:lstStyle/>
          <a:p>
            <a:pPr indent="0" marL="0">
              <a:lnSpc>
                <a:spcPct val="112000"/>
              </a:lnSpc>
              <a:buNone/>
            </a:pPr>
            <a:r>
              <a:rPr lang="en-US" sz="1130" dirty="0">
                <a:solidFill>
                  <a:srgbClr val="2B2B2B"/>
                </a:solidFill>
                <a:latin typeface="Calibri" pitchFamily="34" charset="0"/>
                <a:ea typeface="Calibri" pitchFamily="34" charset="-122"/>
                <a:cs typeface="Calibri" pitchFamily="34" charset="-120"/>
              </a:rPr>
              <a:t>Node.js (LTS) + npm, bundled with it, for installing packages and running the server.</a:t>
            </a:r>
            <a:endParaRPr lang="en-US" sz="1130" dirty="0"/>
          </a:p>
        </p:txBody>
      </p:sp>
      <p:sp>
        <p:nvSpPr>
          <p:cNvPr id="11" name="Shape 9"/>
          <p:cNvSpPr/>
          <p:nvPr/>
        </p:nvSpPr>
        <p:spPr>
          <a:xfrm>
            <a:off x="594360" y="3346704"/>
            <a:ext cx="457200" cy="45720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12" name="Text 10"/>
          <p:cNvSpPr txBox="1"/>
          <p:nvPr/>
        </p:nvSpPr>
        <p:spPr>
          <a:xfrm>
            <a:off x="594360" y="334670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ED</a:t>
            </a:r>
            <a:endParaRPr lang="en-US" sz="1200" dirty="0"/>
          </a:p>
        </p:txBody>
      </p:sp>
      <p:sp>
        <p:nvSpPr>
          <p:cNvPr id="13" name="Text 11"/>
          <p:cNvSpPr txBox="1"/>
          <p:nvPr/>
        </p:nvSpPr>
        <p:spPr>
          <a:xfrm>
            <a:off x="1252728" y="3273552"/>
            <a:ext cx="10314432"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Editor</a:t>
            </a:r>
            <a:endParaRPr lang="en-US" sz="1450" dirty="0"/>
          </a:p>
        </p:txBody>
      </p:sp>
      <p:sp>
        <p:nvSpPr>
          <p:cNvPr id="14" name="Text 12"/>
          <p:cNvSpPr txBox="1"/>
          <p:nvPr/>
        </p:nvSpPr>
        <p:spPr>
          <a:xfrm>
            <a:off x="1252728" y="3547872"/>
            <a:ext cx="10314432" cy="548640"/>
          </a:xfrm>
          <a:prstGeom prst="rect">
            <a:avLst/>
          </a:prstGeom>
          <a:noFill/>
          <a:ln/>
        </p:spPr>
        <p:txBody>
          <a:bodyPr wrap="square" lIns="0" tIns="0" rIns="0" bIns="0" rtlCol="0" anchor="ctr"/>
          <a:lstStyle/>
          <a:p>
            <a:pPr indent="0" marL="0">
              <a:lnSpc>
                <a:spcPct val="112000"/>
              </a:lnSpc>
              <a:buNone/>
            </a:pPr>
            <a:r>
              <a:rPr lang="en-US" sz="1130" dirty="0">
                <a:solidFill>
                  <a:srgbClr val="2B2B2B"/>
                </a:solidFill>
                <a:latin typeface="Calibri" pitchFamily="34" charset="0"/>
                <a:ea typeface="Calibri" pitchFamily="34" charset="-122"/>
                <a:cs typeface="Calibri" pitchFamily="34" charset="-120"/>
              </a:rPr>
              <a:t>VS Code (or equivalent) for backend, frontend, and SQL editing.</a:t>
            </a:r>
            <a:endParaRPr lang="en-US" sz="1130" dirty="0"/>
          </a:p>
        </p:txBody>
      </p:sp>
      <p:sp>
        <p:nvSpPr>
          <p:cNvPr id="15" name="Shape 13"/>
          <p:cNvSpPr/>
          <p:nvPr/>
        </p:nvSpPr>
        <p:spPr>
          <a:xfrm>
            <a:off x="594360" y="4242816"/>
            <a:ext cx="457200" cy="457200"/>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16" name="Text 14"/>
          <p:cNvSpPr txBox="1"/>
          <p:nvPr/>
        </p:nvSpPr>
        <p:spPr>
          <a:xfrm>
            <a:off x="594360" y="42428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WS</a:t>
            </a:r>
            <a:endParaRPr lang="en-US" sz="1200" dirty="0"/>
          </a:p>
        </p:txBody>
      </p:sp>
      <p:sp>
        <p:nvSpPr>
          <p:cNvPr id="17" name="Text 15"/>
          <p:cNvSpPr txBox="1"/>
          <p:nvPr/>
        </p:nvSpPr>
        <p:spPr>
          <a:xfrm>
            <a:off x="1252728" y="4169664"/>
            <a:ext cx="10314432"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Frontend Build</a:t>
            </a:r>
            <a:endParaRPr lang="en-US" sz="1450" dirty="0"/>
          </a:p>
        </p:txBody>
      </p:sp>
      <p:sp>
        <p:nvSpPr>
          <p:cNvPr id="18" name="Text 16"/>
          <p:cNvSpPr txBox="1"/>
          <p:nvPr/>
        </p:nvSpPr>
        <p:spPr>
          <a:xfrm>
            <a:off x="1252728" y="4443984"/>
            <a:ext cx="10314432" cy="548640"/>
          </a:xfrm>
          <a:prstGeom prst="rect">
            <a:avLst/>
          </a:prstGeom>
          <a:noFill/>
          <a:ln/>
        </p:spPr>
        <p:txBody>
          <a:bodyPr wrap="square" lIns="0" tIns="0" rIns="0" bIns="0" rtlCol="0" anchor="ctr"/>
          <a:lstStyle/>
          <a:p>
            <a:pPr indent="0" marL="0">
              <a:lnSpc>
                <a:spcPct val="112000"/>
              </a:lnSpc>
              <a:buNone/>
            </a:pPr>
            <a:r>
              <a:rPr lang="en-US" sz="1130" dirty="0">
                <a:solidFill>
                  <a:srgbClr val="2B2B2B"/>
                </a:solidFill>
                <a:latin typeface="Calibri" pitchFamily="34" charset="0"/>
                <a:ea typeface="Calibri" pitchFamily="34" charset="-122"/>
                <a:cs typeface="Calibri" pitchFamily="34" charset="-120"/>
              </a:rPr>
              <a:t>Vite dev server (npm run dev) with hot reload; npm run build emits the static bundle Express serves. Now a real dependency, not just a preview convenience.</a:t>
            </a:r>
            <a:endParaRPr lang="en-US" sz="1130" dirty="0"/>
          </a:p>
        </p:txBody>
      </p:sp>
      <p:sp>
        <p:nvSpPr>
          <p:cNvPr id="19" name="Shape 17"/>
          <p:cNvSpPr/>
          <p:nvPr/>
        </p:nvSpPr>
        <p:spPr>
          <a:xfrm>
            <a:off x="594360" y="5138928"/>
            <a:ext cx="457200" cy="45720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20" name="Text 18"/>
          <p:cNvSpPr txBox="1"/>
          <p:nvPr/>
        </p:nvSpPr>
        <p:spPr>
          <a:xfrm>
            <a:off x="594360" y="513892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AP</a:t>
            </a:r>
            <a:endParaRPr lang="en-US" sz="1200" dirty="0"/>
          </a:p>
        </p:txBody>
      </p:sp>
      <p:sp>
        <p:nvSpPr>
          <p:cNvPr id="21" name="Text 19"/>
          <p:cNvSpPr txBox="1"/>
          <p:nvPr/>
        </p:nvSpPr>
        <p:spPr>
          <a:xfrm>
            <a:off x="1252728" y="5065776"/>
            <a:ext cx="10314432"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API Testing</a:t>
            </a:r>
            <a:endParaRPr lang="en-US" sz="1450" dirty="0"/>
          </a:p>
        </p:txBody>
      </p:sp>
      <p:sp>
        <p:nvSpPr>
          <p:cNvPr id="22" name="Text 20"/>
          <p:cNvSpPr txBox="1"/>
          <p:nvPr/>
        </p:nvSpPr>
        <p:spPr>
          <a:xfrm>
            <a:off x="1252728" y="5340096"/>
            <a:ext cx="10314432" cy="548640"/>
          </a:xfrm>
          <a:prstGeom prst="rect">
            <a:avLst/>
          </a:prstGeom>
          <a:noFill/>
          <a:ln/>
        </p:spPr>
        <p:txBody>
          <a:bodyPr wrap="square" lIns="0" tIns="0" rIns="0" bIns="0" rtlCol="0" anchor="ctr"/>
          <a:lstStyle/>
          <a:p>
            <a:pPr indent="0" marL="0">
              <a:lnSpc>
                <a:spcPct val="112000"/>
              </a:lnSpc>
              <a:buNone/>
            </a:pPr>
            <a:r>
              <a:rPr lang="en-US" sz="1130" dirty="0">
                <a:solidFill>
                  <a:srgbClr val="2B2B2B"/>
                </a:solidFill>
                <a:latin typeface="Calibri" pitchFamily="34" charset="0"/>
                <a:ea typeface="Calibri" pitchFamily="34" charset="-122"/>
                <a:cs typeface="Calibri" pitchFamily="34" charset="-120"/>
              </a:rPr>
              <a:t>curl / Postman for exercising REST endpoints during development.</a:t>
            </a:r>
            <a:endParaRPr lang="en-US" sz="1130" dirty="0"/>
          </a:p>
        </p:txBody>
      </p:sp>
      <p:sp>
        <p:nvSpPr>
          <p:cNvPr id="23" name="Text 21"/>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CINS 5338/5388 — Software Project Management</a:t>
            </a:r>
            <a:endParaRPr lang="en-US" sz="900" dirty="0"/>
          </a:p>
        </p:txBody>
      </p:sp>
      <p:sp>
        <p:nvSpPr>
          <p:cNvPr id="24" name="Text 22"/>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CONTINUED — ADDITIONAL TOOLS &amp; HARDWARE</a:t>
            </a:r>
            <a:endParaRPr lang="en-US" sz="1250" dirty="0"/>
          </a:p>
        </p:txBody>
      </p:sp>
      <p:sp>
        <p:nvSpPr>
          <p:cNvPr id="3" name="Text 1"/>
          <p:cNvSpPr txBox="1"/>
          <p:nvPr/>
        </p:nvSpPr>
        <p:spPr>
          <a:xfrm>
            <a:off x="548640" y="59436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Development Environments / Tools</a:t>
            </a:r>
            <a:endParaRPr lang="en-US" sz="3000" dirty="0"/>
          </a:p>
        </p:txBody>
      </p:sp>
      <p:sp>
        <p:nvSpPr>
          <p:cNvPr id="4" name="Shape 2"/>
          <p:cNvSpPr/>
          <p:nvPr/>
        </p:nvSpPr>
        <p:spPr>
          <a:xfrm>
            <a:off x="594360" y="1618488"/>
            <a:ext cx="457200" cy="45720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5" name="Text 3"/>
          <p:cNvSpPr txBox="1"/>
          <p:nvPr/>
        </p:nvSpPr>
        <p:spPr>
          <a:xfrm>
            <a:off x="594360" y="161848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GH</a:t>
            </a:r>
            <a:endParaRPr lang="en-US" sz="1200" dirty="0"/>
          </a:p>
        </p:txBody>
      </p:sp>
      <p:sp>
        <p:nvSpPr>
          <p:cNvPr id="6" name="Text 4"/>
          <p:cNvSpPr txBox="1"/>
          <p:nvPr/>
        </p:nvSpPr>
        <p:spPr>
          <a:xfrm>
            <a:off x="1252728" y="1545336"/>
            <a:ext cx="10314432"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Git &amp; GitHub</a:t>
            </a:r>
            <a:endParaRPr lang="en-US" sz="1450" dirty="0"/>
          </a:p>
        </p:txBody>
      </p:sp>
      <p:sp>
        <p:nvSpPr>
          <p:cNvPr id="7" name="Text 5"/>
          <p:cNvSpPr txBox="1"/>
          <p:nvPr/>
        </p:nvSpPr>
        <p:spPr>
          <a:xfrm>
            <a:off x="1252728" y="1819656"/>
            <a:ext cx="10314432" cy="548640"/>
          </a:xfrm>
          <a:prstGeom prst="rect">
            <a:avLst/>
          </a:prstGeom>
          <a:noFill/>
          <a:ln/>
        </p:spPr>
        <p:txBody>
          <a:bodyPr wrap="square" lIns="0" tIns="0" rIns="0" bIns="0" rtlCol="0" anchor="ctr"/>
          <a:lstStyle/>
          <a:p>
            <a:pPr indent="0" marL="0">
              <a:lnSpc>
                <a:spcPct val="112000"/>
              </a:lnSpc>
              <a:buNone/>
            </a:pPr>
            <a:r>
              <a:rPr lang="en-US" sz="1130" dirty="0">
                <a:solidFill>
                  <a:srgbClr val="2B2B2B"/>
                </a:solidFill>
                <a:latin typeface="Calibri" pitchFamily="34" charset="0"/>
                <a:ea typeface="Calibri" pitchFamily="34" charset="-122"/>
                <a:cs typeface="Calibri" pitchFamily="34" charset="-120"/>
              </a:rPr>
              <a:t>Version control and collaboration — github.com/jwhawkins68/heat-relief-network, main / develop / feature-branch / PR workflow.</a:t>
            </a:r>
            <a:endParaRPr lang="en-US" sz="1130" dirty="0"/>
          </a:p>
        </p:txBody>
      </p:sp>
      <p:sp>
        <p:nvSpPr>
          <p:cNvPr id="8" name="Shape 6"/>
          <p:cNvSpPr/>
          <p:nvPr/>
        </p:nvSpPr>
        <p:spPr>
          <a:xfrm>
            <a:off x="594360" y="2514600"/>
            <a:ext cx="457200" cy="457200"/>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9" name="Text 7"/>
          <p:cNvSpPr txBox="1"/>
          <p:nvPr/>
        </p:nvSpPr>
        <p:spPr>
          <a:xfrm>
            <a:off x="594360" y="25146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JR</a:t>
            </a:r>
            <a:endParaRPr lang="en-US" sz="1200" dirty="0"/>
          </a:p>
        </p:txBody>
      </p:sp>
      <p:sp>
        <p:nvSpPr>
          <p:cNvPr id="10" name="Text 8"/>
          <p:cNvSpPr txBox="1"/>
          <p:nvPr/>
        </p:nvSpPr>
        <p:spPr>
          <a:xfrm>
            <a:off x="1252728" y="2441448"/>
            <a:ext cx="10314432"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Jira (Atlassian Cloud)</a:t>
            </a:r>
            <a:endParaRPr lang="en-US" sz="1450" dirty="0"/>
          </a:p>
        </p:txBody>
      </p:sp>
      <p:sp>
        <p:nvSpPr>
          <p:cNvPr id="11" name="Text 9"/>
          <p:cNvSpPr txBox="1"/>
          <p:nvPr/>
        </p:nvSpPr>
        <p:spPr>
          <a:xfrm>
            <a:off x="1252728" y="2715768"/>
            <a:ext cx="10314432" cy="548640"/>
          </a:xfrm>
          <a:prstGeom prst="rect">
            <a:avLst/>
          </a:prstGeom>
          <a:noFill/>
          <a:ln/>
        </p:spPr>
        <p:txBody>
          <a:bodyPr wrap="square" lIns="0" tIns="0" rIns="0" bIns="0" rtlCol="0" anchor="ctr"/>
          <a:lstStyle/>
          <a:p>
            <a:pPr indent="0" marL="0">
              <a:lnSpc>
                <a:spcPct val="112000"/>
              </a:lnSpc>
              <a:buNone/>
            </a:pPr>
            <a:r>
              <a:rPr lang="en-US" sz="1130" dirty="0">
                <a:solidFill>
                  <a:srgbClr val="2B2B2B"/>
                </a:solidFill>
                <a:latin typeface="Calibri" pitchFamily="34" charset="0"/>
                <a:ea typeface="Calibri" pitchFamily="34" charset="-122"/>
                <a:cs typeface="Calibri" pitchFamily="34" charset="-120"/>
              </a:rPr>
              <a:t>Scrum board, sprint planning, backlog and story-point tracking — project "HeatSafe" (key SCRUM).</a:t>
            </a:r>
            <a:endParaRPr lang="en-US" sz="1130" dirty="0"/>
          </a:p>
        </p:txBody>
      </p:sp>
      <p:sp>
        <p:nvSpPr>
          <p:cNvPr id="12" name="Shape 10"/>
          <p:cNvSpPr/>
          <p:nvPr/>
        </p:nvSpPr>
        <p:spPr>
          <a:xfrm>
            <a:off x="594360" y="3703320"/>
            <a:ext cx="10972800" cy="1828800"/>
          </a:xfrm>
          <a:prstGeom prst="roundRect">
            <a:avLst>
              <a:gd name="adj" fmla="val 4500"/>
            </a:avLst>
          </a:prstGeom>
          <a:solidFill>
            <a:srgbClr val="FDE8E4"/>
          </a:solidFill>
          <a:ln w="12700">
            <a:solidFill>
              <a:srgbClr val="F4C9C0"/>
            </a:solidFill>
            <a:prstDash val="solid"/>
          </a:ln>
          <a:effectLst>
            <a:outerShdw sx="100000" sy="100000" kx="0" ky="0" algn="bl" rotWithShape="0" blurRad="101600" dist="38100" dir="5400000">
              <a:srgbClr val="1E2761">
                <a:alpha val="18000"/>
              </a:srgbClr>
            </a:outerShdw>
          </a:effectLst>
        </p:spPr>
      </p:sp>
      <p:sp>
        <p:nvSpPr>
          <p:cNvPr id="13" name="Shape 11"/>
          <p:cNvSpPr/>
          <p:nvPr/>
        </p:nvSpPr>
        <p:spPr>
          <a:xfrm>
            <a:off x="868680" y="3977640"/>
            <a:ext cx="502920" cy="502920"/>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14" name="Text 12"/>
          <p:cNvSpPr txBox="1"/>
          <p:nvPr/>
        </p:nvSpPr>
        <p:spPr>
          <a:xfrm>
            <a:off x="868680" y="3977640"/>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HW</a:t>
            </a:r>
            <a:endParaRPr lang="en-US" sz="1200" dirty="0"/>
          </a:p>
        </p:txBody>
      </p:sp>
      <p:sp>
        <p:nvSpPr>
          <p:cNvPr id="15" name="Text 13"/>
          <p:cNvSpPr txBox="1"/>
          <p:nvPr/>
        </p:nvSpPr>
        <p:spPr>
          <a:xfrm>
            <a:off x="1554480" y="3950208"/>
            <a:ext cx="9144000" cy="365760"/>
          </a:xfrm>
          <a:prstGeom prst="rect">
            <a:avLst/>
          </a:prstGeom>
          <a:noFill/>
          <a:ln/>
        </p:spPr>
        <p:txBody>
          <a:bodyPr wrap="square" lIns="0" tIns="0" rIns="0" bIns="0" rtlCol="0" anchor="ctr"/>
          <a:lstStyle/>
          <a:p>
            <a:pPr indent="0" marL="0">
              <a:buNone/>
            </a:pPr>
            <a:r>
              <a:rPr lang="en-US" sz="1550" b="1" dirty="0">
                <a:solidFill>
                  <a:srgbClr val="1E2761"/>
                </a:solidFill>
                <a:latin typeface="Calibri" pitchFamily="34" charset="0"/>
                <a:ea typeface="Calibri" pitchFamily="34" charset="-122"/>
                <a:cs typeface="Calibri" pitchFamily="34" charset="-120"/>
              </a:rPr>
              <a:t>Hardware Requirements</a:t>
            </a:r>
            <a:endParaRPr lang="en-US" sz="1550" dirty="0"/>
          </a:p>
        </p:txBody>
      </p:sp>
      <p:sp>
        <p:nvSpPr>
          <p:cNvPr id="16" name="Text 14"/>
          <p:cNvSpPr txBox="1"/>
          <p:nvPr/>
        </p:nvSpPr>
        <p:spPr>
          <a:xfrm>
            <a:off x="1554480" y="4370832"/>
            <a:ext cx="9692640" cy="1005840"/>
          </a:xfrm>
          <a:prstGeom prst="rect">
            <a:avLst/>
          </a:prstGeom>
          <a:noFill/>
          <a:ln/>
        </p:spPr>
        <p:txBody>
          <a:bodyPr wrap="square" lIns="0" tIns="0" rIns="0" bIns="0" rtlCol="0" anchor="ctr"/>
          <a:lstStyle/>
          <a:p>
            <a:pPr indent="0" marL="0">
              <a:lnSpc>
                <a:spcPct val="125000"/>
              </a:lnSpc>
              <a:buNone/>
            </a:pPr>
            <a:r>
              <a:rPr lang="en-US" sz="1200" dirty="0">
                <a:solidFill>
                  <a:srgbClr val="2B2B2B"/>
                </a:solidFill>
                <a:latin typeface="Calibri" pitchFamily="34" charset="0"/>
                <a:ea typeface="Calibri" pitchFamily="34" charset="-122"/>
                <a:cs typeface="Calibri" pitchFamily="34" charset="-120"/>
              </a:rPr>
              <a:t>No specialized hardware is required. Any laptop — Mac, Windows, or Linux — capable of running Node.js and a local PostgreSQL instance is sufficient for development. The priority-matching feature currently runs on a lightweight, rule-based scoring function rather than a trained model, so no GPU or elevated compute is needed at this stage.</a:t>
            </a:r>
            <a:endParaRPr lang="en-US" sz="1200" dirty="0"/>
          </a:p>
        </p:txBody>
      </p:sp>
      <p:sp>
        <p:nvSpPr>
          <p:cNvPr id="17" name="Text 15"/>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CINS 5338/5388 — Software Project Management</a:t>
            </a:r>
            <a:endParaRPr lang="en-US" sz="900" dirty="0"/>
          </a:p>
        </p:txBody>
      </p:sp>
      <p:sp>
        <p:nvSpPr>
          <p:cNvPr id="18" name="Text 16"/>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45720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System Architecture</a:t>
            </a:r>
            <a:endParaRPr lang="en-US" sz="3000" dirty="0"/>
          </a:p>
        </p:txBody>
      </p:sp>
      <p:sp>
        <p:nvSpPr>
          <p:cNvPr id="3" name="Shape 1"/>
          <p:cNvSpPr/>
          <p:nvPr/>
        </p:nvSpPr>
        <p:spPr>
          <a:xfrm>
            <a:off x="640080" y="1508760"/>
            <a:ext cx="7315200" cy="1143000"/>
          </a:xfrm>
          <a:prstGeom prst="roundRect">
            <a:avLst>
              <a:gd name="adj" fmla="val 7200"/>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4" name="Text 2"/>
          <p:cNvSpPr txBox="1"/>
          <p:nvPr/>
        </p:nvSpPr>
        <p:spPr>
          <a:xfrm>
            <a:off x="868680" y="1636776"/>
            <a:ext cx="6858000" cy="32004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Client Tier</a:t>
            </a:r>
            <a:endParaRPr lang="en-US" sz="1450" dirty="0"/>
          </a:p>
        </p:txBody>
      </p:sp>
      <p:sp>
        <p:nvSpPr>
          <p:cNvPr id="5" name="Text 3"/>
          <p:cNvSpPr txBox="1"/>
          <p:nvPr/>
        </p:nvSpPr>
        <p:spPr>
          <a:xfrm>
            <a:off x="868680" y="1965960"/>
            <a:ext cx="6858000" cy="640080"/>
          </a:xfrm>
          <a:prstGeom prst="rect">
            <a:avLst/>
          </a:prstGeom>
          <a:noFill/>
          <a:ln/>
        </p:spPr>
        <p:txBody>
          <a:bodyPr wrap="square" lIns="0" tIns="0" rIns="0" bIns="0" rtlCol="0" anchor="ctr"/>
          <a:lstStyle/>
          <a:p>
            <a:pPr indent="0" marL="0">
              <a:lnSpc>
                <a:spcPct val="120000"/>
              </a:lnSpc>
              <a:buNone/>
            </a:pPr>
            <a:r>
              <a:rPr lang="en-US" sz="1130" dirty="0">
                <a:solidFill>
                  <a:srgbClr val="2B2B2B"/>
                </a:solidFill>
                <a:latin typeface="Calibri" pitchFamily="34" charset="0"/>
                <a:ea typeface="Calibri" pitchFamily="34" charset="-122"/>
                <a:cs typeface="Calibri" pitchFamily="34" charset="-120"/>
              </a:rPr>
              <a:t>React SPA (Vite) — resident map/list, org admin portal,</a:t>
            </a:r>
            <a:endParaRPr lang="en-US" sz="1130" dirty="0"/>
          </a:p>
          <a:p>
            <a:pPr indent="0" marL="0">
              <a:lnSpc>
                <a:spcPct val="120000"/>
              </a:lnSpc>
              <a:buNone/>
            </a:pPr>
            <a:r>
              <a:rPr lang="en-US" sz="1130" dirty="0">
                <a:solidFill>
                  <a:srgbClr val="2B2B2B"/>
                </a:solidFill>
                <a:latin typeface="Calibri" pitchFamily="34" charset="0"/>
                <a:ea typeface="Calibri" pitchFamily="34" charset="-122"/>
                <a:cs typeface="Calibri" pitchFamily="34" charset="-120"/>
              </a:rPr>
              <a:t>resident registration</a:t>
            </a:r>
            <a:endParaRPr lang="en-US" sz="1130" dirty="0"/>
          </a:p>
          <a:p>
            <a:pPr indent="0" marL="0">
              <a:lnSpc>
                <a:spcPct val="120000"/>
              </a:lnSpc>
              <a:buNone/>
            </a:pPr>
            <a:r>
              <a:rPr lang="en-US" sz="1130" dirty="0">
                <a:solidFill>
                  <a:srgbClr val="2B2B2B"/>
                </a:solidFill>
                <a:latin typeface="Calibri" pitchFamily="34" charset="0"/>
                <a:ea typeface="Calibri" pitchFamily="34" charset="-122"/>
                <a:cs typeface="Calibri" pitchFamily="34" charset="-120"/>
              </a:rPr>
              <a:t>Leaflet.js + OpenStreetMap</a:t>
            </a:r>
            <a:endParaRPr lang="en-US" sz="1130" dirty="0"/>
          </a:p>
        </p:txBody>
      </p:sp>
      <p:sp>
        <p:nvSpPr>
          <p:cNvPr id="6" name="Shape 4"/>
          <p:cNvSpPr/>
          <p:nvPr/>
        </p:nvSpPr>
        <p:spPr>
          <a:xfrm>
            <a:off x="640080" y="3063240"/>
            <a:ext cx="7315200" cy="1143000"/>
          </a:xfrm>
          <a:prstGeom prst="roundRect">
            <a:avLst>
              <a:gd name="adj" fmla="val 7200"/>
            </a:avLst>
          </a:prstGeom>
          <a:solidFill>
            <a:srgbClr val="1E2761"/>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7" name="Text 5"/>
          <p:cNvSpPr txBox="1"/>
          <p:nvPr/>
        </p:nvSpPr>
        <p:spPr>
          <a:xfrm>
            <a:off x="868680" y="3191256"/>
            <a:ext cx="6858000" cy="32004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Application Tier</a:t>
            </a:r>
            <a:endParaRPr lang="en-US" sz="1450" dirty="0"/>
          </a:p>
        </p:txBody>
      </p:sp>
      <p:sp>
        <p:nvSpPr>
          <p:cNvPr id="8" name="Text 6"/>
          <p:cNvSpPr txBox="1"/>
          <p:nvPr/>
        </p:nvSpPr>
        <p:spPr>
          <a:xfrm>
            <a:off x="868680" y="3520440"/>
            <a:ext cx="6858000" cy="640080"/>
          </a:xfrm>
          <a:prstGeom prst="rect">
            <a:avLst/>
          </a:prstGeom>
          <a:noFill/>
          <a:ln/>
        </p:spPr>
        <p:txBody>
          <a:bodyPr wrap="square" lIns="0" tIns="0" rIns="0" bIns="0" rtlCol="0" anchor="ctr"/>
          <a:lstStyle/>
          <a:p>
            <a:pPr indent="0" marL="0">
              <a:lnSpc>
                <a:spcPct val="120000"/>
              </a:lnSpc>
              <a:buNone/>
            </a:pPr>
            <a:r>
              <a:rPr lang="en-US" sz="1130" dirty="0">
                <a:solidFill>
                  <a:srgbClr val="D8DCF7"/>
                </a:solidFill>
                <a:latin typeface="Calibri" pitchFamily="34" charset="0"/>
                <a:ea typeface="Calibri" pitchFamily="34" charset="-122"/>
                <a:cs typeface="Calibri" pitchFamily="34" charset="-120"/>
              </a:rPr>
              <a:t>Express REST routes: sites, alerts, orgs, risk-areas</a:t>
            </a:r>
            <a:endParaRPr lang="en-US" sz="1130" dirty="0"/>
          </a:p>
          <a:p>
            <a:pPr indent="0" marL="0">
              <a:lnSpc>
                <a:spcPct val="120000"/>
              </a:lnSpc>
              <a:buNone/>
            </a:pPr>
            <a:r>
              <a:rPr lang="en-US" sz="1130" dirty="0">
                <a:solidFill>
                  <a:srgbClr val="D8DCF7"/>
                </a:solidFill>
                <a:latin typeface="Calibri" pitchFamily="34" charset="0"/>
                <a:ea typeface="Calibri" pitchFamily="34" charset="-122"/>
                <a:cs typeface="Calibri" pitchFamily="34" charset="-120"/>
              </a:rPr>
              <a:t>riskScore.js — heat-vulnerability scoring engine</a:t>
            </a:r>
            <a:endParaRPr lang="en-US" sz="1130" dirty="0"/>
          </a:p>
        </p:txBody>
      </p:sp>
      <p:sp>
        <p:nvSpPr>
          <p:cNvPr id="9" name="Shape 7"/>
          <p:cNvSpPr/>
          <p:nvPr/>
        </p:nvSpPr>
        <p:spPr>
          <a:xfrm>
            <a:off x="640080" y="4617720"/>
            <a:ext cx="7315200" cy="1143000"/>
          </a:xfrm>
          <a:prstGeom prst="roundRect">
            <a:avLst>
              <a:gd name="adj" fmla="val 7200"/>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10" name="Text 8"/>
          <p:cNvSpPr txBox="1"/>
          <p:nvPr/>
        </p:nvSpPr>
        <p:spPr>
          <a:xfrm>
            <a:off x="868680" y="4745736"/>
            <a:ext cx="6858000" cy="32004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Data Tier</a:t>
            </a:r>
            <a:endParaRPr lang="en-US" sz="1450" dirty="0"/>
          </a:p>
        </p:txBody>
      </p:sp>
      <p:sp>
        <p:nvSpPr>
          <p:cNvPr id="11" name="Text 9"/>
          <p:cNvSpPr txBox="1"/>
          <p:nvPr/>
        </p:nvSpPr>
        <p:spPr>
          <a:xfrm>
            <a:off x="868680" y="5074920"/>
            <a:ext cx="6858000" cy="640080"/>
          </a:xfrm>
          <a:prstGeom prst="rect">
            <a:avLst/>
          </a:prstGeom>
          <a:noFill/>
          <a:ln/>
        </p:spPr>
        <p:txBody>
          <a:bodyPr wrap="square" lIns="0" tIns="0" rIns="0" bIns="0" rtlCol="0" anchor="ctr"/>
          <a:lstStyle/>
          <a:p>
            <a:pPr indent="0" marL="0">
              <a:lnSpc>
                <a:spcPct val="120000"/>
              </a:lnSpc>
              <a:buNone/>
            </a:pPr>
            <a:r>
              <a:rPr lang="en-US" sz="1130" dirty="0">
                <a:solidFill>
                  <a:srgbClr val="2B2B2B"/>
                </a:solidFill>
                <a:latin typeface="Calibri" pitchFamily="34" charset="0"/>
                <a:ea typeface="Calibri" pitchFamily="34" charset="-122"/>
                <a:cs typeface="Calibri" pitchFamily="34" charset="-120"/>
              </a:rPr>
              <a:t>PostgreSQL 17 + PostGIS</a:t>
            </a:r>
            <a:endParaRPr lang="en-US" sz="1130" dirty="0"/>
          </a:p>
          <a:p>
            <a:pPr indent="0" marL="0">
              <a:lnSpc>
                <a:spcPct val="120000"/>
              </a:lnSpc>
              <a:buNone/>
            </a:pPr>
            <a:r>
              <a:rPr lang="en-US" sz="1130" dirty="0">
                <a:solidFill>
                  <a:srgbClr val="2B2B2B"/>
                </a:solidFill>
                <a:latin typeface="Calibri" pitchFamily="34" charset="0"/>
                <a:ea typeface="Calibri" pitchFamily="34" charset="-122"/>
                <a:cs typeface="Calibri" pitchFamily="34" charset="-120"/>
              </a:rPr>
              <a:t>areas · sites · orgs · alerts tables + spatial index</a:t>
            </a:r>
            <a:endParaRPr lang="en-US" sz="1130" dirty="0"/>
          </a:p>
        </p:txBody>
      </p:sp>
      <p:sp>
        <p:nvSpPr>
          <p:cNvPr id="12" name="Shape 10"/>
          <p:cNvSpPr/>
          <p:nvPr/>
        </p:nvSpPr>
        <p:spPr>
          <a:xfrm>
            <a:off x="4297680" y="2679192"/>
            <a:ext cx="0" cy="356616"/>
          </a:xfrm>
          <a:prstGeom prst="line">
            <a:avLst/>
          </a:prstGeom>
          <a:noFill/>
          <a:ln w="28575">
            <a:solidFill>
              <a:srgbClr val="E8543A"/>
            </a:solidFill>
            <a:prstDash val="solid"/>
            <a:tailEnd type="triangle"/>
          </a:ln>
        </p:spPr>
      </p:sp>
      <p:sp>
        <p:nvSpPr>
          <p:cNvPr id="13" name="Shape 11"/>
          <p:cNvSpPr/>
          <p:nvPr/>
        </p:nvSpPr>
        <p:spPr>
          <a:xfrm>
            <a:off x="4297680" y="4233672"/>
            <a:ext cx="0" cy="356616"/>
          </a:xfrm>
          <a:prstGeom prst="line">
            <a:avLst/>
          </a:prstGeom>
          <a:noFill/>
          <a:ln w="28575">
            <a:solidFill>
              <a:srgbClr val="E8543A"/>
            </a:solidFill>
            <a:prstDash val="solid"/>
            <a:tailEnd type="triangle"/>
          </a:ln>
        </p:spPr>
      </p:sp>
      <p:sp>
        <p:nvSpPr>
          <p:cNvPr id="14" name="Shape 12"/>
          <p:cNvSpPr/>
          <p:nvPr/>
        </p:nvSpPr>
        <p:spPr>
          <a:xfrm>
            <a:off x="8275320" y="2286000"/>
            <a:ext cx="3337560" cy="2743200"/>
          </a:xfrm>
          <a:prstGeom prst="roundRect">
            <a:avLst>
              <a:gd name="adj" fmla="val 3000"/>
            </a:avLst>
          </a:prstGeom>
          <a:solidFill>
            <a:srgbClr val="FBF0DC"/>
          </a:solidFill>
          <a:ln w="12700">
            <a:solidFill>
              <a:srgbClr val="EFD9AE"/>
            </a:solidFill>
            <a:prstDash val="solid"/>
          </a:ln>
          <a:effectLst>
            <a:outerShdw sx="100000" sy="100000" kx="0" ky="0" algn="bl" rotWithShape="0" blurRad="101600" dist="38100" dir="5400000">
              <a:srgbClr val="1E2761">
                <a:alpha val="18000"/>
              </a:srgbClr>
            </a:outerShdw>
          </a:effectLst>
        </p:spPr>
      </p:sp>
      <p:sp>
        <p:nvSpPr>
          <p:cNvPr id="15" name="Text 13"/>
          <p:cNvSpPr txBox="1"/>
          <p:nvPr/>
        </p:nvSpPr>
        <p:spPr>
          <a:xfrm>
            <a:off x="8503920" y="2450592"/>
            <a:ext cx="2926080" cy="320040"/>
          </a:xfrm>
          <a:prstGeom prst="rect">
            <a:avLst/>
          </a:prstGeom>
          <a:noFill/>
          <a:ln/>
        </p:spPr>
        <p:txBody>
          <a:bodyPr wrap="square" lIns="0" tIns="0" rIns="0" bIns="0" rtlCol="0" anchor="ctr"/>
          <a:lstStyle/>
          <a:p>
            <a:pPr indent="0" marL="0">
              <a:buNone/>
            </a:pPr>
            <a:r>
              <a:rPr lang="en-US" sz="1350" b="1" dirty="0">
                <a:solidFill>
                  <a:srgbClr val="C98A2E"/>
                </a:solidFill>
                <a:latin typeface="Calibri" pitchFamily="34" charset="0"/>
                <a:ea typeface="Calibri" pitchFamily="34" charset="-122"/>
                <a:cs typeface="Calibri" pitchFamily="34" charset="-120"/>
              </a:rPr>
              <a:t>Planned Integrations</a:t>
            </a:r>
            <a:endParaRPr lang="en-US" sz="1350" dirty="0"/>
          </a:p>
        </p:txBody>
      </p:sp>
      <p:sp>
        <p:nvSpPr>
          <p:cNvPr id="16" name="Text 14"/>
          <p:cNvSpPr txBox="1"/>
          <p:nvPr/>
        </p:nvSpPr>
        <p:spPr>
          <a:xfrm>
            <a:off x="8503920" y="2834640"/>
            <a:ext cx="2926080" cy="1463040"/>
          </a:xfrm>
          <a:prstGeom prst="rect">
            <a:avLst/>
          </a:prstGeom>
          <a:noFill/>
          <a:ln/>
        </p:spPr>
        <p:txBody>
          <a:bodyPr wrap="square" lIns="0" tIns="0" rIns="0" bIns="0" rtlCol="0" anchor="ctr"/>
          <a:lstStyle/>
          <a:p>
            <a:pPr indent="0" marL="0">
              <a:lnSpc>
                <a:spcPct val="135000"/>
              </a:lnSpc>
              <a:buNone/>
            </a:pPr>
            <a:r>
              <a:rPr lang="en-US" sz="1160" dirty="0">
                <a:solidFill>
                  <a:srgbClr val="2B2B2B"/>
                </a:solidFill>
                <a:latin typeface="Calibri" pitchFamily="34" charset="0"/>
                <a:ea typeface="Calibri" pitchFamily="34" charset="-122"/>
                <a:cs typeface="Calibri" pitchFamily="34" charset="-120"/>
              </a:rPr>
              <a:t>• National Weather Service API</a:t>
            </a:r>
            <a:endParaRPr lang="en-US" sz="1160" dirty="0"/>
          </a:p>
          <a:p>
            <a:pPr indent="0" marL="0">
              <a:lnSpc>
                <a:spcPct val="135000"/>
              </a:lnSpc>
              <a:buNone/>
            </a:pPr>
            <a:r>
              <a:rPr lang="en-US" sz="1160" dirty="0">
                <a:solidFill>
                  <a:srgbClr val="2B2B2B"/>
                </a:solidFill>
                <a:latin typeface="Calibri" pitchFamily="34" charset="0"/>
                <a:ea typeface="Calibri" pitchFamily="34" charset="-122"/>
                <a:cs typeface="Calibri" pitchFamily="34" charset="-120"/>
              </a:rPr>
              <a:t>• U.S. Census Bureau ACS API</a:t>
            </a:r>
            <a:endParaRPr lang="en-US" sz="1160" dirty="0"/>
          </a:p>
          <a:p>
            <a:pPr indent="0" marL="0">
              <a:lnSpc>
                <a:spcPct val="135000"/>
              </a:lnSpc>
              <a:buNone/>
            </a:pPr>
            <a:r>
              <a:rPr lang="en-US" sz="1160" dirty="0">
                <a:solidFill>
                  <a:srgbClr val="2B2B2B"/>
                </a:solidFill>
                <a:latin typeface="Calibri" pitchFamily="34" charset="0"/>
                <a:ea typeface="Calibri" pitchFamily="34" charset="-122"/>
                <a:cs typeface="Calibri" pitchFamily="34" charset="-120"/>
              </a:rPr>
              <a:t>• Twilio (SMS alerts)</a:t>
            </a:r>
            <a:endParaRPr lang="en-US" sz="1160" dirty="0"/>
          </a:p>
          <a:p>
            <a:pPr indent="0" marL="0">
              <a:lnSpc>
                <a:spcPct val="135000"/>
              </a:lnSpc>
              <a:buNone/>
            </a:pPr>
            <a:r>
              <a:rPr lang="en-US" sz="1160" dirty="0">
                <a:solidFill>
                  <a:srgbClr val="2B2B2B"/>
                </a:solidFill>
                <a:latin typeface="Calibri" pitchFamily="34" charset="0"/>
                <a:ea typeface="Calibri" pitchFamily="34" charset="-122"/>
                <a:cs typeface="Calibri" pitchFamily="34" charset="-120"/>
              </a:rPr>
              <a:t>• Firebase Cloud Messaging (push)</a:t>
            </a:r>
            <a:endParaRPr lang="en-US" sz="1160" dirty="0"/>
          </a:p>
        </p:txBody>
      </p:sp>
      <p:sp>
        <p:nvSpPr>
          <p:cNvPr id="17" name="Shape 15"/>
          <p:cNvSpPr/>
          <p:nvPr/>
        </p:nvSpPr>
        <p:spPr>
          <a:xfrm>
            <a:off x="7973568" y="3520440"/>
            <a:ext cx="301752" cy="-137160"/>
          </a:xfrm>
          <a:prstGeom prst="line">
            <a:avLst/>
          </a:prstGeom>
          <a:noFill/>
          <a:ln w="22225">
            <a:solidFill>
              <a:srgbClr val="C98A2E"/>
            </a:solidFill>
            <a:prstDash val="dash"/>
            <a:tailEnd type="triangle"/>
          </a:ln>
        </p:spPr>
      </p:sp>
      <p:sp>
        <p:nvSpPr>
          <p:cNvPr id="18" name="Text 16"/>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CINS 5338/5388 — Software Project Management</a:t>
            </a:r>
            <a:endParaRPr lang="en-US" sz="900" dirty="0"/>
          </a:p>
        </p:txBody>
      </p:sp>
      <p:sp>
        <p:nvSpPr>
          <p:cNvPr id="19" name="Text 17"/>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45720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Version Control</a:t>
            </a:r>
            <a:endParaRPr lang="en-US" sz="3000" dirty="0"/>
          </a:p>
        </p:txBody>
      </p:sp>
      <p:sp>
        <p:nvSpPr>
          <p:cNvPr id="3" name="Shape 1"/>
          <p:cNvSpPr/>
          <p:nvPr/>
        </p:nvSpPr>
        <p:spPr>
          <a:xfrm>
            <a:off x="594360" y="1527048"/>
            <a:ext cx="457200" cy="45720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4" name="Text 2"/>
          <p:cNvSpPr txBox="1"/>
          <p:nvPr/>
        </p:nvSpPr>
        <p:spPr>
          <a:xfrm>
            <a:off x="594360" y="152704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GH</a:t>
            </a:r>
            <a:endParaRPr lang="en-US" sz="1200" dirty="0"/>
          </a:p>
        </p:txBody>
      </p:sp>
      <p:sp>
        <p:nvSpPr>
          <p:cNvPr id="5" name="Text 3"/>
          <p:cNvSpPr txBox="1"/>
          <p:nvPr/>
        </p:nvSpPr>
        <p:spPr>
          <a:xfrm>
            <a:off x="1252728" y="1453896"/>
            <a:ext cx="5925312"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Repository</a:t>
            </a:r>
            <a:endParaRPr lang="en-US" sz="1450" dirty="0"/>
          </a:p>
        </p:txBody>
      </p:sp>
      <p:sp>
        <p:nvSpPr>
          <p:cNvPr id="6" name="Text 4"/>
          <p:cNvSpPr txBox="1"/>
          <p:nvPr/>
        </p:nvSpPr>
        <p:spPr>
          <a:xfrm>
            <a:off x="1252728" y="1728216"/>
            <a:ext cx="5925312" cy="548640"/>
          </a:xfrm>
          <a:prstGeom prst="rect">
            <a:avLst/>
          </a:prstGeom>
          <a:noFill/>
          <a:ln/>
        </p:spPr>
        <p:txBody>
          <a:bodyPr wrap="square" lIns="0" tIns="0" rIns="0" bIns="0" rtlCol="0" anchor="ctr"/>
          <a:lstStyle/>
          <a:p>
            <a:pPr indent="0" marL="0">
              <a:lnSpc>
                <a:spcPct val="112000"/>
              </a:lnSpc>
              <a:buNone/>
            </a:pPr>
            <a:r>
              <a:rPr lang="en-US" sz="1130" dirty="0">
                <a:solidFill>
                  <a:srgbClr val="2B2B2B"/>
                </a:solidFill>
                <a:latin typeface="Calibri" pitchFamily="34" charset="0"/>
                <a:ea typeface="Calibri" pitchFamily="34" charset="-122"/>
                <a:cs typeface="Calibri" pitchFamily="34" charset="-120"/>
              </a:rPr>
              <a:t>github.com/jwhawkins68/heat-relief-network</a:t>
            </a:r>
            <a:endParaRPr lang="en-US" sz="1130" dirty="0"/>
          </a:p>
        </p:txBody>
      </p:sp>
      <p:sp>
        <p:nvSpPr>
          <p:cNvPr id="7" name="Shape 5"/>
          <p:cNvSpPr/>
          <p:nvPr/>
        </p:nvSpPr>
        <p:spPr>
          <a:xfrm>
            <a:off x="594360" y="2423160"/>
            <a:ext cx="457200" cy="457200"/>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8" name="Text 6"/>
          <p:cNvSpPr txBox="1"/>
          <p:nvPr/>
        </p:nvSpPr>
        <p:spPr>
          <a:xfrm>
            <a:off x="594360" y="242316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BR</a:t>
            </a:r>
            <a:endParaRPr lang="en-US" sz="1200" dirty="0"/>
          </a:p>
        </p:txBody>
      </p:sp>
      <p:sp>
        <p:nvSpPr>
          <p:cNvPr id="9" name="Text 7"/>
          <p:cNvSpPr txBox="1"/>
          <p:nvPr/>
        </p:nvSpPr>
        <p:spPr>
          <a:xfrm>
            <a:off x="1252728" y="2350008"/>
            <a:ext cx="5925312"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Branch Model</a:t>
            </a:r>
            <a:endParaRPr lang="en-US" sz="1450" dirty="0"/>
          </a:p>
        </p:txBody>
      </p:sp>
      <p:sp>
        <p:nvSpPr>
          <p:cNvPr id="10" name="Text 8"/>
          <p:cNvSpPr txBox="1"/>
          <p:nvPr/>
        </p:nvSpPr>
        <p:spPr>
          <a:xfrm>
            <a:off x="1252728" y="2624328"/>
            <a:ext cx="5925312" cy="548640"/>
          </a:xfrm>
          <a:prstGeom prst="rect">
            <a:avLst/>
          </a:prstGeom>
          <a:noFill/>
          <a:ln/>
        </p:spPr>
        <p:txBody>
          <a:bodyPr wrap="square" lIns="0" tIns="0" rIns="0" bIns="0" rtlCol="0" anchor="ctr"/>
          <a:lstStyle/>
          <a:p>
            <a:pPr indent="0" marL="0">
              <a:lnSpc>
                <a:spcPct val="112000"/>
              </a:lnSpc>
              <a:buNone/>
            </a:pPr>
            <a:r>
              <a:rPr lang="en-US" sz="1130" dirty="0">
                <a:solidFill>
                  <a:srgbClr val="2B2B2B"/>
                </a:solidFill>
                <a:latin typeface="Calibri" pitchFamily="34" charset="0"/>
                <a:ea typeface="Calibri" pitchFamily="34" charset="-122"/>
                <a:cs typeface="Calibri" pitchFamily="34" charset="-120"/>
              </a:rPr>
              <a:t>main (stable) ← develop ← feature/* branches, merged via Pull Request</a:t>
            </a:r>
            <a:endParaRPr lang="en-US" sz="1130" dirty="0"/>
          </a:p>
        </p:txBody>
      </p:sp>
      <p:sp>
        <p:nvSpPr>
          <p:cNvPr id="11" name="Shape 9"/>
          <p:cNvSpPr/>
          <p:nvPr/>
        </p:nvSpPr>
        <p:spPr>
          <a:xfrm>
            <a:off x="594360" y="3319272"/>
            <a:ext cx="457200" cy="45720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12" name="Text 10"/>
          <p:cNvSpPr txBox="1"/>
          <p:nvPr/>
        </p:nvSpPr>
        <p:spPr>
          <a:xfrm>
            <a:off x="594360" y="33192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CM</a:t>
            </a:r>
            <a:endParaRPr lang="en-US" sz="1200" dirty="0"/>
          </a:p>
        </p:txBody>
      </p:sp>
      <p:sp>
        <p:nvSpPr>
          <p:cNvPr id="13" name="Text 11"/>
          <p:cNvSpPr txBox="1"/>
          <p:nvPr/>
        </p:nvSpPr>
        <p:spPr>
          <a:xfrm>
            <a:off x="1252728" y="3246120"/>
            <a:ext cx="5925312"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Commit Hygiene</a:t>
            </a:r>
            <a:endParaRPr lang="en-US" sz="1450" dirty="0"/>
          </a:p>
        </p:txBody>
      </p:sp>
      <p:sp>
        <p:nvSpPr>
          <p:cNvPr id="14" name="Text 12"/>
          <p:cNvSpPr txBox="1"/>
          <p:nvPr/>
        </p:nvSpPr>
        <p:spPr>
          <a:xfrm>
            <a:off x="1252728" y="3520440"/>
            <a:ext cx="5925312" cy="548640"/>
          </a:xfrm>
          <a:prstGeom prst="rect">
            <a:avLst/>
          </a:prstGeom>
          <a:noFill/>
          <a:ln/>
        </p:spPr>
        <p:txBody>
          <a:bodyPr wrap="square" lIns="0" tIns="0" rIns="0" bIns="0" rtlCol="0" anchor="ctr"/>
          <a:lstStyle/>
          <a:p>
            <a:pPr indent="0" marL="0">
              <a:lnSpc>
                <a:spcPct val="112000"/>
              </a:lnSpc>
              <a:buNone/>
            </a:pPr>
            <a:r>
              <a:rPr lang="en-US" sz="1130" dirty="0">
                <a:solidFill>
                  <a:srgbClr val="2B2B2B"/>
                </a:solidFill>
                <a:latin typeface="Calibri" pitchFamily="34" charset="0"/>
                <a:ea typeface="Calibri" pitchFamily="34" charset="-122"/>
                <a:cs typeface="Calibri" pitchFamily="34" charset="-120"/>
              </a:rPr>
              <a:t>Focused commits with descriptive messages (e.g. "Add AI priority-area matching feature and Scrum backlog docs")</a:t>
            </a:r>
            <a:endParaRPr lang="en-US" sz="1130" dirty="0"/>
          </a:p>
        </p:txBody>
      </p:sp>
      <p:sp>
        <p:nvSpPr>
          <p:cNvPr id="15" name="Shape 13"/>
          <p:cNvSpPr/>
          <p:nvPr/>
        </p:nvSpPr>
        <p:spPr>
          <a:xfrm>
            <a:off x="594360" y="4215384"/>
            <a:ext cx="457200" cy="457200"/>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16" name="Text 14"/>
          <p:cNvSpPr txBox="1"/>
          <p:nvPr/>
        </p:nvSpPr>
        <p:spPr>
          <a:xfrm>
            <a:off x="594360" y="421538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AU</a:t>
            </a:r>
            <a:endParaRPr lang="en-US" sz="1200" dirty="0"/>
          </a:p>
        </p:txBody>
      </p:sp>
      <p:sp>
        <p:nvSpPr>
          <p:cNvPr id="17" name="Text 15"/>
          <p:cNvSpPr txBox="1"/>
          <p:nvPr/>
        </p:nvSpPr>
        <p:spPr>
          <a:xfrm>
            <a:off x="1252728" y="4142232"/>
            <a:ext cx="5925312"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Authentication</a:t>
            </a:r>
            <a:endParaRPr lang="en-US" sz="1450" dirty="0"/>
          </a:p>
        </p:txBody>
      </p:sp>
      <p:sp>
        <p:nvSpPr>
          <p:cNvPr id="18" name="Text 16"/>
          <p:cNvSpPr txBox="1"/>
          <p:nvPr/>
        </p:nvSpPr>
        <p:spPr>
          <a:xfrm>
            <a:off x="1252728" y="4416552"/>
            <a:ext cx="5925312" cy="548640"/>
          </a:xfrm>
          <a:prstGeom prst="rect">
            <a:avLst/>
          </a:prstGeom>
          <a:noFill/>
          <a:ln/>
        </p:spPr>
        <p:txBody>
          <a:bodyPr wrap="square" lIns="0" tIns="0" rIns="0" bIns="0" rtlCol="0" anchor="ctr"/>
          <a:lstStyle/>
          <a:p>
            <a:pPr indent="0" marL="0">
              <a:lnSpc>
                <a:spcPct val="112000"/>
              </a:lnSpc>
              <a:buNone/>
            </a:pPr>
            <a:r>
              <a:rPr lang="en-US" sz="1130" dirty="0">
                <a:solidFill>
                  <a:srgbClr val="2B2B2B"/>
                </a:solidFill>
                <a:latin typeface="Calibri" pitchFamily="34" charset="0"/>
                <a:ea typeface="Calibri" pitchFamily="34" charset="-122"/>
                <a:cs typeface="Calibri" pitchFamily="34" charset="-120"/>
              </a:rPr>
              <a:t>HTTPS with a GitHub Personal Access Token (classic, repo scope) — GitHub retired password auth in 2021</a:t>
            </a:r>
            <a:endParaRPr lang="en-US" sz="1130" dirty="0"/>
          </a:p>
        </p:txBody>
      </p:sp>
      <p:sp>
        <p:nvSpPr>
          <p:cNvPr id="19" name="Shape 17"/>
          <p:cNvSpPr/>
          <p:nvPr/>
        </p:nvSpPr>
        <p:spPr>
          <a:xfrm>
            <a:off x="594360" y="5111496"/>
            <a:ext cx="457200" cy="45720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20" name="Text 18"/>
          <p:cNvSpPr txBox="1"/>
          <p:nvPr/>
        </p:nvSpPr>
        <p:spPr>
          <a:xfrm>
            <a:off x="594360" y="511149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a:t>
            </a:r>
            <a:endParaRPr lang="en-US" sz="1200" dirty="0"/>
          </a:p>
        </p:txBody>
      </p:sp>
      <p:sp>
        <p:nvSpPr>
          <p:cNvPr id="21" name="Text 19"/>
          <p:cNvSpPr txBox="1"/>
          <p:nvPr/>
        </p:nvSpPr>
        <p:spPr>
          <a:xfrm>
            <a:off x="1252728" y="5038344"/>
            <a:ext cx="5925312" cy="29260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Traceability</a:t>
            </a:r>
            <a:endParaRPr lang="en-US" sz="1450" dirty="0"/>
          </a:p>
        </p:txBody>
      </p:sp>
      <p:sp>
        <p:nvSpPr>
          <p:cNvPr id="22" name="Text 20"/>
          <p:cNvSpPr txBox="1"/>
          <p:nvPr/>
        </p:nvSpPr>
        <p:spPr>
          <a:xfrm>
            <a:off x="1252728" y="5312664"/>
            <a:ext cx="5925312" cy="548640"/>
          </a:xfrm>
          <a:prstGeom prst="rect">
            <a:avLst/>
          </a:prstGeom>
          <a:noFill/>
          <a:ln/>
        </p:spPr>
        <p:txBody>
          <a:bodyPr wrap="square" lIns="0" tIns="0" rIns="0" bIns="0" rtlCol="0" anchor="ctr"/>
          <a:lstStyle/>
          <a:p>
            <a:pPr indent="0" marL="0">
              <a:lnSpc>
                <a:spcPct val="112000"/>
              </a:lnSpc>
              <a:buNone/>
            </a:pPr>
            <a:r>
              <a:rPr lang="en-US" sz="1130" dirty="0">
                <a:solidFill>
                  <a:srgbClr val="2B2B2B"/>
                </a:solidFill>
                <a:latin typeface="Calibri" pitchFamily="34" charset="0"/>
                <a:ea typeface="Calibri" pitchFamily="34" charset="-122"/>
                <a:cs typeface="Calibri" pitchFamily="34" charset="-120"/>
              </a:rPr>
              <a:t>Jira ↔ GitHub linkage keeps issues tied to the commits/PRs that implemented them</a:t>
            </a:r>
            <a:endParaRPr lang="en-US" sz="1130" dirty="0"/>
          </a:p>
        </p:txBody>
      </p:sp>
      <p:sp>
        <p:nvSpPr>
          <p:cNvPr id="23" name="Shape 21"/>
          <p:cNvSpPr/>
          <p:nvPr/>
        </p:nvSpPr>
        <p:spPr>
          <a:xfrm>
            <a:off x="7543800" y="1508760"/>
            <a:ext cx="4023360" cy="4480560"/>
          </a:xfrm>
          <a:prstGeom prst="roundRect">
            <a:avLst>
              <a:gd name="adj" fmla="val 2045"/>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24" name="Text 22"/>
          <p:cNvSpPr txBox="1"/>
          <p:nvPr/>
        </p:nvSpPr>
        <p:spPr>
          <a:xfrm>
            <a:off x="7772400" y="1691640"/>
            <a:ext cx="356616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Branching Flow</a:t>
            </a:r>
            <a:endParaRPr lang="en-US" sz="1350" dirty="0"/>
          </a:p>
        </p:txBody>
      </p:sp>
      <p:sp>
        <p:nvSpPr>
          <p:cNvPr id="25" name="Shape 23"/>
          <p:cNvSpPr/>
          <p:nvPr/>
        </p:nvSpPr>
        <p:spPr>
          <a:xfrm>
            <a:off x="7818120" y="2240280"/>
            <a:ext cx="146304" cy="146304"/>
          </a:xfrm>
          <a:prstGeom prst="ellipse">
            <a:avLst/>
          </a:prstGeom>
          <a:solidFill>
            <a:srgbClr val="1E2761"/>
          </a:solidFill>
          <a:ln/>
        </p:spPr>
      </p:sp>
      <p:sp>
        <p:nvSpPr>
          <p:cNvPr id="26" name="Text 24"/>
          <p:cNvSpPr txBox="1"/>
          <p:nvPr/>
        </p:nvSpPr>
        <p:spPr>
          <a:xfrm>
            <a:off x="8092440" y="2121408"/>
            <a:ext cx="3291840" cy="365760"/>
          </a:xfrm>
          <a:prstGeom prst="rect">
            <a:avLst/>
          </a:prstGeom>
          <a:noFill/>
          <a:ln/>
        </p:spPr>
        <p:txBody>
          <a:bodyPr wrap="square" lIns="0" tIns="0" rIns="0" bIns="0" rtlCol="0" anchor="ctr"/>
          <a:lstStyle/>
          <a:p>
            <a:pPr indent="0" marL="0">
              <a:buNone/>
            </a:pPr>
            <a:r>
              <a:rPr lang="en-US" sz="1150" dirty="0">
                <a:solidFill>
                  <a:srgbClr val="2B2B2B"/>
                </a:solidFill>
                <a:latin typeface="Courier New" pitchFamily="34" charset="0"/>
                <a:ea typeface="Courier New" pitchFamily="34" charset="-122"/>
                <a:cs typeface="Courier New" pitchFamily="34" charset="-120"/>
              </a:rPr>
              <a:t>main</a:t>
            </a:r>
            <a:endParaRPr lang="en-US" sz="1150" dirty="0"/>
          </a:p>
        </p:txBody>
      </p:sp>
      <p:sp>
        <p:nvSpPr>
          <p:cNvPr id="27" name="Shape 25"/>
          <p:cNvSpPr/>
          <p:nvPr/>
        </p:nvSpPr>
        <p:spPr>
          <a:xfrm>
            <a:off x="7818120" y="2807208"/>
            <a:ext cx="146304" cy="146304"/>
          </a:xfrm>
          <a:prstGeom prst="ellipse">
            <a:avLst/>
          </a:prstGeom>
          <a:solidFill>
            <a:srgbClr val="E8543A"/>
          </a:solidFill>
          <a:ln/>
        </p:spPr>
      </p:sp>
      <p:sp>
        <p:nvSpPr>
          <p:cNvPr id="28" name="Text 26"/>
          <p:cNvSpPr txBox="1"/>
          <p:nvPr/>
        </p:nvSpPr>
        <p:spPr>
          <a:xfrm>
            <a:off x="8092440" y="2688336"/>
            <a:ext cx="3291840" cy="365760"/>
          </a:xfrm>
          <a:prstGeom prst="rect">
            <a:avLst/>
          </a:prstGeom>
          <a:noFill/>
          <a:ln/>
        </p:spPr>
        <p:txBody>
          <a:bodyPr wrap="square" lIns="0" tIns="0" rIns="0" bIns="0" rtlCol="0" anchor="ctr"/>
          <a:lstStyle/>
          <a:p>
            <a:pPr indent="0" marL="0">
              <a:buNone/>
            </a:pPr>
            <a:r>
              <a:rPr lang="en-US" sz="1150" dirty="0">
                <a:solidFill>
                  <a:srgbClr val="2B2B2B"/>
                </a:solidFill>
                <a:latin typeface="Courier New" pitchFamily="34" charset="0"/>
                <a:ea typeface="Courier New" pitchFamily="34" charset="-122"/>
                <a:cs typeface="Courier New" pitchFamily="34" charset="-120"/>
              </a:rPr>
              <a:t>develop</a:t>
            </a:r>
            <a:endParaRPr lang="en-US" sz="1150" dirty="0"/>
          </a:p>
        </p:txBody>
      </p:sp>
      <p:sp>
        <p:nvSpPr>
          <p:cNvPr id="29" name="Shape 27"/>
          <p:cNvSpPr/>
          <p:nvPr/>
        </p:nvSpPr>
        <p:spPr>
          <a:xfrm>
            <a:off x="7818120" y="3374136"/>
            <a:ext cx="146304" cy="146304"/>
          </a:xfrm>
          <a:prstGeom prst="ellipse">
            <a:avLst/>
          </a:prstGeom>
          <a:solidFill>
            <a:srgbClr val="C98A2E"/>
          </a:solidFill>
          <a:ln/>
        </p:spPr>
      </p:sp>
      <p:sp>
        <p:nvSpPr>
          <p:cNvPr id="30" name="Text 28"/>
          <p:cNvSpPr txBox="1"/>
          <p:nvPr/>
        </p:nvSpPr>
        <p:spPr>
          <a:xfrm>
            <a:off x="8092440" y="3255264"/>
            <a:ext cx="3291840" cy="365760"/>
          </a:xfrm>
          <a:prstGeom prst="rect">
            <a:avLst/>
          </a:prstGeom>
          <a:noFill/>
          <a:ln/>
        </p:spPr>
        <p:txBody>
          <a:bodyPr wrap="square" lIns="0" tIns="0" rIns="0" bIns="0" rtlCol="0" anchor="ctr"/>
          <a:lstStyle/>
          <a:p>
            <a:pPr indent="0" marL="0">
              <a:buNone/>
            </a:pPr>
            <a:r>
              <a:rPr lang="en-US" sz="1150" dirty="0">
                <a:solidFill>
                  <a:srgbClr val="2B2B2B"/>
                </a:solidFill>
                <a:latin typeface="Courier New" pitchFamily="34" charset="0"/>
                <a:ea typeface="Courier New" pitchFamily="34" charset="-122"/>
                <a:cs typeface="Courier New" pitchFamily="34" charset="-120"/>
              </a:rPr>
              <a:t>feature/ai-priority-matching</a:t>
            </a:r>
            <a:endParaRPr lang="en-US" sz="1150" dirty="0"/>
          </a:p>
        </p:txBody>
      </p:sp>
      <p:sp>
        <p:nvSpPr>
          <p:cNvPr id="31" name="Shape 29"/>
          <p:cNvSpPr/>
          <p:nvPr/>
        </p:nvSpPr>
        <p:spPr>
          <a:xfrm>
            <a:off x="7891272" y="2313432"/>
            <a:ext cx="0" cy="1060704"/>
          </a:xfrm>
          <a:prstGeom prst="line">
            <a:avLst/>
          </a:prstGeom>
          <a:noFill/>
          <a:ln w="19050">
            <a:solidFill>
              <a:srgbClr val="E1E4F0"/>
            </a:solidFill>
            <a:prstDash val="solid"/>
          </a:ln>
        </p:spPr>
      </p:sp>
      <p:sp>
        <p:nvSpPr>
          <p:cNvPr id="32" name="Text 30"/>
          <p:cNvSpPr txBox="1"/>
          <p:nvPr/>
        </p:nvSpPr>
        <p:spPr>
          <a:xfrm>
            <a:off x="7772400" y="4032504"/>
            <a:ext cx="3566160" cy="1463040"/>
          </a:xfrm>
          <a:prstGeom prst="rect">
            <a:avLst/>
          </a:prstGeom>
          <a:noFill/>
          <a:ln/>
        </p:spPr>
        <p:txBody>
          <a:bodyPr wrap="square" lIns="0" tIns="0" rIns="0" bIns="0" rtlCol="0" anchor="ctr"/>
          <a:lstStyle/>
          <a:p>
            <a:pPr indent="0" marL="0">
              <a:lnSpc>
                <a:spcPct val="125000"/>
              </a:lnSpc>
              <a:buNone/>
            </a:pPr>
            <a:r>
              <a:rPr lang="en-US" sz="1120" dirty="0">
                <a:solidFill>
                  <a:srgbClr val="2B2B2B"/>
                </a:solidFill>
                <a:latin typeface="Calibri" pitchFamily="34" charset="0"/>
                <a:ea typeface="Calibri" pitchFamily="34" charset="-122"/>
                <a:cs typeface="Calibri" pitchFamily="34" charset="-120"/>
              </a:rPr>
              <a:t>Feature branches are merged back into develop via Pull Request once a story's acceptance criteria are met; develop merges into main for tested releases.</a:t>
            </a:r>
            <a:endParaRPr lang="en-US" sz="1120" dirty="0"/>
          </a:p>
        </p:txBody>
      </p:sp>
      <p:sp>
        <p:nvSpPr>
          <p:cNvPr id="33" name="Text 31"/>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CINS 5338/5388 — Software Project Management</a:t>
            </a:r>
            <a:endParaRPr lang="en-US" sz="900" dirty="0"/>
          </a:p>
        </p:txBody>
      </p:sp>
      <p:sp>
        <p:nvSpPr>
          <p:cNvPr id="34" name="Text 32"/>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45720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Use Case Diagram</a:t>
            </a:r>
            <a:endParaRPr lang="en-US" sz="3000" dirty="0"/>
          </a:p>
        </p:txBody>
      </p:sp>
      <p:sp>
        <p:nvSpPr>
          <p:cNvPr id="3" name="Shape 1"/>
          <p:cNvSpPr/>
          <p:nvPr/>
        </p:nvSpPr>
        <p:spPr>
          <a:xfrm>
            <a:off x="448056" y="1362456"/>
            <a:ext cx="11265408" cy="5184648"/>
          </a:xfrm>
          <a:prstGeom prst="roundRect">
            <a:avLst>
              <a:gd name="adj" fmla="val 1587"/>
            </a:avLst>
          </a:prstGeom>
          <a:solidFill>
            <a:srgbClr val="FFFFFF"/>
          </a:solidFill>
          <a:ln w="12700">
            <a:solidFill>
              <a:srgbClr val="E1E4F0"/>
            </a:solidFill>
            <a:prstDash val="solid"/>
          </a:ln>
          <a:effectLst>
            <a:outerShdw sx="100000" sy="100000" kx="0" ky="0" algn="bl" rotWithShape="0" blurRad="101600" dist="38100" dir="5400000">
              <a:srgbClr val="1E2761">
                <a:alpha val="18000"/>
              </a:srgbClr>
            </a:outerShdw>
          </a:effectLst>
        </p:spPr>
      </p:sp>
      <p:pic>
        <p:nvPicPr>
          <p:cNvPr id="4" name="Image 0" descr="/tmp/claude-0/-home-claude/adf370eb-f340-5a92-b171-fa65d773f298/scratchpad/deck/assets/usecase.png">    </p:cNvPr>
          <p:cNvPicPr>
            <a:picLocks noChangeAspect="1"/>
          </p:cNvPicPr>
          <p:nvPr/>
        </p:nvPicPr>
        <p:blipFill>
          <a:blip r:embed="rId1"/>
          <a:srcRect l="0" r="0" t="0" b="0"/>
          <a:stretch/>
        </p:blipFill>
        <p:spPr>
          <a:xfrm>
            <a:off x="502920" y="1417320"/>
            <a:ext cx="11155680" cy="5074920"/>
          </a:xfrm>
          <a:prstGeom prst="rect">
            <a:avLst/>
          </a:prstGeom>
        </p:spPr>
      </p:pic>
      <p:sp>
        <p:nvSpPr>
          <p:cNvPr id="5" name="Text 2"/>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CINS 5338/5388 — Software Project Management</a:t>
            </a:r>
            <a:endParaRPr lang="en-US" sz="900" dirty="0"/>
          </a:p>
        </p:txBody>
      </p:sp>
      <p:sp>
        <p:nvSpPr>
          <p:cNvPr id="6" name="Text 3"/>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45720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Initial Product Backlog in Jira</a:t>
            </a:r>
            <a:endParaRPr lang="en-US" sz="3000" dirty="0"/>
          </a:p>
        </p:txBody>
      </p:sp>
      <p:sp>
        <p:nvSpPr>
          <p:cNvPr id="3" name="Shape 1"/>
          <p:cNvSpPr/>
          <p:nvPr/>
        </p:nvSpPr>
        <p:spPr>
          <a:xfrm>
            <a:off x="448056" y="1362456"/>
            <a:ext cx="8065008" cy="5184648"/>
          </a:xfrm>
          <a:prstGeom prst="roundRect">
            <a:avLst>
              <a:gd name="adj" fmla="val 1587"/>
            </a:avLst>
          </a:prstGeom>
          <a:solidFill>
            <a:srgbClr val="FFFFFF"/>
          </a:solidFill>
          <a:ln w="12700">
            <a:solidFill>
              <a:srgbClr val="E1E4F0"/>
            </a:solidFill>
            <a:prstDash val="solid"/>
          </a:ln>
          <a:effectLst>
            <a:outerShdw sx="100000" sy="100000" kx="0" ky="0" algn="bl" rotWithShape="0" blurRad="101600" dist="38100" dir="5400000">
              <a:srgbClr val="1E2761">
                <a:alpha val="18000"/>
              </a:srgbClr>
            </a:outerShdw>
          </a:effectLst>
        </p:spPr>
      </p:sp>
      <p:pic>
        <p:nvPicPr>
          <p:cNvPr id="4" name="Image 0" descr="/root/.claude/uploads/adf370eb-f340-5a92-b171-fa65d773f298/351d95f7-image.png">    </p:cNvPr>
          <p:cNvPicPr>
            <a:picLocks noChangeAspect="1"/>
          </p:cNvPicPr>
          <p:nvPr/>
        </p:nvPicPr>
        <p:blipFill>
          <a:blip r:embed="rId1"/>
          <a:srcRect l="0" r="0" t="0" b="0"/>
          <a:stretch/>
        </p:blipFill>
        <p:spPr>
          <a:xfrm>
            <a:off x="502920" y="1417320"/>
            <a:ext cx="7955280" cy="5074920"/>
          </a:xfrm>
          <a:prstGeom prst="rect">
            <a:avLst/>
          </a:prstGeom>
        </p:spPr>
      </p:pic>
      <p:sp>
        <p:nvSpPr>
          <p:cNvPr id="5" name="Shape 2"/>
          <p:cNvSpPr/>
          <p:nvPr/>
        </p:nvSpPr>
        <p:spPr>
          <a:xfrm>
            <a:off x="8641080" y="1600200"/>
            <a:ext cx="3017520" cy="4709160"/>
          </a:xfrm>
          <a:prstGeom prst="roundRect">
            <a:avLst>
              <a:gd name="adj" fmla="val 2727"/>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6" name="Text 3"/>
          <p:cNvSpPr txBox="1"/>
          <p:nvPr/>
        </p:nvSpPr>
        <p:spPr>
          <a:xfrm>
            <a:off x="8869680" y="1783080"/>
            <a:ext cx="256032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4 Epics</a:t>
            </a:r>
            <a:endParaRPr lang="en-US" sz="1400" dirty="0"/>
          </a:p>
        </p:txBody>
      </p:sp>
      <p:sp>
        <p:nvSpPr>
          <p:cNvPr id="7" name="Text 4"/>
          <p:cNvSpPr txBox="1"/>
          <p:nvPr/>
        </p:nvSpPr>
        <p:spPr>
          <a:xfrm>
            <a:off x="8869680" y="2148840"/>
            <a:ext cx="2606040" cy="2286000"/>
          </a:xfrm>
          <a:prstGeom prst="rect">
            <a:avLst/>
          </a:prstGeom>
          <a:noFill/>
          <a:ln/>
        </p:spPr>
        <p:txBody>
          <a:bodyPr wrap="square" lIns="0" tIns="0" rIns="0" bIns="0" rtlCol="0" anchor="ctr"/>
          <a:lstStyle/>
          <a:p>
            <a:pPr indent="0" marL="0">
              <a:lnSpc>
                <a:spcPct val="128000"/>
              </a:lnSpc>
              <a:buNone/>
            </a:pPr>
            <a:r>
              <a:rPr lang="en-US" sz="1100" dirty="0">
                <a:solidFill>
                  <a:srgbClr val="2B2B2B"/>
                </a:solidFill>
                <a:latin typeface="Calibri" pitchFamily="34" charset="0"/>
                <a:ea typeface="Calibri" pitchFamily="34" charset="-122"/>
                <a:cs typeface="Calibri" pitchFamily="34" charset="-120"/>
              </a:rPr>
              <a:t>• AI Priority Matching (Done)</a:t>
            </a:r>
            <a:endParaRPr lang="en-US" sz="1100" dirty="0"/>
          </a:p>
          <a:p>
            <a:pPr indent="0" marL="0">
              <a:lnSpc>
                <a:spcPct val="128000"/>
              </a:lnSpc>
              <a:buNone/>
            </a:pPr>
            <a:r>
              <a:rPr lang="en-US" sz="1100" dirty="0">
                <a:solidFill>
                  <a:srgbClr val="2B2B2B"/>
                </a:solidFill>
                <a:latin typeface="Calibri" pitchFamily="34" charset="0"/>
                <a:ea typeface="Calibri" pitchFamily="34" charset="-122"/>
                <a:cs typeface="Calibri" pitchFamily="34" charset="-120"/>
              </a:rPr>
              <a:t>• Live Weather Integration</a:t>
            </a:r>
            <a:endParaRPr lang="en-US" sz="1100" dirty="0"/>
          </a:p>
          <a:p>
            <a:pPr indent="0" marL="0">
              <a:lnSpc>
                <a:spcPct val="128000"/>
              </a:lnSpc>
              <a:buNone/>
            </a:pPr>
            <a:r>
              <a:rPr lang="en-US" sz="1100" dirty="0">
                <a:solidFill>
                  <a:srgbClr val="2B2B2B"/>
                </a:solidFill>
                <a:latin typeface="Calibri" pitchFamily="34" charset="0"/>
                <a:ea typeface="Calibri" pitchFamily="34" charset="-122"/>
                <a:cs typeface="Calibri" pitchFamily="34" charset="-120"/>
              </a:rPr>
              <a:t>• Demographic Integration</a:t>
            </a:r>
            <a:endParaRPr lang="en-US" sz="1100" dirty="0"/>
          </a:p>
          <a:p>
            <a:pPr indent="0" marL="0">
              <a:lnSpc>
                <a:spcPct val="128000"/>
              </a:lnSpc>
              <a:buNone/>
            </a:pPr>
            <a:r>
              <a:rPr lang="en-US" sz="1100" dirty="0">
                <a:solidFill>
                  <a:srgbClr val="2B2B2B"/>
                </a:solidFill>
                <a:latin typeface="Calibri" pitchFamily="34" charset="0"/>
                <a:ea typeface="Calibri" pitchFamily="34" charset="-122"/>
                <a:cs typeface="Calibri" pitchFamily="34" charset="-120"/>
              </a:rPr>
              <a:t>• Priority Access &amp; Resident Matching</a:t>
            </a:r>
            <a:endParaRPr lang="en-US" sz="1100" dirty="0"/>
          </a:p>
          <a:p>
            <a:pPr indent="0" marL="0">
              <a:lnSpc>
                <a:spcPct val="128000"/>
              </a:lnSpc>
              <a:buNone/>
            </a:pPr>
            <a:endParaRPr lang="en-US" sz="1100" dirty="0"/>
          </a:p>
          <a:p>
            <a:pPr indent="0" marL="0">
              <a:lnSpc>
                <a:spcPct val="128000"/>
              </a:lnSpc>
              <a:buNone/>
            </a:pPr>
            <a:r>
              <a:rPr lang="en-US" sz="1100" dirty="0">
                <a:solidFill>
                  <a:srgbClr val="2B2B2B"/>
                </a:solidFill>
                <a:latin typeface="Calibri" pitchFamily="34" charset="0"/>
                <a:ea typeface="Calibri" pitchFamily="34" charset="-122"/>
                <a:cs typeface="Calibri" pitchFamily="34" charset="-120"/>
              </a:rPr>
              <a:t>Plus 3 items outside a single epic: the cross-cutting recompute story (SCRUM-26), the Texas relief-site story (SCRUM-27) and ZIP search (SCRUM-28).</a:t>
            </a:r>
            <a:endParaRPr lang="en-US" sz="1100" dirty="0"/>
          </a:p>
        </p:txBody>
      </p:sp>
      <p:sp>
        <p:nvSpPr>
          <p:cNvPr id="8" name="Shape 5"/>
          <p:cNvSpPr/>
          <p:nvPr/>
        </p:nvSpPr>
        <p:spPr>
          <a:xfrm>
            <a:off x="8869680" y="4526280"/>
            <a:ext cx="2377440" cy="0"/>
          </a:xfrm>
          <a:prstGeom prst="line">
            <a:avLst/>
          </a:prstGeom>
          <a:noFill/>
          <a:ln w="12700">
            <a:solidFill>
              <a:srgbClr val="E1E4F0"/>
            </a:solidFill>
            <a:prstDash val="solid"/>
          </a:ln>
        </p:spPr>
      </p:sp>
      <p:sp>
        <p:nvSpPr>
          <p:cNvPr id="9" name="Text 6"/>
          <p:cNvSpPr txBox="1"/>
          <p:nvPr/>
        </p:nvSpPr>
        <p:spPr>
          <a:xfrm>
            <a:off x="8869680" y="4709160"/>
            <a:ext cx="2606040" cy="640080"/>
          </a:xfrm>
          <a:prstGeom prst="rect">
            <a:avLst/>
          </a:prstGeom>
          <a:noFill/>
          <a:ln/>
        </p:spPr>
        <p:txBody>
          <a:bodyPr wrap="square" lIns="0" tIns="0" rIns="0" bIns="0" rtlCol="0" anchor="ctr"/>
          <a:lstStyle/>
          <a:p>
            <a:pPr indent="0" marL="0">
              <a:buNone/>
            </a:pPr>
            <a:r>
              <a:rPr lang="en-US" sz="2000" b="1" dirty="0">
                <a:solidFill>
                  <a:srgbClr val="E8543A"/>
                </a:solidFill>
                <a:latin typeface="Cambria" pitchFamily="34" charset="0"/>
                <a:ea typeface="Cambria" pitchFamily="34" charset="-122"/>
                <a:cs typeface="Cambria" pitchFamily="34" charset="-120"/>
              </a:rPr>
              <a:t>30 total</a:t>
            </a:r>
            <a:endParaRPr lang="en-US" sz="2000" dirty="0"/>
          </a:p>
          <a:p>
            <a:pPr indent="0" marL="0">
              <a:buNone/>
            </a:pPr>
            <a:r>
              <a:rPr lang="en-US" sz="2000" b="1" dirty="0">
                <a:solidFill>
                  <a:srgbClr val="E8543A"/>
                </a:solidFill>
                <a:latin typeface="Cambria" pitchFamily="34" charset="0"/>
                <a:ea typeface="Cambria" pitchFamily="34" charset="-122"/>
                <a:cs typeface="Cambria" pitchFamily="34" charset="-120"/>
              </a:rPr>
              <a:t>backlog items</a:t>
            </a:r>
            <a:endParaRPr lang="en-US" sz="2000" dirty="0"/>
          </a:p>
        </p:txBody>
      </p:sp>
      <p:sp>
        <p:nvSpPr>
          <p:cNvPr id="10" name="Text 7"/>
          <p:cNvSpPr txBox="1"/>
          <p:nvPr/>
        </p:nvSpPr>
        <p:spPr>
          <a:xfrm>
            <a:off x="8869680" y="5349240"/>
            <a:ext cx="2606040" cy="822960"/>
          </a:xfrm>
          <a:prstGeom prst="rect">
            <a:avLst/>
          </a:prstGeom>
          <a:noFill/>
          <a:ln/>
        </p:spPr>
        <p:txBody>
          <a:bodyPr wrap="square" lIns="0" tIns="0" rIns="0" bIns="0" rtlCol="0" anchor="ctr"/>
          <a:lstStyle/>
          <a:p>
            <a:pPr indent="0" marL="0">
              <a:lnSpc>
                <a:spcPct val="120000"/>
              </a:lnSpc>
              <a:buNone/>
            </a:pPr>
            <a:r>
              <a:rPr lang="en-US" sz="1060" dirty="0">
                <a:solidFill>
                  <a:srgbClr val="6B7280"/>
                </a:solidFill>
                <a:latin typeface="Calibri" pitchFamily="34" charset="0"/>
                <a:ea typeface="Calibri" pitchFamily="34" charset="-122"/>
                <a:cs typeface="Calibri" pitchFamily="34" charset="-120"/>
              </a:rPr>
              <a:t>story-pointed and tracked end-to-end in Jira (HeatSafe / SCRUM project)</a:t>
            </a:r>
            <a:endParaRPr lang="en-US" sz="1060" dirty="0"/>
          </a:p>
        </p:txBody>
      </p:sp>
      <p:sp>
        <p:nvSpPr>
          <p:cNvPr id="11" name="Text 8"/>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CINS 5338/5388 — Software Project Management</a:t>
            </a:r>
            <a:endParaRPr lang="en-US" sz="900" dirty="0"/>
          </a:p>
        </p:txBody>
      </p:sp>
      <p:sp>
        <p:nvSpPr>
          <p:cNvPr id="12" name="Text 9"/>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45720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User Stories Selected for Sprint 1</a:t>
            </a:r>
            <a:endParaRPr lang="en-US" sz="3000" dirty="0"/>
          </a:p>
        </p:txBody>
      </p:sp>
      <p:sp>
        <p:nvSpPr>
          <p:cNvPr id="3" name="Shape 1"/>
          <p:cNvSpPr/>
          <p:nvPr/>
        </p:nvSpPr>
        <p:spPr>
          <a:xfrm>
            <a:off x="448056" y="1362456"/>
            <a:ext cx="8065008" cy="5184648"/>
          </a:xfrm>
          <a:prstGeom prst="roundRect">
            <a:avLst>
              <a:gd name="adj" fmla="val 1587"/>
            </a:avLst>
          </a:prstGeom>
          <a:solidFill>
            <a:srgbClr val="FFFFFF"/>
          </a:solidFill>
          <a:ln w="12700">
            <a:solidFill>
              <a:srgbClr val="E1E4F0"/>
            </a:solidFill>
            <a:prstDash val="solid"/>
          </a:ln>
          <a:effectLst>
            <a:outerShdw sx="100000" sy="100000" kx="0" ky="0" algn="bl" rotWithShape="0" blurRad="101600" dist="38100" dir="5400000">
              <a:srgbClr val="1E2761">
                <a:alpha val="18000"/>
              </a:srgbClr>
            </a:outerShdw>
          </a:effectLst>
        </p:spPr>
      </p:sp>
      <p:pic>
        <p:nvPicPr>
          <p:cNvPr id="4" name="Image 0" descr="/root/.claude/uploads/adf370eb-f340-5a92-b171-fa65d773f298/351d95f7-image.png">    </p:cNvPr>
          <p:cNvPicPr>
            <a:picLocks noChangeAspect="1"/>
          </p:cNvPicPr>
          <p:nvPr/>
        </p:nvPicPr>
        <p:blipFill>
          <a:blip r:embed="rId1"/>
          <a:srcRect l="0" r="0" t="0" b="0"/>
          <a:stretch/>
        </p:blipFill>
        <p:spPr>
          <a:xfrm>
            <a:off x="502920" y="1417320"/>
            <a:ext cx="7955280" cy="5074920"/>
          </a:xfrm>
          <a:prstGeom prst="rect">
            <a:avLst/>
          </a:prstGeom>
        </p:spPr>
      </p:pic>
      <p:sp>
        <p:nvSpPr>
          <p:cNvPr id="5" name="Shape 2"/>
          <p:cNvSpPr/>
          <p:nvPr/>
        </p:nvSpPr>
        <p:spPr>
          <a:xfrm>
            <a:off x="8641080" y="1600200"/>
            <a:ext cx="3017520" cy="4709160"/>
          </a:xfrm>
          <a:prstGeom prst="roundRect">
            <a:avLst>
              <a:gd name="adj" fmla="val 2727"/>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6" name="Text 3"/>
          <p:cNvSpPr txBox="1"/>
          <p:nvPr/>
        </p:nvSpPr>
        <p:spPr>
          <a:xfrm>
            <a:off x="8869680" y="1783080"/>
            <a:ext cx="256032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Sprint 1</a:t>
            </a:r>
            <a:endParaRPr lang="en-US" sz="1400" dirty="0"/>
          </a:p>
        </p:txBody>
      </p:sp>
      <p:sp>
        <p:nvSpPr>
          <p:cNvPr id="7" name="Text 4"/>
          <p:cNvSpPr txBox="1"/>
          <p:nvPr/>
        </p:nvSpPr>
        <p:spPr>
          <a:xfrm>
            <a:off x="8869680" y="2148840"/>
            <a:ext cx="2606040" cy="2194560"/>
          </a:xfrm>
          <a:prstGeom prst="rect">
            <a:avLst/>
          </a:prstGeom>
          <a:noFill/>
          <a:ln/>
        </p:spPr>
        <p:txBody>
          <a:bodyPr wrap="square" lIns="0" tIns="0" rIns="0" bIns="0" rtlCol="0" anchor="ctr"/>
          <a:lstStyle/>
          <a:p>
            <a:pPr indent="0" marL="0">
              <a:lnSpc>
                <a:spcPct val="125000"/>
              </a:lnSpc>
              <a:buNone/>
            </a:pPr>
            <a:r>
              <a:rPr lang="en-US" sz="1060" dirty="0">
                <a:solidFill>
                  <a:srgbClr val="2B2B2B"/>
                </a:solidFill>
                <a:latin typeface="Calibri" pitchFamily="34" charset="0"/>
                <a:ea typeface="Calibri" pitchFamily="34" charset="-122"/>
                <a:cs typeface="Calibri" pitchFamily="34" charset="-120"/>
              </a:rPr>
              <a:t>SCRUM-12 → SCRUM-17</a:t>
            </a:r>
            <a:endParaRPr lang="en-US" sz="1060" dirty="0"/>
          </a:p>
          <a:p>
            <a:pPr indent="0" marL="0">
              <a:lnSpc>
                <a:spcPct val="125000"/>
              </a:lnSpc>
              <a:buNone/>
            </a:pPr>
            <a:r>
              <a:rPr lang="en-US" sz="1060" dirty="0">
                <a:solidFill>
                  <a:srgbClr val="2B2B2B"/>
                </a:solidFill>
                <a:latin typeface="Calibri" pitchFamily="34" charset="0"/>
                <a:ea typeface="Calibri" pitchFamily="34" charset="-122"/>
                <a:cs typeface="Calibri" pitchFamily="34" charset="-120"/>
              </a:rPr>
              <a:t>6 stories in the AI Priority Matching epic: the areas table, the vulnerability scoring function, priority ranking with nearest-open-site, the admin priority table, the resident map overlay, and the documented scoring methodology.</a:t>
            </a:r>
            <a:endParaRPr lang="en-US" sz="1060" dirty="0"/>
          </a:p>
        </p:txBody>
      </p:sp>
      <p:sp>
        <p:nvSpPr>
          <p:cNvPr id="8" name="Shape 5"/>
          <p:cNvSpPr/>
          <p:nvPr/>
        </p:nvSpPr>
        <p:spPr>
          <a:xfrm>
            <a:off x="8869680" y="4434840"/>
            <a:ext cx="2377440" cy="0"/>
          </a:xfrm>
          <a:prstGeom prst="line">
            <a:avLst/>
          </a:prstGeom>
          <a:noFill/>
          <a:ln w="12700">
            <a:solidFill>
              <a:srgbClr val="E1E4F0"/>
            </a:solidFill>
            <a:prstDash val="solid"/>
          </a:ln>
        </p:spPr>
      </p:sp>
      <p:sp>
        <p:nvSpPr>
          <p:cNvPr id="9" name="Text 6"/>
          <p:cNvSpPr txBox="1"/>
          <p:nvPr/>
        </p:nvSpPr>
        <p:spPr>
          <a:xfrm>
            <a:off x="8869680" y="4617720"/>
            <a:ext cx="2606040" cy="640080"/>
          </a:xfrm>
          <a:prstGeom prst="rect">
            <a:avLst/>
          </a:prstGeom>
          <a:noFill/>
          <a:ln/>
        </p:spPr>
        <p:txBody>
          <a:bodyPr wrap="square" lIns="0" tIns="0" rIns="0" bIns="0" rtlCol="0" anchor="ctr"/>
          <a:lstStyle/>
          <a:p>
            <a:pPr indent="0" marL="0">
              <a:buNone/>
            </a:pPr>
            <a:r>
              <a:rPr lang="en-US" sz="2000" b="1" dirty="0">
                <a:solidFill>
                  <a:srgbClr val="E8543A"/>
                </a:solidFill>
                <a:latin typeface="Cambria" pitchFamily="34" charset="0"/>
                <a:ea typeface="Cambria" pitchFamily="34" charset="-122"/>
                <a:cs typeface="Cambria" pitchFamily="34" charset="-120"/>
              </a:rPr>
              <a:t>21 points</a:t>
            </a:r>
            <a:endParaRPr lang="en-US" sz="2000" dirty="0"/>
          </a:p>
          <a:p>
            <a:pPr indent="0" marL="0">
              <a:buNone/>
            </a:pPr>
            <a:r>
              <a:rPr lang="en-US" sz="2000" b="1" dirty="0">
                <a:solidFill>
                  <a:srgbClr val="E8543A"/>
                </a:solidFill>
                <a:latin typeface="Cambria" pitchFamily="34" charset="0"/>
                <a:ea typeface="Cambria" pitchFamily="34" charset="-122"/>
                <a:cs typeface="Cambria" pitchFamily="34" charset="-120"/>
              </a:rPr>
              <a:t>delivered</a:t>
            </a:r>
            <a:endParaRPr lang="en-US" sz="2000" dirty="0"/>
          </a:p>
        </p:txBody>
      </p:sp>
      <p:sp>
        <p:nvSpPr>
          <p:cNvPr id="10" name="Text 7"/>
          <p:cNvSpPr txBox="1"/>
          <p:nvPr/>
        </p:nvSpPr>
        <p:spPr>
          <a:xfrm>
            <a:off x="8869680" y="5257800"/>
            <a:ext cx="2606040" cy="1188720"/>
          </a:xfrm>
          <a:prstGeom prst="rect">
            <a:avLst/>
          </a:prstGeom>
          <a:noFill/>
          <a:ln/>
        </p:spPr>
        <p:txBody>
          <a:bodyPr wrap="square" lIns="0" tIns="0" rIns="0" bIns="0" rtlCol="0" anchor="ctr"/>
          <a:lstStyle/>
          <a:p>
            <a:pPr indent="0" marL="0">
              <a:lnSpc>
                <a:spcPct val="125000"/>
              </a:lnSpc>
              <a:buNone/>
            </a:pPr>
            <a:r>
              <a:rPr lang="en-US" sz="1040" dirty="0">
                <a:solidFill>
                  <a:srgbClr val="6B7280"/>
                </a:solidFill>
                <a:latin typeface="Calibri" pitchFamily="34" charset="0"/>
                <a:ea typeface="Calibri" pitchFamily="34" charset="-122"/>
                <a:cs typeface="Calibri" pitchFamily="34" charset="-120"/>
              </a:rPr>
              <a:t>Acceptance criteria and development tasks for all six follow on the next slides. Sprint 2 (SCRUM-18 – 26, 23 pts) is scoped and ready to start.</a:t>
            </a:r>
            <a:endParaRPr lang="en-US" sz="1040" dirty="0"/>
          </a:p>
        </p:txBody>
      </p:sp>
      <p:sp>
        <p:nvSpPr>
          <p:cNvPr id="11" name="Text 8"/>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CINS 5338/5388 — Software Project Management</a:t>
            </a:r>
            <a:endParaRPr lang="en-US" sz="900" dirty="0"/>
          </a:p>
        </p:txBody>
      </p:sp>
      <p:sp>
        <p:nvSpPr>
          <p:cNvPr id="12" name="Text 9"/>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SCRUM-12 · AI PRIORITY MATCHING · COMPLETED</a:t>
            </a:r>
            <a:endParaRPr lang="en-US" sz="1250" dirty="0"/>
          </a:p>
        </p:txBody>
      </p:sp>
      <p:sp>
        <p:nvSpPr>
          <p:cNvPr id="3" name="Text 1"/>
          <p:cNvSpPr txBox="1"/>
          <p:nvPr/>
        </p:nvSpPr>
        <p:spPr>
          <a:xfrm>
            <a:off x="548640" y="59436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Sprint 1 Story 1 of 6</a:t>
            </a:r>
            <a:endParaRPr lang="en-US" sz="3000" dirty="0"/>
          </a:p>
        </p:txBody>
      </p:sp>
      <p:sp>
        <p:nvSpPr>
          <p:cNvPr id="4" name="Shape 2"/>
          <p:cNvSpPr/>
          <p:nvPr/>
        </p:nvSpPr>
        <p:spPr>
          <a:xfrm>
            <a:off x="10149840" y="384048"/>
            <a:ext cx="566928" cy="566928"/>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5" name="Text 3"/>
          <p:cNvSpPr txBox="1"/>
          <p:nvPr/>
        </p:nvSpPr>
        <p:spPr>
          <a:xfrm>
            <a:off x="10149840" y="38404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6" name="Text 4"/>
          <p:cNvSpPr txBox="1"/>
          <p:nvPr/>
        </p:nvSpPr>
        <p:spPr>
          <a:xfrm>
            <a:off x="10149840" y="932688"/>
            <a:ext cx="566928" cy="228600"/>
          </a:xfrm>
          <a:prstGeom prst="rect">
            <a:avLst/>
          </a:prstGeom>
          <a:noFill/>
          <a:ln/>
        </p:spPr>
        <p:txBody>
          <a:bodyPr wrap="square" lIns="0" tIns="0" rIns="0" bIns="0"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pts</a:t>
            </a:r>
            <a:endParaRPr lang="en-US" sz="850" dirty="0"/>
          </a:p>
        </p:txBody>
      </p:sp>
      <p:sp>
        <p:nvSpPr>
          <p:cNvPr id="7" name="Shape 5"/>
          <p:cNvSpPr/>
          <p:nvPr/>
        </p:nvSpPr>
        <p:spPr>
          <a:xfrm>
            <a:off x="1362456" y="1316736"/>
            <a:ext cx="9436608" cy="5276088"/>
          </a:xfrm>
          <a:prstGeom prst="roundRect">
            <a:avLst>
              <a:gd name="adj" fmla="val 1560"/>
            </a:avLst>
          </a:prstGeom>
          <a:solidFill>
            <a:srgbClr val="FFFFFF"/>
          </a:solidFill>
          <a:ln w="12700">
            <a:solidFill>
              <a:srgbClr val="E1E4F0"/>
            </a:solidFill>
            <a:prstDash val="solid"/>
          </a:ln>
          <a:effectLst>
            <a:outerShdw sx="100000" sy="100000" kx="0" ky="0" algn="bl" rotWithShape="0" blurRad="101600" dist="38100" dir="5400000">
              <a:srgbClr val="1E2761">
                <a:alpha val="18000"/>
              </a:srgbClr>
            </a:outerShdw>
          </a:effectLst>
        </p:spPr>
      </p:sp>
      <p:pic>
        <p:nvPicPr>
          <p:cNvPr id="8" name="Image 0" descr="/root/.claude/uploads/adf370eb-f340-5a92-b171-fa65d773f298/bc457991-image.png">    </p:cNvPr>
          <p:cNvPicPr>
            <a:picLocks noChangeAspect="1"/>
          </p:cNvPicPr>
          <p:nvPr/>
        </p:nvPicPr>
        <p:blipFill>
          <a:blip r:embed="rId1"/>
          <a:srcRect l="0" r="0" t="0" b="0"/>
          <a:stretch/>
        </p:blipFill>
        <p:spPr>
          <a:xfrm>
            <a:off x="1417320" y="1371600"/>
            <a:ext cx="9326880" cy="5166360"/>
          </a:xfrm>
          <a:prstGeom prst="rect">
            <a:avLst/>
          </a:prstGeom>
        </p:spPr>
      </p:pic>
      <p:sp>
        <p:nvSpPr>
          <p:cNvPr id="9" name="Text 6"/>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CINS 5338/5388 — Software Project Management</a:t>
            </a:r>
            <a:endParaRPr lang="en-US" sz="900" dirty="0"/>
          </a:p>
        </p:txBody>
      </p:sp>
      <p:sp>
        <p:nvSpPr>
          <p:cNvPr id="10" name="Text 7"/>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SCRUM-13 · AI PRIORITY MATCHING · COMPLETED</a:t>
            </a:r>
            <a:endParaRPr lang="en-US" sz="1250" dirty="0"/>
          </a:p>
        </p:txBody>
      </p:sp>
      <p:sp>
        <p:nvSpPr>
          <p:cNvPr id="3" name="Text 1"/>
          <p:cNvSpPr txBox="1"/>
          <p:nvPr/>
        </p:nvSpPr>
        <p:spPr>
          <a:xfrm>
            <a:off x="548640" y="59436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Sprint 1 Story 2 of 6</a:t>
            </a:r>
            <a:endParaRPr lang="en-US" sz="3000" dirty="0"/>
          </a:p>
        </p:txBody>
      </p:sp>
      <p:sp>
        <p:nvSpPr>
          <p:cNvPr id="4" name="Shape 2"/>
          <p:cNvSpPr/>
          <p:nvPr/>
        </p:nvSpPr>
        <p:spPr>
          <a:xfrm>
            <a:off x="10149840" y="384048"/>
            <a:ext cx="566928" cy="566928"/>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5" name="Text 3"/>
          <p:cNvSpPr txBox="1"/>
          <p:nvPr/>
        </p:nvSpPr>
        <p:spPr>
          <a:xfrm>
            <a:off x="10149840" y="38404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6" name="Text 4"/>
          <p:cNvSpPr txBox="1"/>
          <p:nvPr/>
        </p:nvSpPr>
        <p:spPr>
          <a:xfrm>
            <a:off x="10149840" y="932688"/>
            <a:ext cx="566928" cy="228600"/>
          </a:xfrm>
          <a:prstGeom prst="rect">
            <a:avLst/>
          </a:prstGeom>
          <a:noFill/>
          <a:ln/>
        </p:spPr>
        <p:txBody>
          <a:bodyPr wrap="square" lIns="0" tIns="0" rIns="0" bIns="0"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pts</a:t>
            </a:r>
            <a:endParaRPr lang="en-US" sz="850" dirty="0"/>
          </a:p>
        </p:txBody>
      </p:sp>
      <p:sp>
        <p:nvSpPr>
          <p:cNvPr id="7" name="Shape 5"/>
          <p:cNvSpPr/>
          <p:nvPr/>
        </p:nvSpPr>
        <p:spPr>
          <a:xfrm>
            <a:off x="1362456" y="1316736"/>
            <a:ext cx="9436608" cy="5276088"/>
          </a:xfrm>
          <a:prstGeom prst="roundRect">
            <a:avLst>
              <a:gd name="adj" fmla="val 1560"/>
            </a:avLst>
          </a:prstGeom>
          <a:solidFill>
            <a:srgbClr val="FFFFFF"/>
          </a:solidFill>
          <a:ln w="12700">
            <a:solidFill>
              <a:srgbClr val="E1E4F0"/>
            </a:solidFill>
            <a:prstDash val="solid"/>
          </a:ln>
          <a:effectLst>
            <a:outerShdw sx="100000" sy="100000" kx="0" ky="0" algn="bl" rotWithShape="0" blurRad="101600" dist="38100" dir="5400000">
              <a:srgbClr val="1E2761">
                <a:alpha val="18000"/>
              </a:srgbClr>
            </a:outerShdw>
          </a:effectLst>
        </p:spPr>
      </p:sp>
      <p:pic>
        <p:nvPicPr>
          <p:cNvPr id="8" name="Image 0" descr="/root/.claude/uploads/adf370eb-f340-5a92-b171-fa65d773f298/f75237f8-image.png">    </p:cNvPr>
          <p:cNvPicPr>
            <a:picLocks noChangeAspect="1"/>
          </p:cNvPicPr>
          <p:nvPr/>
        </p:nvPicPr>
        <p:blipFill>
          <a:blip r:embed="rId1"/>
          <a:srcRect l="0" r="0" t="0" b="0"/>
          <a:stretch/>
        </p:blipFill>
        <p:spPr>
          <a:xfrm>
            <a:off x="1417320" y="1371600"/>
            <a:ext cx="9326880" cy="5166360"/>
          </a:xfrm>
          <a:prstGeom prst="rect">
            <a:avLst/>
          </a:prstGeom>
        </p:spPr>
      </p:pic>
      <p:sp>
        <p:nvSpPr>
          <p:cNvPr id="9" name="Text 6"/>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CINS 5338/5388 — Software Project Management</a:t>
            </a:r>
            <a:endParaRPr lang="en-US" sz="900" dirty="0"/>
          </a:p>
        </p:txBody>
      </p:sp>
      <p:sp>
        <p:nvSpPr>
          <p:cNvPr id="10" name="Text 7"/>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SCRUM-14 · AI PRIORITY MATCHING · COMPLETED</a:t>
            </a:r>
            <a:endParaRPr lang="en-US" sz="1250" dirty="0"/>
          </a:p>
        </p:txBody>
      </p:sp>
      <p:sp>
        <p:nvSpPr>
          <p:cNvPr id="3" name="Text 1"/>
          <p:cNvSpPr txBox="1"/>
          <p:nvPr/>
        </p:nvSpPr>
        <p:spPr>
          <a:xfrm>
            <a:off x="548640" y="59436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Sprint 1 Story 3 of 6</a:t>
            </a:r>
            <a:endParaRPr lang="en-US" sz="3000" dirty="0"/>
          </a:p>
        </p:txBody>
      </p:sp>
      <p:sp>
        <p:nvSpPr>
          <p:cNvPr id="4" name="Shape 2"/>
          <p:cNvSpPr/>
          <p:nvPr/>
        </p:nvSpPr>
        <p:spPr>
          <a:xfrm>
            <a:off x="10149840" y="384048"/>
            <a:ext cx="566928" cy="566928"/>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5" name="Text 3"/>
          <p:cNvSpPr txBox="1"/>
          <p:nvPr/>
        </p:nvSpPr>
        <p:spPr>
          <a:xfrm>
            <a:off x="10149840" y="38404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6" name="Text 4"/>
          <p:cNvSpPr txBox="1"/>
          <p:nvPr/>
        </p:nvSpPr>
        <p:spPr>
          <a:xfrm>
            <a:off x="10149840" y="932688"/>
            <a:ext cx="566928" cy="228600"/>
          </a:xfrm>
          <a:prstGeom prst="rect">
            <a:avLst/>
          </a:prstGeom>
          <a:noFill/>
          <a:ln/>
        </p:spPr>
        <p:txBody>
          <a:bodyPr wrap="square" lIns="0" tIns="0" rIns="0" bIns="0"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pts</a:t>
            </a:r>
            <a:endParaRPr lang="en-US" sz="850" dirty="0"/>
          </a:p>
        </p:txBody>
      </p:sp>
      <p:sp>
        <p:nvSpPr>
          <p:cNvPr id="7" name="Shape 5"/>
          <p:cNvSpPr/>
          <p:nvPr/>
        </p:nvSpPr>
        <p:spPr>
          <a:xfrm>
            <a:off x="1362456" y="1316736"/>
            <a:ext cx="9436608" cy="5276088"/>
          </a:xfrm>
          <a:prstGeom prst="roundRect">
            <a:avLst>
              <a:gd name="adj" fmla="val 1560"/>
            </a:avLst>
          </a:prstGeom>
          <a:solidFill>
            <a:srgbClr val="FFFFFF"/>
          </a:solidFill>
          <a:ln w="12700">
            <a:solidFill>
              <a:srgbClr val="E1E4F0"/>
            </a:solidFill>
            <a:prstDash val="solid"/>
          </a:ln>
          <a:effectLst>
            <a:outerShdw sx="100000" sy="100000" kx="0" ky="0" algn="bl" rotWithShape="0" blurRad="101600" dist="38100" dir="5400000">
              <a:srgbClr val="1E2761">
                <a:alpha val="18000"/>
              </a:srgbClr>
            </a:outerShdw>
          </a:effectLst>
        </p:spPr>
      </p:sp>
      <p:pic>
        <p:nvPicPr>
          <p:cNvPr id="8" name="Image 0" descr="/root/.claude/uploads/adf370eb-f340-5a92-b171-fa65d773f298/f4f5a692-image.png">    </p:cNvPr>
          <p:cNvPicPr>
            <a:picLocks noChangeAspect="1"/>
          </p:cNvPicPr>
          <p:nvPr/>
        </p:nvPicPr>
        <p:blipFill>
          <a:blip r:embed="rId1"/>
          <a:srcRect l="0" r="0" t="0" b="0"/>
          <a:stretch/>
        </p:blipFill>
        <p:spPr>
          <a:xfrm>
            <a:off x="1417320" y="1371600"/>
            <a:ext cx="9326880" cy="5166360"/>
          </a:xfrm>
          <a:prstGeom prst="rect">
            <a:avLst/>
          </a:prstGeom>
        </p:spPr>
      </p:pic>
      <p:sp>
        <p:nvSpPr>
          <p:cNvPr id="9" name="Text 6"/>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CINS 5338/5388 — Software Project Management</a:t>
            </a:r>
            <a:endParaRPr lang="en-US" sz="900" dirty="0"/>
          </a:p>
        </p:txBody>
      </p:sp>
      <p:sp>
        <p:nvSpPr>
          <p:cNvPr id="10" name="Text 7"/>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SCRUM-15 · AI PRIORITY MATCHING · COMPLETED</a:t>
            </a:r>
            <a:endParaRPr lang="en-US" sz="1250" dirty="0"/>
          </a:p>
        </p:txBody>
      </p:sp>
      <p:sp>
        <p:nvSpPr>
          <p:cNvPr id="3" name="Text 1"/>
          <p:cNvSpPr txBox="1"/>
          <p:nvPr/>
        </p:nvSpPr>
        <p:spPr>
          <a:xfrm>
            <a:off x="548640" y="59436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Sprint 1 Story 4 of 6</a:t>
            </a:r>
            <a:endParaRPr lang="en-US" sz="3000" dirty="0"/>
          </a:p>
        </p:txBody>
      </p:sp>
      <p:sp>
        <p:nvSpPr>
          <p:cNvPr id="4" name="Shape 2"/>
          <p:cNvSpPr/>
          <p:nvPr/>
        </p:nvSpPr>
        <p:spPr>
          <a:xfrm>
            <a:off x="10149840" y="384048"/>
            <a:ext cx="566928" cy="566928"/>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5" name="Text 3"/>
          <p:cNvSpPr txBox="1"/>
          <p:nvPr/>
        </p:nvSpPr>
        <p:spPr>
          <a:xfrm>
            <a:off x="10149840" y="38404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6" name="Text 4"/>
          <p:cNvSpPr txBox="1"/>
          <p:nvPr/>
        </p:nvSpPr>
        <p:spPr>
          <a:xfrm>
            <a:off x="10149840" y="932688"/>
            <a:ext cx="566928" cy="228600"/>
          </a:xfrm>
          <a:prstGeom prst="rect">
            <a:avLst/>
          </a:prstGeom>
          <a:noFill/>
          <a:ln/>
        </p:spPr>
        <p:txBody>
          <a:bodyPr wrap="square" lIns="0" tIns="0" rIns="0" bIns="0"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pts</a:t>
            </a:r>
            <a:endParaRPr lang="en-US" sz="850" dirty="0"/>
          </a:p>
        </p:txBody>
      </p:sp>
      <p:sp>
        <p:nvSpPr>
          <p:cNvPr id="7" name="Shape 5"/>
          <p:cNvSpPr/>
          <p:nvPr/>
        </p:nvSpPr>
        <p:spPr>
          <a:xfrm>
            <a:off x="1362456" y="1316736"/>
            <a:ext cx="9436608" cy="5276088"/>
          </a:xfrm>
          <a:prstGeom prst="roundRect">
            <a:avLst>
              <a:gd name="adj" fmla="val 1560"/>
            </a:avLst>
          </a:prstGeom>
          <a:solidFill>
            <a:srgbClr val="FFFFFF"/>
          </a:solidFill>
          <a:ln w="12700">
            <a:solidFill>
              <a:srgbClr val="E1E4F0"/>
            </a:solidFill>
            <a:prstDash val="solid"/>
          </a:ln>
          <a:effectLst>
            <a:outerShdw sx="100000" sy="100000" kx="0" ky="0" algn="bl" rotWithShape="0" blurRad="101600" dist="38100" dir="5400000">
              <a:srgbClr val="1E2761">
                <a:alpha val="18000"/>
              </a:srgbClr>
            </a:outerShdw>
          </a:effectLst>
        </p:spPr>
      </p:sp>
      <p:pic>
        <p:nvPicPr>
          <p:cNvPr id="8" name="Image 0" descr="/root/.claude/uploads/adf370eb-f340-5a92-b171-fa65d773f298/8356d444-image.png">    </p:cNvPr>
          <p:cNvPicPr>
            <a:picLocks noChangeAspect="1"/>
          </p:cNvPicPr>
          <p:nvPr/>
        </p:nvPicPr>
        <p:blipFill>
          <a:blip r:embed="rId1"/>
          <a:srcRect l="0" r="0" t="0" b="0"/>
          <a:stretch/>
        </p:blipFill>
        <p:spPr>
          <a:xfrm>
            <a:off x="1417320" y="1371600"/>
            <a:ext cx="9326880" cy="5166360"/>
          </a:xfrm>
          <a:prstGeom prst="rect">
            <a:avLst/>
          </a:prstGeom>
        </p:spPr>
      </p:pic>
      <p:sp>
        <p:nvSpPr>
          <p:cNvPr id="9" name="Text 6"/>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CINS 5338/5388 — Software Project Management</a:t>
            </a:r>
            <a:endParaRPr lang="en-US" sz="900" dirty="0"/>
          </a:p>
        </p:txBody>
      </p:sp>
      <p:sp>
        <p:nvSpPr>
          <p:cNvPr id="10" name="Text 7"/>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SCRUM-16 · AI PRIORITY MATCHING · COMPLETED</a:t>
            </a:r>
            <a:endParaRPr lang="en-US" sz="1250" dirty="0"/>
          </a:p>
        </p:txBody>
      </p:sp>
      <p:sp>
        <p:nvSpPr>
          <p:cNvPr id="3" name="Text 1"/>
          <p:cNvSpPr txBox="1"/>
          <p:nvPr/>
        </p:nvSpPr>
        <p:spPr>
          <a:xfrm>
            <a:off x="548640" y="59436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Sprint 1 Story 5 of 6</a:t>
            </a:r>
            <a:endParaRPr lang="en-US" sz="3000" dirty="0"/>
          </a:p>
        </p:txBody>
      </p:sp>
      <p:sp>
        <p:nvSpPr>
          <p:cNvPr id="4" name="Shape 2"/>
          <p:cNvSpPr/>
          <p:nvPr/>
        </p:nvSpPr>
        <p:spPr>
          <a:xfrm>
            <a:off x="10149840" y="384048"/>
            <a:ext cx="566928" cy="566928"/>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5" name="Text 3"/>
          <p:cNvSpPr txBox="1"/>
          <p:nvPr/>
        </p:nvSpPr>
        <p:spPr>
          <a:xfrm>
            <a:off x="10149840" y="38404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6" name="Text 4"/>
          <p:cNvSpPr txBox="1"/>
          <p:nvPr/>
        </p:nvSpPr>
        <p:spPr>
          <a:xfrm>
            <a:off x="10149840" y="932688"/>
            <a:ext cx="566928" cy="228600"/>
          </a:xfrm>
          <a:prstGeom prst="rect">
            <a:avLst/>
          </a:prstGeom>
          <a:noFill/>
          <a:ln/>
        </p:spPr>
        <p:txBody>
          <a:bodyPr wrap="square" lIns="0" tIns="0" rIns="0" bIns="0"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pts</a:t>
            </a:r>
            <a:endParaRPr lang="en-US" sz="850" dirty="0"/>
          </a:p>
        </p:txBody>
      </p:sp>
      <p:sp>
        <p:nvSpPr>
          <p:cNvPr id="7" name="Shape 5"/>
          <p:cNvSpPr/>
          <p:nvPr/>
        </p:nvSpPr>
        <p:spPr>
          <a:xfrm>
            <a:off x="1362456" y="1316736"/>
            <a:ext cx="9436608" cy="5276088"/>
          </a:xfrm>
          <a:prstGeom prst="roundRect">
            <a:avLst>
              <a:gd name="adj" fmla="val 1560"/>
            </a:avLst>
          </a:prstGeom>
          <a:solidFill>
            <a:srgbClr val="FFFFFF"/>
          </a:solidFill>
          <a:ln w="12700">
            <a:solidFill>
              <a:srgbClr val="E1E4F0"/>
            </a:solidFill>
            <a:prstDash val="solid"/>
          </a:ln>
          <a:effectLst>
            <a:outerShdw sx="100000" sy="100000" kx="0" ky="0" algn="bl" rotWithShape="0" blurRad="101600" dist="38100" dir="5400000">
              <a:srgbClr val="1E2761">
                <a:alpha val="18000"/>
              </a:srgbClr>
            </a:outerShdw>
          </a:effectLst>
        </p:spPr>
      </p:sp>
      <p:pic>
        <p:nvPicPr>
          <p:cNvPr id="8" name="Image 0" descr="/root/.claude/uploads/adf370eb-f340-5a92-b171-fa65d773f298/6f448cf9-image.png">    </p:cNvPr>
          <p:cNvPicPr>
            <a:picLocks noChangeAspect="1"/>
          </p:cNvPicPr>
          <p:nvPr/>
        </p:nvPicPr>
        <p:blipFill>
          <a:blip r:embed="rId1"/>
          <a:srcRect l="0" r="0" t="0" b="0"/>
          <a:stretch/>
        </p:blipFill>
        <p:spPr>
          <a:xfrm>
            <a:off x="1417320" y="1371600"/>
            <a:ext cx="9326880" cy="5166360"/>
          </a:xfrm>
          <a:prstGeom prst="rect">
            <a:avLst/>
          </a:prstGeom>
        </p:spPr>
      </p:pic>
      <p:sp>
        <p:nvSpPr>
          <p:cNvPr id="9" name="Text 6"/>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CINS 5338/5388 — Software Project Management</a:t>
            </a:r>
            <a:endParaRPr lang="en-US" sz="900" dirty="0"/>
          </a:p>
        </p:txBody>
      </p:sp>
      <p:sp>
        <p:nvSpPr>
          <p:cNvPr id="10" name="Text 7"/>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SCRUM-17 · AI PRIORITY MATCHING · COMPLETED</a:t>
            </a:r>
            <a:endParaRPr lang="en-US" sz="1250" dirty="0"/>
          </a:p>
        </p:txBody>
      </p:sp>
      <p:sp>
        <p:nvSpPr>
          <p:cNvPr id="3" name="Text 1"/>
          <p:cNvSpPr txBox="1"/>
          <p:nvPr/>
        </p:nvSpPr>
        <p:spPr>
          <a:xfrm>
            <a:off x="548640" y="59436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Sprint 1 Story 6 of 6</a:t>
            </a:r>
            <a:endParaRPr lang="en-US" sz="3000" dirty="0"/>
          </a:p>
        </p:txBody>
      </p:sp>
      <p:sp>
        <p:nvSpPr>
          <p:cNvPr id="4" name="Shape 2"/>
          <p:cNvSpPr/>
          <p:nvPr/>
        </p:nvSpPr>
        <p:spPr>
          <a:xfrm>
            <a:off x="10149840" y="384048"/>
            <a:ext cx="566928" cy="566928"/>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5" name="Text 3"/>
          <p:cNvSpPr txBox="1"/>
          <p:nvPr/>
        </p:nvSpPr>
        <p:spPr>
          <a:xfrm>
            <a:off x="10149840" y="38404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0149840" y="932688"/>
            <a:ext cx="566928" cy="228600"/>
          </a:xfrm>
          <a:prstGeom prst="rect">
            <a:avLst/>
          </a:prstGeom>
          <a:noFill/>
          <a:ln/>
        </p:spPr>
        <p:txBody>
          <a:bodyPr wrap="square" lIns="0" tIns="0" rIns="0" bIns="0"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pts</a:t>
            </a:r>
            <a:endParaRPr lang="en-US" sz="850" dirty="0"/>
          </a:p>
        </p:txBody>
      </p:sp>
      <p:sp>
        <p:nvSpPr>
          <p:cNvPr id="7" name="Shape 5"/>
          <p:cNvSpPr/>
          <p:nvPr/>
        </p:nvSpPr>
        <p:spPr>
          <a:xfrm>
            <a:off x="1362456" y="1316736"/>
            <a:ext cx="9436608" cy="5276088"/>
          </a:xfrm>
          <a:prstGeom prst="roundRect">
            <a:avLst>
              <a:gd name="adj" fmla="val 1560"/>
            </a:avLst>
          </a:prstGeom>
          <a:solidFill>
            <a:srgbClr val="FFFFFF"/>
          </a:solidFill>
          <a:ln w="12700">
            <a:solidFill>
              <a:srgbClr val="E1E4F0"/>
            </a:solidFill>
            <a:prstDash val="solid"/>
          </a:ln>
          <a:effectLst>
            <a:outerShdw sx="100000" sy="100000" kx="0" ky="0" algn="bl" rotWithShape="0" blurRad="101600" dist="38100" dir="5400000">
              <a:srgbClr val="1E2761">
                <a:alpha val="18000"/>
              </a:srgbClr>
            </a:outerShdw>
          </a:effectLst>
        </p:spPr>
      </p:sp>
      <p:pic>
        <p:nvPicPr>
          <p:cNvPr id="8" name="Image 0" descr="/root/.claude/uploads/adf370eb-f340-5a92-b171-fa65d773f298/8d2b2a72-image.png">    </p:cNvPr>
          <p:cNvPicPr>
            <a:picLocks noChangeAspect="1"/>
          </p:cNvPicPr>
          <p:nvPr/>
        </p:nvPicPr>
        <p:blipFill>
          <a:blip r:embed="rId1"/>
          <a:srcRect l="0" r="0" t="0" b="0"/>
          <a:stretch/>
        </p:blipFill>
        <p:spPr>
          <a:xfrm>
            <a:off x="1417320" y="1371600"/>
            <a:ext cx="9326880" cy="5166360"/>
          </a:xfrm>
          <a:prstGeom prst="rect">
            <a:avLst/>
          </a:prstGeom>
        </p:spPr>
      </p:pic>
      <p:sp>
        <p:nvSpPr>
          <p:cNvPr id="9" name="Text 6"/>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CINS 5338/5388 — Software Project Management</a:t>
            </a:r>
            <a:endParaRPr lang="en-US" sz="900" dirty="0"/>
          </a:p>
        </p:txBody>
      </p:sp>
      <p:sp>
        <p:nvSpPr>
          <p:cNvPr id="10" name="Text 7"/>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SCRUM-11 · 1 OF 2 · ACCEPTANCE CRITERIA &amp; DEVELOPMENT TASKS</a:t>
            </a:r>
            <a:endParaRPr lang="en-US" sz="1250" dirty="0"/>
          </a:p>
        </p:txBody>
      </p:sp>
      <p:sp>
        <p:nvSpPr>
          <p:cNvPr id="3" name="Text 1"/>
          <p:cNvSpPr txBox="1"/>
          <p:nvPr/>
        </p:nvSpPr>
        <p:spPr>
          <a:xfrm>
            <a:off x="548640" y="59436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Sprint 2 Stories — Demographic Integration</a:t>
            </a:r>
            <a:endParaRPr lang="en-US" sz="3000" dirty="0"/>
          </a:p>
        </p:txBody>
      </p:sp>
      <p:sp>
        <p:nvSpPr>
          <p:cNvPr id="4" name="Shape 2"/>
          <p:cNvSpPr/>
          <p:nvPr/>
        </p:nvSpPr>
        <p:spPr>
          <a:xfrm>
            <a:off x="548640" y="1389888"/>
            <a:ext cx="3520440" cy="4892040"/>
          </a:xfrm>
          <a:prstGeom prst="roundRect">
            <a:avLst>
              <a:gd name="adj" fmla="val 2338"/>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5" name="Shape 3"/>
          <p:cNvSpPr/>
          <p:nvPr/>
        </p:nvSpPr>
        <p:spPr>
          <a:xfrm>
            <a:off x="749808" y="1572768"/>
            <a:ext cx="475488" cy="475488"/>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6" name="Text 4"/>
          <p:cNvSpPr txBox="1"/>
          <p:nvPr/>
        </p:nvSpPr>
        <p:spPr>
          <a:xfrm>
            <a:off x="749808" y="1572768"/>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7" name="Text 5"/>
          <p:cNvSpPr txBox="1"/>
          <p:nvPr/>
        </p:nvSpPr>
        <p:spPr>
          <a:xfrm>
            <a:off x="749808" y="2066544"/>
            <a:ext cx="475488" cy="201168"/>
          </a:xfrm>
          <a:prstGeom prst="rect">
            <a:avLst/>
          </a:prstGeom>
          <a:noFill/>
          <a:ln/>
        </p:spPr>
        <p:txBody>
          <a:bodyPr wrap="square" lIns="0" tIns="0" rIns="0" bIns="0"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pts</a:t>
            </a:r>
            <a:endParaRPr lang="en-US" sz="800" dirty="0"/>
          </a:p>
        </p:txBody>
      </p:sp>
      <p:sp>
        <p:nvSpPr>
          <p:cNvPr id="8" name="Text 6"/>
          <p:cNvSpPr txBox="1"/>
          <p:nvPr/>
        </p:nvSpPr>
        <p:spPr>
          <a:xfrm>
            <a:off x="1325880" y="1627632"/>
            <a:ext cx="2514600" cy="274320"/>
          </a:xfrm>
          <a:prstGeom prst="rect">
            <a:avLst/>
          </a:prstGeom>
          <a:noFill/>
          <a:ln/>
        </p:spPr>
        <p:txBody>
          <a:bodyPr wrap="square" lIns="0" tIns="0" rIns="0" bIns="0" rtlCol="0" anchor="ctr"/>
          <a:lstStyle/>
          <a:p>
            <a:pPr indent="0" marL="0">
              <a:buNone/>
            </a:pPr>
            <a:r>
              <a:rPr lang="en-US" sz="1250" b="1" dirty="0">
                <a:solidFill>
                  <a:srgbClr val="1E2761"/>
                </a:solidFill>
                <a:latin typeface="Courier New" pitchFamily="34" charset="0"/>
                <a:ea typeface="Courier New" pitchFamily="34" charset="-122"/>
                <a:cs typeface="Courier New" pitchFamily="34" charset="-120"/>
              </a:rPr>
              <a:t>SCRUM-18</a:t>
            </a:r>
            <a:endParaRPr lang="en-US" sz="1250" dirty="0"/>
          </a:p>
        </p:txBody>
      </p:sp>
      <p:sp>
        <p:nvSpPr>
          <p:cNvPr id="9" name="Text 7"/>
          <p:cNvSpPr txBox="1"/>
          <p:nvPr/>
        </p:nvSpPr>
        <p:spPr>
          <a:xfrm>
            <a:off x="749808" y="2322576"/>
            <a:ext cx="3118104" cy="1234440"/>
          </a:xfrm>
          <a:prstGeom prst="rect">
            <a:avLst/>
          </a:prstGeom>
          <a:noFill/>
          <a:ln/>
        </p:spPr>
        <p:txBody>
          <a:bodyPr wrap="square" lIns="0" tIns="0" rIns="0" bIns="0" rtlCol="0" anchor="ctr"/>
          <a:lstStyle/>
          <a:p>
            <a:pPr indent="0" marL="0">
              <a:lnSpc>
                <a:spcPct val="112000"/>
              </a:lnSpc>
              <a:buNone/>
            </a:pPr>
            <a:r>
              <a:rPr lang="en-US" sz="980" i="1" dirty="0">
                <a:solidFill>
                  <a:srgbClr val="2B2B2B"/>
                </a:solidFill>
                <a:latin typeface="Calibri" pitchFamily="34" charset="0"/>
                <a:ea typeface="Calibri" pitchFamily="34" charset="-122"/>
                <a:cs typeface="Calibri" pitchFamily="34" charset="-120"/>
              </a:rPr>
              <a:t>As a developer, I want a Census Geocoder integration that resolves an area's lat/lon to its census tract, so demographic lookups can be automated instead of manually matched.</a:t>
            </a:r>
            <a:endParaRPr lang="en-US" sz="980" dirty="0"/>
          </a:p>
        </p:txBody>
      </p:sp>
      <p:sp>
        <p:nvSpPr>
          <p:cNvPr id="10" name="Text 8"/>
          <p:cNvSpPr txBox="1"/>
          <p:nvPr/>
        </p:nvSpPr>
        <p:spPr>
          <a:xfrm>
            <a:off x="749808" y="3602736"/>
            <a:ext cx="3118104" cy="219456"/>
          </a:xfrm>
          <a:prstGeom prst="rect">
            <a:avLst/>
          </a:prstGeom>
          <a:noFill/>
          <a:ln/>
        </p:spPr>
        <p:txBody>
          <a:bodyPr wrap="square" lIns="0" tIns="0" rIns="0" bIns="0" rtlCol="0" anchor="ctr"/>
          <a:lstStyle/>
          <a:p>
            <a:pPr indent="0" marL="0">
              <a:buNone/>
            </a:pPr>
            <a:r>
              <a:rPr lang="en-US" sz="860" b="1" spc="100" kern="0" dirty="0">
                <a:solidFill>
                  <a:srgbClr val="2E8B57"/>
                </a:solidFill>
                <a:latin typeface="Calibri" pitchFamily="34" charset="0"/>
                <a:ea typeface="Calibri" pitchFamily="34" charset="-122"/>
                <a:cs typeface="Calibri" pitchFamily="34" charset="-120"/>
              </a:rPr>
              <a:t>ACCEPTANCE CRITERIA</a:t>
            </a:r>
            <a:endParaRPr lang="en-US" sz="860" dirty="0"/>
          </a:p>
        </p:txBody>
      </p:sp>
      <p:sp>
        <p:nvSpPr>
          <p:cNvPr id="11" name="Text 9"/>
          <p:cNvSpPr txBox="1"/>
          <p:nvPr/>
        </p:nvSpPr>
        <p:spPr>
          <a:xfrm>
            <a:off x="749808" y="3840480"/>
            <a:ext cx="3118104" cy="914400"/>
          </a:xfrm>
          <a:prstGeom prst="rect">
            <a:avLst/>
          </a:prstGeom>
          <a:noFill/>
          <a:ln/>
        </p:spPr>
        <p:txBody>
          <a:bodyPr wrap="square" lIns="0" tIns="0" rIns="0" bIns="0" rtlCol="0" anchor="ctr"/>
          <a:lstStyle/>
          <a:p>
            <a:pPr indent="0" marL="0">
              <a:lnSpc>
                <a:spcPct val="112000"/>
              </a:lnSpc>
              <a:buNone/>
            </a:pPr>
            <a:r>
              <a:rPr lang="en-US" sz="930" dirty="0">
                <a:solidFill>
                  <a:srgbClr val="2B2B2B"/>
                </a:solidFill>
                <a:latin typeface="Calibri" pitchFamily="34" charset="0"/>
                <a:ea typeface="Calibri" pitchFamily="34" charset="-122"/>
                <a:cs typeface="Calibri" pitchFamily="34" charset="-120"/>
              </a:rPr>
              <a:t>Given an area's centroid, the correct census tract ID is returned and stored on the area record.</a:t>
            </a:r>
            <a:endParaRPr lang="en-US" sz="930" dirty="0"/>
          </a:p>
        </p:txBody>
      </p:sp>
      <p:sp>
        <p:nvSpPr>
          <p:cNvPr id="12" name="Text 10"/>
          <p:cNvSpPr txBox="1"/>
          <p:nvPr/>
        </p:nvSpPr>
        <p:spPr>
          <a:xfrm>
            <a:off x="749808" y="4791456"/>
            <a:ext cx="3118104" cy="219456"/>
          </a:xfrm>
          <a:prstGeom prst="rect">
            <a:avLst/>
          </a:prstGeom>
          <a:noFill/>
          <a:ln/>
        </p:spPr>
        <p:txBody>
          <a:bodyPr wrap="square" lIns="0" tIns="0" rIns="0" bIns="0" rtlCol="0" anchor="ctr"/>
          <a:lstStyle/>
          <a:p>
            <a:pPr indent="0" marL="0">
              <a:buNone/>
            </a:pPr>
            <a:r>
              <a:rPr lang="en-US" sz="860" b="1" spc="100" kern="0" dirty="0">
                <a:solidFill>
                  <a:srgbClr val="E8543A"/>
                </a:solidFill>
                <a:latin typeface="Calibri" pitchFamily="34" charset="0"/>
                <a:ea typeface="Calibri" pitchFamily="34" charset="-122"/>
                <a:cs typeface="Calibri" pitchFamily="34" charset="-120"/>
              </a:rPr>
              <a:t>DEVELOPMENT TASKS</a:t>
            </a:r>
            <a:endParaRPr lang="en-US" sz="860" dirty="0"/>
          </a:p>
        </p:txBody>
      </p:sp>
      <p:sp>
        <p:nvSpPr>
          <p:cNvPr id="13" name="Text 11"/>
          <p:cNvSpPr/>
          <p:nvPr/>
        </p:nvSpPr>
        <p:spPr>
          <a:xfrm>
            <a:off x="749808" y="5029200"/>
            <a:ext cx="3118104" cy="1143000"/>
          </a:xfrm>
          <a:prstGeom prst="rect">
            <a:avLst/>
          </a:prstGeom>
          <a:noFill/>
          <a:ln/>
        </p:spPr>
        <p:txBody>
          <a:bodyPr wrap="square" lIns="0" tIns="0" rIns="0" bIns="0" rtlCol="0" anchor="t"/>
          <a:lstStyle/>
          <a:p>
            <a:pPr marL="152400" indent="-152400">
              <a:lnSpc>
                <a:spcPct val="108000"/>
              </a:lnSpc>
              <a:buSzPct val="100000"/>
              <a:buChar char="•"/>
            </a:pPr>
            <a:r>
              <a:rPr lang="en-US" sz="890" dirty="0">
                <a:solidFill>
                  <a:srgbClr val="2B2B2B"/>
                </a:solidFill>
                <a:latin typeface="Calibri" pitchFamily="34" charset="0"/>
                <a:ea typeface="Calibri" pitchFamily="34" charset="-122"/>
                <a:cs typeface="Calibri" pitchFamily="34" charset="-120"/>
              </a:rPr>
              <a:t>Implement geocodeToTract(lat, lon) in a new demographicsService.js using the Census Geocoder API</a:t>
            </a:r>
            <a:endParaRPr lang="en-US" sz="890" dirty="0"/>
          </a:p>
          <a:p>
            <a:pPr marL="152400" indent="-152400">
              <a:lnSpc>
                <a:spcPct val="108000"/>
              </a:lnSpc>
              <a:buSzPct val="100000"/>
              <a:buChar char="•"/>
            </a:pPr>
            <a:r>
              <a:rPr lang="en-US" sz="890" dirty="0">
                <a:solidFill>
                  <a:srgbClr val="2B2B2B"/>
                </a:solidFill>
                <a:latin typeface="Calibri" pitchFamily="34" charset="0"/>
                <a:ea typeface="Calibri" pitchFamily="34" charset="-122"/>
                <a:cs typeface="Calibri" pitchFamily="34" charset="-120"/>
              </a:rPr>
              <a:t>Add a census_tract_id column to the areas table (schema.sql migration)</a:t>
            </a:r>
            <a:endParaRPr lang="en-US" sz="890" dirty="0"/>
          </a:p>
          <a:p>
            <a:pPr marL="152400" indent="-152400">
              <a:lnSpc>
                <a:spcPct val="108000"/>
              </a:lnSpc>
              <a:buSzPct val="100000"/>
              <a:buChar char="•"/>
            </a:pPr>
            <a:r>
              <a:rPr lang="en-US" sz="890" dirty="0">
                <a:solidFill>
                  <a:srgbClr val="2B2B2B"/>
                </a:solidFill>
                <a:latin typeface="Calibri" pitchFamily="34" charset="0"/>
                <a:ea typeface="Calibri" pitchFamily="34" charset="-122"/>
                <a:cs typeface="Calibri" pitchFamily="34" charset="-120"/>
              </a:rPr>
              <a:t>Wire the geocode call into recomputeAllRiskScores.js so each area's tract is resolved and stored</a:t>
            </a:r>
            <a:endParaRPr lang="en-US" sz="890" dirty="0"/>
          </a:p>
          <a:p>
            <a:pPr marL="152400" indent="-152400">
              <a:lnSpc>
                <a:spcPct val="108000"/>
              </a:lnSpc>
              <a:buSzPct val="100000"/>
              <a:buChar char="•"/>
            </a:pPr>
            <a:r>
              <a:rPr lang="en-US" sz="890" dirty="0">
                <a:solidFill>
                  <a:srgbClr val="2B2B2B"/>
                </a:solidFill>
                <a:latin typeface="Calibri" pitchFamily="34" charset="0"/>
                <a:ea typeface="Calibri" pitchFamily="34" charset="-122"/>
                <a:cs typeface="Calibri" pitchFamily="34" charset="-120"/>
              </a:rPr>
              <a:t>Handle a geocoder timeout / no-match gracefully (log and skip that area's update)</a:t>
            </a:r>
            <a:endParaRPr lang="en-US" sz="890" dirty="0"/>
          </a:p>
        </p:txBody>
      </p:sp>
      <p:sp>
        <p:nvSpPr>
          <p:cNvPr id="14" name="Shape 12"/>
          <p:cNvSpPr/>
          <p:nvPr/>
        </p:nvSpPr>
        <p:spPr>
          <a:xfrm>
            <a:off x="4434840" y="1389888"/>
            <a:ext cx="3520440" cy="4892040"/>
          </a:xfrm>
          <a:prstGeom prst="roundRect">
            <a:avLst>
              <a:gd name="adj" fmla="val 2338"/>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15" name="Shape 13"/>
          <p:cNvSpPr/>
          <p:nvPr/>
        </p:nvSpPr>
        <p:spPr>
          <a:xfrm>
            <a:off x="4636008" y="1572768"/>
            <a:ext cx="475488" cy="475488"/>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16" name="Text 14"/>
          <p:cNvSpPr txBox="1"/>
          <p:nvPr/>
        </p:nvSpPr>
        <p:spPr>
          <a:xfrm>
            <a:off x="4636008" y="1572768"/>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7" name="Text 15"/>
          <p:cNvSpPr txBox="1"/>
          <p:nvPr/>
        </p:nvSpPr>
        <p:spPr>
          <a:xfrm>
            <a:off x="4636008" y="2066544"/>
            <a:ext cx="475488" cy="201168"/>
          </a:xfrm>
          <a:prstGeom prst="rect">
            <a:avLst/>
          </a:prstGeom>
          <a:noFill/>
          <a:ln/>
        </p:spPr>
        <p:txBody>
          <a:bodyPr wrap="square" lIns="0" tIns="0" rIns="0" bIns="0"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pts</a:t>
            </a:r>
            <a:endParaRPr lang="en-US" sz="800" dirty="0"/>
          </a:p>
        </p:txBody>
      </p:sp>
      <p:sp>
        <p:nvSpPr>
          <p:cNvPr id="18" name="Text 16"/>
          <p:cNvSpPr txBox="1"/>
          <p:nvPr/>
        </p:nvSpPr>
        <p:spPr>
          <a:xfrm>
            <a:off x="5212080" y="1627632"/>
            <a:ext cx="2514600" cy="274320"/>
          </a:xfrm>
          <a:prstGeom prst="rect">
            <a:avLst/>
          </a:prstGeom>
          <a:noFill/>
          <a:ln/>
        </p:spPr>
        <p:txBody>
          <a:bodyPr wrap="square" lIns="0" tIns="0" rIns="0" bIns="0" rtlCol="0" anchor="ctr"/>
          <a:lstStyle/>
          <a:p>
            <a:pPr indent="0" marL="0">
              <a:buNone/>
            </a:pPr>
            <a:r>
              <a:rPr lang="en-US" sz="1250" b="1" dirty="0">
                <a:solidFill>
                  <a:srgbClr val="1E2761"/>
                </a:solidFill>
                <a:latin typeface="Courier New" pitchFamily="34" charset="0"/>
                <a:ea typeface="Courier New" pitchFamily="34" charset="-122"/>
                <a:cs typeface="Courier New" pitchFamily="34" charset="-120"/>
              </a:rPr>
              <a:t>SCRUM-19</a:t>
            </a:r>
            <a:endParaRPr lang="en-US" sz="1250" dirty="0"/>
          </a:p>
        </p:txBody>
      </p:sp>
      <p:sp>
        <p:nvSpPr>
          <p:cNvPr id="19" name="Text 17"/>
          <p:cNvSpPr txBox="1"/>
          <p:nvPr/>
        </p:nvSpPr>
        <p:spPr>
          <a:xfrm>
            <a:off x="4636008" y="2322576"/>
            <a:ext cx="3118104" cy="1234440"/>
          </a:xfrm>
          <a:prstGeom prst="rect">
            <a:avLst/>
          </a:prstGeom>
          <a:noFill/>
          <a:ln/>
        </p:spPr>
        <p:txBody>
          <a:bodyPr wrap="square" lIns="0" tIns="0" rIns="0" bIns="0" rtlCol="0" anchor="ctr"/>
          <a:lstStyle/>
          <a:p>
            <a:pPr indent="0" marL="0">
              <a:lnSpc>
                <a:spcPct val="112000"/>
              </a:lnSpc>
              <a:buNone/>
            </a:pPr>
            <a:r>
              <a:rPr lang="en-US" sz="980" i="1" dirty="0">
                <a:solidFill>
                  <a:srgbClr val="2B2B2B"/>
                </a:solidFill>
                <a:latin typeface="Calibri" pitchFamily="34" charset="0"/>
                <a:ea typeface="Calibri" pitchFamily="34" charset="-122"/>
                <a:cs typeface="Calibri" pitchFamily="34" charset="-120"/>
              </a:rPr>
              <a:t>As a developer, I want ACS API calls that pull pct_elderly and pct_low_income for a resolved census tract, so those fields come from real Census data instead of hand-entered guesses.</a:t>
            </a:r>
            <a:endParaRPr lang="en-US" sz="980" dirty="0"/>
          </a:p>
        </p:txBody>
      </p:sp>
      <p:sp>
        <p:nvSpPr>
          <p:cNvPr id="20" name="Text 18"/>
          <p:cNvSpPr txBox="1"/>
          <p:nvPr/>
        </p:nvSpPr>
        <p:spPr>
          <a:xfrm>
            <a:off x="4636008" y="3602736"/>
            <a:ext cx="3118104" cy="219456"/>
          </a:xfrm>
          <a:prstGeom prst="rect">
            <a:avLst/>
          </a:prstGeom>
          <a:noFill/>
          <a:ln/>
        </p:spPr>
        <p:txBody>
          <a:bodyPr wrap="square" lIns="0" tIns="0" rIns="0" bIns="0" rtlCol="0" anchor="ctr"/>
          <a:lstStyle/>
          <a:p>
            <a:pPr indent="0" marL="0">
              <a:buNone/>
            </a:pPr>
            <a:r>
              <a:rPr lang="en-US" sz="860" b="1" spc="100" kern="0" dirty="0">
                <a:solidFill>
                  <a:srgbClr val="2E8B57"/>
                </a:solidFill>
                <a:latin typeface="Calibri" pitchFamily="34" charset="0"/>
                <a:ea typeface="Calibri" pitchFamily="34" charset="-122"/>
                <a:cs typeface="Calibri" pitchFamily="34" charset="-120"/>
              </a:rPr>
              <a:t>ACCEPTANCE CRITERIA</a:t>
            </a:r>
            <a:endParaRPr lang="en-US" sz="860" dirty="0"/>
          </a:p>
        </p:txBody>
      </p:sp>
      <p:sp>
        <p:nvSpPr>
          <p:cNvPr id="21" name="Text 19"/>
          <p:cNvSpPr txBox="1"/>
          <p:nvPr/>
        </p:nvSpPr>
        <p:spPr>
          <a:xfrm>
            <a:off x="4636008" y="3840480"/>
            <a:ext cx="3118104" cy="914400"/>
          </a:xfrm>
          <a:prstGeom prst="rect">
            <a:avLst/>
          </a:prstGeom>
          <a:noFill/>
          <a:ln/>
        </p:spPr>
        <p:txBody>
          <a:bodyPr wrap="square" lIns="0" tIns="0" rIns="0" bIns="0" rtlCol="0" anchor="ctr"/>
          <a:lstStyle/>
          <a:p>
            <a:pPr indent="0" marL="0">
              <a:lnSpc>
                <a:spcPct val="112000"/>
              </a:lnSpc>
              <a:buNone/>
            </a:pPr>
            <a:r>
              <a:rPr lang="en-US" sz="930" dirty="0">
                <a:solidFill>
                  <a:srgbClr val="2B2B2B"/>
                </a:solidFill>
                <a:latin typeface="Calibri" pitchFamily="34" charset="0"/>
                <a:ea typeface="Calibri" pitchFamily="34" charset="-122"/>
                <a:cs typeface="Calibri" pitchFamily="34" charset="-120"/>
              </a:rPr>
              <a:t>demographicsService.js returns both percentages for a given tract ID, sourced from ACS tables B01001 (age) and S1701 (poverty).</a:t>
            </a:r>
            <a:endParaRPr lang="en-US" sz="930" dirty="0"/>
          </a:p>
        </p:txBody>
      </p:sp>
      <p:sp>
        <p:nvSpPr>
          <p:cNvPr id="22" name="Text 20"/>
          <p:cNvSpPr txBox="1"/>
          <p:nvPr/>
        </p:nvSpPr>
        <p:spPr>
          <a:xfrm>
            <a:off x="4636008" y="4791456"/>
            <a:ext cx="3118104" cy="219456"/>
          </a:xfrm>
          <a:prstGeom prst="rect">
            <a:avLst/>
          </a:prstGeom>
          <a:noFill/>
          <a:ln/>
        </p:spPr>
        <p:txBody>
          <a:bodyPr wrap="square" lIns="0" tIns="0" rIns="0" bIns="0" rtlCol="0" anchor="ctr"/>
          <a:lstStyle/>
          <a:p>
            <a:pPr indent="0" marL="0">
              <a:buNone/>
            </a:pPr>
            <a:r>
              <a:rPr lang="en-US" sz="860" b="1" spc="100" kern="0" dirty="0">
                <a:solidFill>
                  <a:srgbClr val="E8543A"/>
                </a:solidFill>
                <a:latin typeface="Calibri" pitchFamily="34" charset="0"/>
                <a:ea typeface="Calibri" pitchFamily="34" charset="-122"/>
                <a:cs typeface="Calibri" pitchFamily="34" charset="-120"/>
              </a:rPr>
              <a:t>DEVELOPMENT TASKS</a:t>
            </a:r>
            <a:endParaRPr lang="en-US" sz="860" dirty="0"/>
          </a:p>
        </p:txBody>
      </p:sp>
      <p:sp>
        <p:nvSpPr>
          <p:cNvPr id="23" name="Text 21"/>
          <p:cNvSpPr/>
          <p:nvPr/>
        </p:nvSpPr>
        <p:spPr>
          <a:xfrm>
            <a:off x="4636008" y="5029200"/>
            <a:ext cx="3118104" cy="1143000"/>
          </a:xfrm>
          <a:prstGeom prst="rect">
            <a:avLst/>
          </a:prstGeom>
          <a:noFill/>
          <a:ln/>
        </p:spPr>
        <p:txBody>
          <a:bodyPr wrap="square" lIns="0" tIns="0" rIns="0" bIns="0" rtlCol="0" anchor="t"/>
          <a:lstStyle/>
          <a:p>
            <a:pPr marL="152400" indent="-152400">
              <a:lnSpc>
                <a:spcPct val="108000"/>
              </a:lnSpc>
              <a:buSzPct val="100000"/>
              <a:buChar char="•"/>
            </a:pPr>
            <a:r>
              <a:rPr lang="en-US" sz="890" dirty="0">
                <a:solidFill>
                  <a:srgbClr val="2B2B2B"/>
                </a:solidFill>
                <a:latin typeface="Calibri" pitchFamily="34" charset="0"/>
                <a:ea typeface="Calibri" pitchFamily="34" charset="-122"/>
                <a:cs typeface="Calibri" pitchFamily="34" charset="-120"/>
              </a:rPr>
              <a:t>Implement fetchAcsDemographics(tractId) calling the Census ACS 5-Year API</a:t>
            </a:r>
            <a:endParaRPr lang="en-US" sz="890" dirty="0"/>
          </a:p>
          <a:p>
            <a:pPr marL="152400" indent="-152400">
              <a:lnSpc>
                <a:spcPct val="108000"/>
              </a:lnSpc>
              <a:buSzPct val="100000"/>
              <a:buChar char="•"/>
            </a:pPr>
            <a:r>
              <a:rPr lang="en-US" sz="890" dirty="0">
                <a:solidFill>
                  <a:srgbClr val="2B2B2B"/>
                </a:solidFill>
                <a:latin typeface="Calibri" pitchFamily="34" charset="0"/>
                <a:ea typeface="Calibri" pitchFamily="34" charset="-122"/>
                <a:cs typeface="Calibri" pitchFamily="34" charset="-120"/>
              </a:rPr>
              <a:t>Parse B01001 for pct_elderly and S1701 for pct_low_income</a:t>
            </a:r>
            <a:endParaRPr lang="en-US" sz="890" dirty="0"/>
          </a:p>
          <a:p>
            <a:pPr marL="152400" indent="-152400">
              <a:lnSpc>
                <a:spcPct val="108000"/>
              </a:lnSpc>
              <a:buSzPct val="100000"/>
              <a:buChar char="•"/>
            </a:pPr>
            <a:r>
              <a:rPr lang="en-US" sz="890" dirty="0">
                <a:solidFill>
                  <a:srgbClr val="2B2B2B"/>
                </a:solidFill>
                <a:latin typeface="Calibri" pitchFamily="34" charset="0"/>
                <a:ea typeface="Calibri" pitchFamily="34" charset="-122"/>
                <a:cs typeface="Calibri" pitchFamily="34" charset="-120"/>
              </a:rPr>
              <a:t>Update areas.pct_elderly / pct_low_income from the fetched values in the recompute job</a:t>
            </a:r>
            <a:endParaRPr lang="en-US" sz="890" dirty="0"/>
          </a:p>
          <a:p>
            <a:pPr marL="152400" indent="-152400">
              <a:lnSpc>
                <a:spcPct val="108000"/>
              </a:lnSpc>
              <a:buSzPct val="100000"/>
              <a:buChar char="•"/>
            </a:pPr>
            <a:r>
              <a:rPr lang="en-US" sz="890" dirty="0">
                <a:solidFill>
                  <a:srgbClr val="2B2B2B"/>
                </a:solidFill>
                <a:latin typeface="Calibri" pitchFamily="34" charset="0"/>
                <a:ea typeface="Calibri" pitchFamily="34" charset="-122"/>
                <a:cs typeface="Calibri" pitchFamily="34" charset="-120"/>
              </a:rPr>
              <a:t>Add unit tests using a mocked ACS API response</a:t>
            </a:r>
            <a:endParaRPr lang="en-US" sz="890" dirty="0"/>
          </a:p>
        </p:txBody>
      </p:sp>
      <p:sp>
        <p:nvSpPr>
          <p:cNvPr id="24" name="Shape 22"/>
          <p:cNvSpPr/>
          <p:nvPr/>
        </p:nvSpPr>
        <p:spPr>
          <a:xfrm>
            <a:off x="8321040" y="1389888"/>
            <a:ext cx="3520440" cy="4892040"/>
          </a:xfrm>
          <a:prstGeom prst="roundRect">
            <a:avLst>
              <a:gd name="adj" fmla="val 2338"/>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25" name="Shape 23"/>
          <p:cNvSpPr/>
          <p:nvPr/>
        </p:nvSpPr>
        <p:spPr>
          <a:xfrm>
            <a:off x="8522208" y="1572768"/>
            <a:ext cx="475488" cy="475488"/>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26" name="Text 24"/>
          <p:cNvSpPr txBox="1"/>
          <p:nvPr/>
        </p:nvSpPr>
        <p:spPr>
          <a:xfrm>
            <a:off x="8522208" y="1572768"/>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7" name="Text 25"/>
          <p:cNvSpPr txBox="1"/>
          <p:nvPr/>
        </p:nvSpPr>
        <p:spPr>
          <a:xfrm>
            <a:off x="8522208" y="2066544"/>
            <a:ext cx="475488" cy="201168"/>
          </a:xfrm>
          <a:prstGeom prst="rect">
            <a:avLst/>
          </a:prstGeom>
          <a:noFill/>
          <a:ln/>
        </p:spPr>
        <p:txBody>
          <a:bodyPr wrap="square" lIns="0" tIns="0" rIns="0" bIns="0"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pts</a:t>
            </a:r>
            <a:endParaRPr lang="en-US" sz="800" dirty="0"/>
          </a:p>
        </p:txBody>
      </p:sp>
      <p:sp>
        <p:nvSpPr>
          <p:cNvPr id="28" name="Text 26"/>
          <p:cNvSpPr txBox="1"/>
          <p:nvPr/>
        </p:nvSpPr>
        <p:spPr>
          <a:xfrm>
            <a:off x="9098280" y="1627632"/>
            <a:ext cx="2514600" cy="274320"/>
          </a:xfrm>
          <a:prstGeom prst="rect">
            <a:avLst/>
          </a:prstGeom>
          <a:noFill/>
          <a:ln/>
        </p:spPr>
        <p:txBody>
          <a:bodyPr wrap="square" lIns="0" tIns="0" rIns="0" bIns="0" rtlCol="0" anchor="ctr"/>
          <a:lstStyle/>
          <a:p>
            <a:pPr indent="0" marL="0">
              <a:buNone/>
            </a:pPr>
            <a:r>
              <a:rPr lang="en-US" sz="1250" b="1" dirty="0">
                <a:solidFill>
                  <a:srgbClr val="1E2761"/>
                </a:solidFill>
                <a:latin typeface="Courier New" pitchFamily="34" charset="0"/>
                <a:ea typeface="Courier New" pitchFamily="34" charset="-122"/>
                <a:cs typeface="Courier New" pitchFamily="34" charset="-120"/>
              </a:rPr>
              <a:t>SCRUM-20</a:t>
            </a:r>
            <a:endParaRPr lang="en-US" sz="1250" dirty="0"/>
          </a:p>
        </p:txBody>
      </p:sp>
      <p:sp>
        <p:nvSpPr>
          <p:cNvPr id="29" name="Text 27"/>
          <p:cNvSpPr txBox="1"/>
          <p:nvPr/>
        </p:nvSpPr>
        <p:spPr>
          <a:xfrm>
            <a:off x="8522208" y="2322576"/>
            <a:ext cx="3118104" cy="1234440"/>
          </a:xfrm>
          <a:prstGeom prst="rect">
            <a:avLst/>
          </a:prstGeom>
          <a:noFill/>
          <a:ln/>
        </p:spPr>
        <p:txBody>
          <a:bodyPr wrap="square" lIns="0" tIns="0" rIns="0" bIns="0" rtlCol="0" anchor="ctr"/>
          <a:lstStyle/>
          <a:p>
            <a:pPr indent="0" marL="0">
              <a:lnSpc>
                <a:spcPct val="112000"/>
              </a:lnSpc>
              <a:buNone/>
            </a:pPr>
            <a:r>
              <a:rPr lang="en-US" sz="980" i="1" dirty="0">
                <a:solidFill>
                  <a:srgbClr val="2B2B2B"/>
                </a:solidFill>
                <a:latin typeface="Calibri" pitchFamily="34" charset="0"/>
                <a:ea typeface="Calibri" pitchFamily="34" charset="-122"/>
                <a:cs typeface="Calibri" pitchFamily="34" charset="-120"/>
              </a:rPr>
              <a:t>As a developer, I want tract/demographic lookups cached with a long TTL, so we don't re-hit the Census APIs for data that barely changes year to year.</a:t>
            </a:r>
            <a:endParaRPr lang="en-US" sz="980" dirty="0"/>
          </a:p>
        </p:txBody>
      </p:sp>
      <p:sp>
        <p:nvSpPr>
          <p:cNvPr id="30" name="Text 28"/>
          <p:cNvSpPr txBox="1"/>
          <p:nvPr/>
        </p:nvSpPr>
        <p:spPr>
          <a:xfrm>
            <a:off x="8522208" y="3602736"/>
            <a:ext cx="3118104" cy="219456"/>
          </a:xfrm>
          <a:prstGeom prst="rect">
            <a:avLst/>
          </a:prstGeom>
          <a:noFill/>
          <a:ln/>
        </p:spPr>
        <p:txBody>
          <a:bodyPr wrap="square" lIns="0" tIns="0" rIns="0" bIns="0" rtlCol="0" anchor="ctr"/>
          <a:lstStyle/>
          <a:p>
            <a:pPr indent="0" marL="0">
              <a:buNone/>
            </a:pPr>
            <a:r>
              <a:rPr lang="en-US" sz="860" b="1" spc="100" kern="0" dirty="0">
                <a:solidFill>
                  <a:srgbClr val="2E8B57"/>
                </a:solidFill>
                <a:latin typeface="Calibri" pitchFamily="34" charset="0"/>
                <a:ea typeface="Calibri" pitchFamily="34" charset="-122"/>
                <a:cs typeface="Calibri" pitchFamily="34" charset="-120"/>
              </a:rPr>
              <a:t>ACCEPTANCE CRITERIA</a:t>
            </a:r>
            <a:endParaRPr lang="en-US" sz="860" dirty="0"/>
          </a:p>
        </p:txBody>
      </p:sp>
      <p:sp>
        <p:nvSpPr>
          <p:cNvPr id="31" name="Text 29"/>
          <p:cNvSpPr txBox="1"/>
          <p:nvPr/>
        </p:nvSpPr>
        <p:spPr>
          <a:xfrm>
            <a:off x="8522208" y="3840480"/>
            <a:ext cx="3118104" cy="914400"/>
          </a:xfrm>
          <a:prstGeom prst="rect">
            <a:avLst/>
          </a:prstGeom>
          <a:noFill/>
          <a:ln/>
        </p:spPr>
        <p:txBody>
          <a:bodyPr wrap="square" lIns="0" tIns="0" rIns="0" bIns="0" rtlCol="0" anchor="ctr"/>
          <a:lstStyle/>
          <a:p>
            <a:pPr indent="0" marL="0">
              <a:lnSpc>
                <a:spcPct val="112000"/>
              </a:lnSpc>
              <a:buNone/>
            </a:pPr>
            <a:r>
              <a:rPr lang="en-US" sz="930" dirty="0">
                <a:solidFill>
                  <a:srgbClr val="2B2B2B"/>
                </a:solidFill>
                <a:latin typeface="Calibri" pitchFamily="34" charset="0"/>
                <a:ea typeface="Calibri" pitchFamily="34" charset="-122"/>
                <a:cs typeface="Calibri" pitchFamily="34" charset="-120"/>
              </a:rPr>
              <a:t>A tract's resolved ID and its ACS figures are reused from cache across recompute runs within the TTL window.</a:t>
            </a:r>
            <a:endParaRPr lang="en-US" sz="930" dirty="0"/>
          </a:p>
        </p:txBody>
      </p:sp>
      <p:sp>
        <p:nvSpPr>
          <p:cNvPr id="32" name="Text 30"/>
          <p:cNvSpPr txBox="1"/>
          <p:nvPr/>
        </p:nvSpPr>
        <p:spPr>
          <a:xfrm>
            <a:off x="8522208" y="4791456"/>
            <a:ext cx="3118104" cy="219456"/>
          </a:xfrm>
          <a:prstGeom prst="rect">
            <a:avLst/>
          </a:prstGeom>
          <a:noFill/>
          <a:ln/>
        </p:spPr>
        <p:txBody>
          <a:bodyPr wrap="square" lIns="0" tIns="0" rIns="0" bIns="0" rtlCol="0" anchor="ctr"/>
          <a:lstStyle/>
          <a:p>
            <a:pPr indent="0" marL="0">
              <a:buNone/>
            </a:pPr>
            <a:r>
              <a:rPr lang="en-US" sz="860" b="1" spc="100" kern="0" dirty="0">
                <a:solidFill>
                  <a:srgbClr val="E8543A"/>
                </a:solidFill>
                <a:latin typeface="Calibri" pitchFamily="34" charset="0"/>
                <a:ea typeface="Calibri" pitchFamily="34" charset="-122"/>
                <a:cs typeface="Calibri" pitchFamily="34" charset="-120"/>
              </a:rPr>
              <a:t>DEVELOPMENT TASKS</a:t>
            </a:r>
            <a:endParaRPr lang="en-US" sz="860" dirty="0"/>
          </a:p>
        </p:txBody>
      </p:sp>
      <p:sp>
        <p:nvSpPr>
          <p:cNvPr id="33" name="Text 31"/>
          <p:cNvSpPr/>
          <p:nvPr/>
        </p:nvSpPr>
        <p:spPr>
          <a:xfrm>
            <a:off x="8522208" y="5029200"/>
            <a:ext cx="3118104" cy="1143000"/>
          </a:xfrm>
          <a:prstGeom prst="rect">
            <a:avLst/>
          </a:prstGeom>
          <a:noFill/>
          <a:ln/>
        </p:spPr>
        <p:txBody>
          <a:bodyPr wrap="square" lIns="0" tIns="0" rIns="0" bIns="0" rtlCol="0" anchor="t"/>
          <a:lstStyle/>
          <a:p>
            <a:pPr marL="152400" indent="-152400">
              <a:lnSpc>
                <a:spcPct val="108000"/>
              </a:lnSpc>
              <a:buSzPct val="100000"/>
              <a:buChar char="•"/>
            </a:pPr>
            <a:r>
              <a:rPr lang="en-US" sz="890" dirty="0">
                <a:solidFill>
                  <a:srgbClr val="2B2B2B"/>
                </a:solidFill>
                <a:latin typeface="Calibri" pitchFamily="34" charset="0"/>
                <a:ea typeface="Calibri" pitchFamily="34" charset="-122"/>
                <a:cs typeface="Calibri" pitchFamily="34" charset="-120"/>
              </a:rPr>
              <a:t>Add a lightweight cache layer keyed by area/tract with a long TTL (e.g. 90 days)</a:t>
            </a:r>
            <a:endParaRPr lang="en-US" sz="890" dirty="0"/>
          </a:p>
          <a:p>
            <a:pPr marL="152400" indent="-152400">
              <a:lnSpc>
                <a:spcPct val="108000"/>
              </a:lnSpc>
              <a:buSzPct val="100000"/>
              <a:buChar char="•"/>
            </a:pPr>
            <a:r>
              <a:rPr lang="en-US" sz="890" dirty="0">
                <a:solidFill>
                  <a:srgbClr val="2B2B2B"/>
                </a:solidFill>
                <a:latin typeface="Calibri" pitchFamily="34" charset="0"/>
                <a:ea typeface="Calibri" pitchFamily="34" charset="-122"/>
                <a:cs typeface="Calibri" pitchFamily="34" charset="-120"/>
              </a:rPr>
              <a:t>Wire geocodeToTract() and fetchAcsDemographics() to check/populate the cache first</a:t>
            </a:r>
            <a:endParaRPr lang="en-US" sz="890" dirty="0"/>
          </a:p>
          <a:p>
            <a:pPr marL="152400" indent="-152400">
              <a:lnSpc>
                <a:spcPct val="108000"/>
              </a:lnSpc>
              <a:buSzPct val="100000"/>
              <a:buChar char="•"/>
            </a:pPr>
            <a:r>
              <a:rPr lang="en-US" sz="890" dirty="0">
                <a:solidFill>
                  <a:srgbClr val="2B2B2B"/>
                </a:solidFill>
                <a:latin typeface="Calibri" pitchFamily="34" charset="0"/>
                <a:ea typeface="Calibri" pitchFamily="34" charset="-122"/>
                <a:cs typeface="Calibri" pitchFamily="34" charset="-120"/>
              </a:rPr>
              <a:t>Add a cache-bypass flag for manual recompute testing</a:t>
            </a:r>
            <a:endParaRPr lang="en-US" sz="890" dirty="0"/>
          </a:p>
        </p:txBody>
      </p:sp>
      <p:sp>
        <p:nvSpPr>
          <p:cNvPr id="34" name="Text 32"/>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CINS 5338/5388 — Software Project Management</a:t>
            </a:r>
            <a:endParaRPr lang="en-US" sz="900" dirty="0"/>
          </a:p>
        </p:txBody>
      </p:sp>
      <p:sp>
        <p:nvSpPr>
          <p:cNvPr id="35" name="Text 33"/>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SCRUM-11 · 2 OF 2 · ACCEPTANCE CRITERIA &amp; DEVELOPMENT TASKS</a:t>
            </a:r>
            <a:endParaRPr lang="en-US" sz="1250" dirty="0"/>
          </a:p>
        </p:txBody>
      </p:sp>
      <p:sp>
        <p:nvSpPr>
          <p:cNvPr id="3" name="Text 1"/>
          <p:cNvSpPr txBox="1"/>
          <p:nvPr/>
        </p:nvSpPr>
        <p:spPr>
          <a:xfrm>
            <a:off x="548640" y="59436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Sprint 2 Stories — Demographic Integration</a:t>
            </a:r>
            <a:endParaRPr lang="en-US" sz="3000" dirty="0"/>
          </a:p>
        </p:txBody>
      </p:sp>
      <p:sp>
        <p:nvSpPr>
          <p:cNvPr id="4" name="Shape 2"/>
          <p:cNvSpPr/>
          <p:nvPr/>
        </p:nvSpPr>
        <p:spPr>
          <a:xfrm>
            <a:off x="548640" y="1389888"/>
            <a:ext cx="5257800" cy="4892040"/>
          </a:xfrm>
          <a:prstGeom prst="roundRect">
            <a:avLst>
              <a:gd name="adj" fmla="val 1682"/>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5" name="Shape 3"/>
          <p:cNvSpPr/>
          <p:nvPr/>
        </p:nvSpPr>
        <p:spPr>
          <a:xfrm>
            <a:off x="749808" y="1572768"/>
            <a:ext cx="475488" cy="475488"/>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6" name="Text 4"/>
          <p:cNvSpPr txBox="1"/>
          <p:nvPr/>
        </p:nvSpPr>
        <p:spPr>
          <a:xfrm>
            <a:off x="749808" y="1572768"/>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749808" y="2066544"/>
            <a:ext cx="475488" cy="201168"/>
          </a:xfrm>
          <a:prstGeom prst="rect">
            <a:avLst/>
          </a:prstGeom>
          <a:noFill/>
          <a:ln/>
        </p:spPr>
        <p:txBody>
          <a:bodyPr wrap="square" lIns="0" tIns="0" rIns="0" bIns="0"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pts</a:t>
            </a:r>
            <a:endParaRPr lang="en-US" sz="800" dirty="0"/>
          </a:p>
        </p:txBody>
      </p:sp>
      <p:sp>
        <p:nvSpPr>
          <p:cNvPr id="8" name="Text 6"/>
          <p:cNvSpPr txBox="1"/>
          <p:nvPr/>
        </p:nvSpPr>
        <p:spPr>
          <a:xfrm>
            <a:off x="1325880" y="1627632"/>
            <a:ext cx="4251960" cy="274320"/>
          </a:xfrm>
          <a:prstGeom prst="rect">
            <a:avLst/>
          </a:prstGeom>
          <a:noFill/>
          <a:ln/>
        </p:spPr>
        <p:txBody>
          <a:bodyPr wrap="square" lIns="0" tIns="0" rIns="0" bIns="0" rtlCol="0" anchor="ctr"/>
          <a:lstStyle/>
          <a:p>
            <a:pPr indent="0" marL="0">
              <a:buNone/>
            </a:pPr>
            <a:r>
              <a:rPr lang="en-US" sz="1250" b="1" dirty="0">
                <a:solidFill>
                  <a:srgbClr val="1E2761"/>
                </a:solidFill>
                <a:latin typeface="Courier New" pitchFamily="34" charset="0"/>
                <a:ea typeface="Courier New" pitchFamily="34" charset="-122"/>
                <a:cs typeface="Courier New" pitchFamily="34" charset="-120"/>
              </a:rPr>
              <a:t>SCRUM-21</a:t>
            </a:r>
            <a:endParaRPr lang="en-US" sz="1250" dirty="0"/>
          </a:p>
        </p:txBody>
      </p:sp>
      <p:sp>
        <p:nvSpPr>
          <p:cNvPr id="9" name="Text 7"/>
          <p:cNvSpPr txBox="1"/>
          <p:nvPr/>
        </p:nvSpPr>
        <p:spPr>
          <a:xfrm>
            <a:off x="749808" y="2322576"/>
            <a:ext cx="4855464" cy="1234440"/>
          </a:xfrm>
          <a:prstGeom prst="rect">
            <a:avLst/>
          </a:prstGeom>
          <a:noFill/>
          <a:ln/>
        </p:spPr>
        <p:txBody>
          <a:bodyPr wrap="square" lIns="0" tIns="0" rIns="0" bIns="0" rtlCol="0" anchor="ctr"/>
          <a:lstStyle/>
          <a:p>
            <a:pPr indent="0" marL="0">
              <a:lnSpc>
                <a:spcPct val="112000"/>
              </a:lnSpc>
              <a:buNone/>
            </a:pPr>
            <a:r>
              <a:rPr lang="en-US" sz="980" i="1" dirty="0">
                <a:solidFill>
                  <a:srgbClr val="2B2B2B"/>
                </a:solidFill>
                <a:latin typeface="Calibri" pitchFamily="34" charset="0"/>
                <a:ea typeface="Calibri" pitchFamily="34" charset="-122"/>
                <a:cs typeface="Calibri" pitchFamily="34" charset="-120"/>
              </a:rPr>
              <a:t>As a developer, I want a fallback to an area's last-known-good demographic values when the Census APIs are down, so one flaky external service doesn't break scoring entirely.</a:t>
            </a:r>
            <a:endParaRPr lang="en-US" sz="980" dirty="0"/>
          </a:p>
        </p:txBody>
      </p:sp>
      <p:sp>
        <p:nvSpPr>
          <p:cNvPr id="10" name="Text 8"/>
          <p:cNvSpPr txBox="1"/>
          <p:nvPr/>
        </p:nvSpPr>
        <p:spPr>
          <a:xfrm>
            <a:off x="749808" y="3602736"/>
            <a:ext cx="4855464" cy="219456"/>
          </a:xfrm>
          <a:prstGeom prst="rect">
            <a:avLst/>
          </a:prstGeom>
          <a:noFill/>
          <a:ln/>
        </p:spPr>
        <p:txBody>
          <a:bodyPr wrap="square" lIns="0" tIns="0" rIns="0" bIns="0" rtlCol="0" anchor="ctr"/>
          <a:lstStyle/>
          <a:p>
            <a:pPr indent="0" marL="0">
              <a:buNone/>
            </a:pPr>
            <a:r>
              <a:rPr lang="en-US" sz="860" b="1" spc="100" kern="0" dirty="0">
                <a:solidFill>
                  <a:srgbClr val="2E8B57"/>
                </a:solidFill>
                <a:latin typeface="Calibri" pitchFamily="34" charset="0"/>
                <a:ea typeface="Calibri" pitchFamily="34" charset="-122"/>
                <a:cs typeface="Calibri" pitchFamily="34" charset="-120"/>
              </a:rPr>
              <a:t>ACCEPTANCE CRITERIA</a:t>
            </a:r>
            <a:endParaRPr lang="en-US" sz="860" dirty="0"/>
          </a:p>
        </p:txBody>
      </p:sp>
      <p:sp>
        <p:nvSpPr>
          <p:cNvPr id="11" name="Text 9"/>
          <p:cNvSpPr txBox="1"/>
          <p:nvPr/>
        </p:nvSpPr>
        <p:spPr>
          <a:xfrm>
            <a:off x="749808" y="3840480"/>
            <a:ext cx="4855464" cy="914400"/>
          </a:xfrm>
          <a:prstGeom prst="rect">
            <a:avLst/>
          </a:prstGeom>
          <a:noFill/>
          <a:ln/>
        </p:spPr>
        <p:txBody>
          <a:bodyPr wrap="square" lIns="0" tIns="0" rIns="0" bIns="0" rtlCol="0" anchor="ctr"/>
          <a:lstStyle/>
          <a:p>
            <a:pPr indent="0" marL="0">
              <a:lnSpc>
                <a:spcPct val="112000"/>
              </a:lnSpc>
              <a:buNone/>
            </a:pPr>
            <a:r>
              <a:rPr lang="en-US" sz="930" dirty="0">
                <a:solidFill>
                  <a:srgbClr val="2B2B2B"/>
                </a:solidFill>
                <a:latin typeface="Calibri" pitchFamily="34" charset="0"/>
                <a:ea typeface="Calibri" pitchFamily="34" charset="-122"/>
                <a:cs typeface="Calibri" pitchFamily="34" charset="-120"/>
              </a:rPr>
              <a:t>On fetch failure, the area keeps its previous demographic values and logs the failure rather than erroring out.</a:t>
            </a:r>
            <a:endParaRPr lang="en-US" sz="930" dirty="0"/>
          </a:p>
        </p:txBody>
      </p:sp>
      <p:sp>
        <p:nvSpPr>
          <p:cNvPr id="12" name="Text 10"/>
          <p:cNvSpPr txBox="1"/>
          <p:nvPr/>
        </p:nvSpPr>
        <p:spPr>
          <a:xfrm>
            <a:off x="749808" y="4791456"/>
            <a:ext cx="4855464" cy="219456"/>
          </a:xfrm>
          <a:prstGeom prst="rect">
            <a:avLst/>
          </a:prstGeom>
          <a:noFill/>
          <a:ln/>
        </p:spPr>
        <p:txBody>
          <a:bodyPr wrap="square" lIns="0" tIns="0" rIns="0" bIns="0" rtlCol="0" anchor="ctr"/>
          <a:lstStyle/>
          <a:p>
            <a:pPr indent="0" marL="0">
              <a:buNone/>
            </a:pPr>
            <a:r>
              <a:rPr lang="en-US" sz="860" b="1" spc="100" kern="0" dirty="0">
                <a:solidFill>
                  <a:srgbClr val="E8543A"/>
                </a:solidFill>
                <a:latin typeface="Calibri" pitchFamily="34" charset="0"/>
                <a:ea typeface="Calibri" pitchFamily="34" charset="-122"/>
                <a:cs typeface="Calibri" pitchFamily="34" charset="-120"/>
              </a:rPr>
              <a:t>DEVELOPMENT TASKS</a:t>
            </a:r>
            <a:endParaRPr lang="en-US" sz="860" dirty="0"/>
          </a:p>
        </p:txBody>
      </p:sp>
      <p:sp>
        <p:nvSpPr>
          <p:cNvPr id="13" name="Text 11"/>
          <p:cNvSpPr/>
          <p:nvPr/>
        </p:nvSpPr>
        <p:spPr>
          <a:xfrm>
            <a:off x="749808" y="5029200"/>
            <a:ext cx="4855464" cy="1143000"/>
          </a:xfrm>
          <a:prstGeom prst="rect">
            <a:avLst/>
          </a:prstGeom>
          <a:noFill/>
          <a:ln/>
        </p:spPr>
        <p:txBody>
          <a:bodyPr wrap="square" lIns="0" tIns="0" rIns="0" bIns="0" rtlCol="0" anchor="t"/>
          <a:lstStyle/>
          <a:p>
            <a:pPr marL="152400" indent="-152400">
              <a:lnSpc>
                <a:spcPct val="108000"/>
              </a:lnSpc>
              <a:buSzPct val="100000"/>
              <a:buChar char="•"/>
            </a:pPr>
            <a:r>
              <a:rPr lang="en-US" sz="890" dirty="0">
                <a:solidFill>
                  <a:srgbClr val="2B2B2B"/>
                </a:solidFill>
                <a:latin typeface="Calibri" pitchFamily="34" charset="0"/>
                <a:ea typeface="Calibri" pitchFamily="34" charset="-122"/>
                <a:cs typeface="Calibri" pitchFamily="34" charset="-120"/>
              </a:rPr>
              <a:t>Wrap demographicsService calls in try/catch inside recomputeAllRiskScores.js</a:t>
            </a:r>
            <a:endParaRPr lang="en-US" sz="890" dirty="0"/>
          </a:p>
          <a:p>
            <a:pPr marL="152400" indent="-152400">
              <a:lnSpc>
                <a:spcPct val="108000"/>
              </a:lnSpc>
              <a:buSzPct val="100000"/>
              <a:buChar char="•"/>
            </a:pPr>
            <a:r>
              <a:rPr lang="en-US" sz="890" dirty="0">
                <a:solidFill>
                  <a:srgbClr val="2B2B2B"/>
                </a:solidFill>
                <a:latin typeface="Calibri" pitchFamily="34" charset="0"/>
                <a:ea typeface="Calibri" pitchFamily="34" charset="-122"/>
                <a:cs typeface="Calibri" pitchFamily="34" charset="-120"/>
              </a:rPr>
              <a:t>On failure, retain existing pct_elderly / pct_low_income and log a warning with the area id + error</a:t>
            </a:r>
            <a:endParaRPr lang="en-US" sz="890" dirty="0"/>
          </a:p>
          <a:p>
            <a:pPr marL="152400" indent="-152400">
              <a:lnSpc>
                <a:spcPct val="108000"/>
              </a:lnSpc>
              <a:buSzPct val="100000"/>
              <a:buChar char="•"/>
            </a:pPr>
            <a:r>
              <a:rPr lang="en-US" sz="890" dirty="0">
                <a:solidFill>
                  <a:srgbClr val="2B2B2B"/>
                </a:solidFill>
                <a:latin typeface="Calibri" pitchFamily="34" charset="0"/>
                <a:ea typeface="Calibri" pitchFamily="34" charset="-122"/>
                <a:cs typeface="Calibri" pitchFamily="34" charset="-120"/>
              </a:rPr>
              <a:t>Ensure one area's failure doesn't abort the batch job for the remaining areas</a:t>
            </a:r>
            <a:endParaRPr lang="en-US" sz="890" dirty="0"/>
          </a:p>
        </p:txBody>
      </p:sp>
      <p:sp>
        <p:nvSpPr>
          <p:cNvPr id="14" name="Shape 12"/>
          <p:cNvSpPr/>
          <p:nvPr/>
        </p:nvSpPr>
        <p:spPr>
          <a:xfrm>
            <a:off x="6355080" y="1389888"/>
            <a:ext cx="5257800" cy="4892040"/>
          </a:xfrm>
          <a:prstGeom prst="roundRect">
            <a:avLst>
              <a:gd name="adj" fmla="val 1682"/>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15" name="Shape 13"/>
          <p:cNvSpPr/>
          <p:nvPr/>
        </p:nvSpPr>
        <p:spPr>
          <a:xfrm>
            <a:off x="6556248" y="1572768"/>
            <a:ext cx="475488" cy="475488"/>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16" name="Text 14"/>
          <p:cNvSpPr txBox="1"/>
          <p:nvPr/>
        </p:nvSpPr>
        <p:spPr>
          <a:xfrm>
            <a:off x="6556248" y="1572768"/>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5"/>
          <p:cNvSpPr txBox="1"/>
          <p:nvPr/>
        </p:nvSpPr>
        <p:spPr>
          <a:xfrm>
            <a:off x="6556248" y="2066544"/>
            <a:ext cx="475488" cy="201168"/>
          </a:xfrm>
          <a:prstGeom prst="rect">
            <a:avLst/>
          </a:prstGeom>
          <a:noFill/>
          <a:ln/>
        </p:spPr>
        <p:txBody>
          <a:bodyPr wrap="square" lIns="0" tIns="0" rIns="0" bIns="0"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pts</a:t>
            </a:r>
            <a:endParaRPr lang="en-US" sz="800" dirty="0"/>
          </a:p>
        </p:txBody>
      </p:sp>
      <p:sp>
        <p:nvSpPr>
          <p:cNvPr id="18" name="Text 16"/>
          <p:cNvSpPr txBox="1"/>
          <p:nvPr/>
        </p:nvSpPr>
        <p:spPr>
          <a:xfrm>
            <a:off x="7132320" y="1627632"/>
            <a:ext cx="4251960" cy="274320"/>
          </a:xfrm>
          <a:prstGeom prst="rect">
            <a:avLst/>
          </a:prstGeom>
          <a:noFill/>
          <a:ln/>
        </p:spPr>
        <p:txBody>
          <a:bodyPr wrap="square" lIns="0" tIns="0" rIns="0" bIns="0" rtlCol="0" anchor="ctr"/>
          <a:lstStyle/>
          <a:p>
            <a:pPr indent="0" marL="0">
              <a:buNone/>
            </a:pPr>
            <a:r>
              <a:rPr lang="en-US" sz="1250" b="1" dirty="0">
                <a:solidFill>
                  <a:srgbClr val="1E2761"/>
                </a:solidFill>
                <a:latin typeface="Courier New" pitchFamily="34" charset="0"/>
                <a:ea typeface="Courier New" pitchFamily="34" charset="-122"/>
                <a:cs typeface="Courier New" pitchFamily="34" charset="-120"/>
              </a:rPr>
              <a:t>SCRUM-22</a:t>
            </a:r>
            <a:endParaRPr lang="en-US" sz="1250" dirty="0"/>
          </a:p>
        </p:txBody>
      </p:sp>
      <p:sp>
        <p:nvSpPr>
          <p:cNvPr id="19" name="Text 17"/>
          <p:cNvSpPr txBox="1"/>
          <p:nvPr/>
        </p:nvSpPr>
        <p:spPr>
          <a:xfrm>
            <a:off x="6556248" y="2322576"/>
            <a:ext cx="4855464" cy="1234440"/>
          </a:xfrm>
          <a:prstGeom prst="rect">
            <a:avLst/>
          </a:prstGeom>
          <a:noFill/>
          <a:ln/>
        </p:spPr>
        <p:txBody>
          <a:bodyPr wrap="square" lIns="0" tIns="0" rIns="0" bIns="0" rtlCol="0" anchor="ctr"/>
          <a:lstStyle/>
          <a:p>
            <a:pPr indent="0" marL="0">
              <a:lnSpc>
                <a:spcPct val="112000"/>
              </a:lnSpc>
              <a:buNone/>
            </a:pPr>
            <a:r>
              <a:rPr lang="en-US" sz="980" i="1" dirty="0">
                <a:solidFill>
                  <a:srgbClr val="2B2B2B"/>
                </a:solidFill>
                <a:latin typeface="Calibri" pitchFamily="34" charset="0"/>
                <a:ea typeface="Calibri" pitchFamily="34" charset="-122"/>
                <a:cs typeface="Calibri" pitchFamily="34" charset="-120"/>
              </a:rPr>
              <a:t>As a team, we want an honest, documented plan for pct_no_ac (air conditioning access), since no free live API provides it at the tract level, so this gap doesn't quietly become fabricated data.</a:t>
            </a:r>
            <a:endParaRPr lang="en-US" sz="980" dirty="0"/>
          </a:p>
        </p:txBody>
      </p:sp>
      <p:sp>
        <p:nvSpPr>
          <p:cNvPr id="20" name="Text 18"/>
          <p:cNvSpPr txBox="1"/>
          <p:nvPr/>
        </p:nvSpPr>
        <p:spPr>
          <a:xfrm>
            <a:off x="6556248" y="3602736"/>
            <a:ext cx="4855464" cy="219456"/>
          </a:xfrm>
          <a:prstGeom prst="rect">
            <a:avLst/>
          </a:prstGeom>
          <a:noFill/>
          <a:ln/>
        </p:spPr>
        <p:txBody>
          <a:bodyPr wrap="square" lIns="0" tIns="0" rIns="0" bIns="0" rtlCol="0" anchor="ctr"/>
          <a:lstStyle/>
          <a:p>
            <a:pPr indent="0" marL="0">
              <a:buNone/>
            </a:pPr>
            <a:r>
              <a:rPr lang="en-US" sz="860" b="1" spc="100" kern="0" dirty="0">
                <a:solidFill>
                  <a:srgbClr val="2E8B57"/>
                </a:solidFill>
                <a:latin typeface="Calibri" pitchFamily="34" charset="0"/>
                <a:ea typeface="Calibri" pitchFamily="34" charset="-122"/>
                <a:cs typeface="Calibri" pitchFamily="34" charset="-120"/>
              </a:rPr>
              <a:t>ACCEPTANCE CRITERIA</a:t>
            </a:r>
            <a:endParaRPr lang="en-US" sz="860" dirty="0"/>
          </a:p>
        </p:txBody>
      </p:sp>
      <p:sp>
        <p:nvSpPr>
          <p:cNvPr id="21" name="Text 19"/>
          <p:cNvSpPr txBox="1"/>
          <p:nvPr/>
        </p:nvSpPr>
        <p:spPr>
          <a:xfrm>
            <a:off x="6556248" y="3840480"/>
            <a:ext cx="4855464" cy="914400"/>
          </a:xfrm>
          <a:prstGeom prst="rect">
            <a:avLst/>
          </a:prstGeom>
          <a:noFill/>
          <a:ln/>
        </p:spPr>
        <p:txBody>
          <a:bodyPr wrap="square" lIns="0" tIns="0" rIns="0" bIns="0" rtlCol="0" anchor="ctr"/>
          <a:lstStyle/>
          <a:p>
            <a:pPr indent="0" marL="0">
              <a:lnSpc>
                <a:spcPct val="112000"/>
              </a:lnSpc>
              <a:buNone/>
            </a:pPr>
            <a:r>
              <a:rPr lang="en-US" sz="930" dirty="0">
                <a:solidFill>
                  <a:srgbClr val="2B2B2B"/>
                </a:solidFill>
                <a:latin typeface="Calibri" pitchFamily="34" charset="0"/>
                <a:ea typeface="Calibri" pitchFamily="34" charset="-122"/>
                <a:cs typeface="Calibri" pitchFamily="34" charset="-120"/>
              </a:rPr>
              <a:t>Doc explains the chosen approach for pct_no_ac (e.g. ingesting the CDC Heat &amp; Health Index dataset, or a manually-maintained field) and its refresh cadence.</a:t>
            </a:r>
            <a:endParaRPr lang="en-US" sz="930" dirty="0"/>
          </a:p>
        </p:txBody>
      </p:sp>
      <p:sp>
        <p:nvSpPr>
          <p:cNvPr id="22" name="Text 20"/>
          <p:cNvSpPr txBox="1"/>
          <p:nvPr/>
        </p:nvSpPr>
        <p:spPr>
          <a:xfrm>
            <a:off x="6556248" y="4791456"/>
            <a:ext cx="4855464" cy="219456"/>
          </a:xfrm>
          <a:prstGeom prst="rect">
            <a:avLst/>
          </a:prstGeom>
          <a:noFill/>
          <a:ln/>
        </p:spPr>
        <p:txBody>
          <a:bodyPr wrap="square" lIns="0" tIns="0" rIns="0" bIns="0" rtlCol="0" anchor="ctr"/>
          <a:lstStyle/>
          <a:p>
            <a:pPr indent="0" marL="0">
              <a:buNone/>
            </a:pPr>
            <a:r>
              <a:rPr lang="en-US" sz="860" b="1" spc="100" kern="0" dirty="0">
                <a:solidFill>
                  <a:srgbClr val="E8543A"/>
                </a:solidFill>
                <a:latin typeface="Calibri" pitchFamily="34" charset="0"/>
                <a:ea typeface="Calibri" pitchFamily="34" charset="-122"/>
                <a:cs typeface="Calibri" pitchFamily="34" charset="-120"/>
              </a:rPr>
              <a:t>DEVELOPMENT TASKS</a:t>
            </a:r>
            <a:endParaRPr lang="en-US" sz="860" dirty="0"/>
          </a:p>
        </p:txBody>
      </p:sp>
      <p:sp>
        <p:nvSpPr>
          <p:cNvPr id="23" name="Text 21"/>
          <p:cNvSpPr/>
          <p:nvPr/>
        </p:nvSpPr>
        <p:spPr>
          <a:xfrm>
            <a:off x="6556248" y="5029200"/>
            <a:ext cx="4855464" cy="1143000"/>
          </a:xfrm>
          <a:prstGeom prst="rect">
            <a:avLst/>
          </a:prstGeom>
          <a:noFill/>
          <a:ln/>
        </p:spPr>
        <p:txBody>
          <a:bodyPr wrap="square" lIns="0" tIns="0" rIns="0" bIns="0" rtlCol="0" anchor="t"/>
          <a:lstStyle/>
          <a:p>
            <a:pPr marL="152400" indent="-152400">
              <a:lnSpc>
                <a:spcPct val="108000"/>
              </a:lnSpc>
              <a:buSzPct val="100000"/>
              <a:buChar char="•"/>
            </a:pPr>
            <a:r>
              <a:rPr lang="en-US" sz="890" dirty="0">
                <a:solidFill>
                  <a:srgbClr val="2B2B2B"/>
                </a:solidFill>
                <a:latin typeface="Calibri" pitchFamily="34" charset="0"/>
                <a:ea typeface="Calibri" pitchFamily="34" charset="-122"/>
                <a:cs typeface="Calibri" pitchFamily="34" charset="-120"/>
              </a:rPr>
              <a:t>Research the CDC Heat &amp; Health Index tract-level AC-access data as a candidate source</a:t>
            </a:r>
            <a:endParaRPr lang="en-US" sz="890" dirty="0"/>
          </a:p>
          <a:p>
            <a:pPr marL="152400" indent="-152400">
              <a:lnSpc>
                <a:spcPct val="108000"/>
              </a:lnSpc>
              <a:buSzPct val="100000"/>
              <a:buChar char="•"/>
            </a:pPr>
            <a:r>
              <a:rPr lang="en-US" sz="890" dirty="0">
                <a:solidFill>
                  <a:srgbClr val="2B2B2B"/>
                </a:solidFill>
                <a:latin typeface="Calibri" pitchFamily="34" charset="0"/>
                <a:ea typeface="Calibri" pitchFamily="34" charset="-122"/>
                <a:cs typeface="Calibri" pitchFamily="34" charset="-120"/>
              </a:rPr>
              <a:t>Write a README / TOOLS.md section documenting the chosen approach and refresh cadence</a:t>
            </a:r>
            <a:endParaRPr lang="en-US" sz="890" dirty="0"/>
          </a:p>
          <a:p>
            <a:pPr marL="152400" indent="-152400">
              <a:lnSpc>
                <a:spcPct val="108000"/>
              </a:lnSpc>
              <a:buSzPct val="100000"/>
              <a:buChar char="•"/>
            </a:pPr>
            <a:r>
              <a:rPr lang="en-US" sz="890" dirty="0">
                <a:solidFill>
                  <a:srgbClr val="2B2B2B"/>
                </a:solidFill>
                <a:latin typeface="Calibri" pitchFamily="34" charset="0"/>
                <a:ea typeface="Calibri" pitchFamily="34" charset="-122"/>
                <a:cs typeface="Calibri" pitchFamily="34" charset="-120"/>
              </a:rPr>
              <a:t>If no free live source is adopted, document the manual-entry process and who owns updating it</a:t>
            </a:r>
            <a:endParaRPr lang="en-US" sz="890" dirty="0"/>
          </a:p>
        </p:txBody>
      </p:sp>
      <p:sp>
        <p:nvSpPr>
          <p:cNvPr id="24" name="Text 22"/>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CINS 5338/5388 — Software Project Management</a:t>
            </a:r>
            <a:endParaRPr lang="en-US" sz="900" dirty="0"/>
          </a:p>
        </p:txBody>
      </p:sp>
      <p:sp>
        <p:nvSpPr>
          <p:cNvPr id="25" name="Text 23"/>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SCRUM-10 · ACCEPTANCE CRITERIA &amp; DEVELOPMENT TASKS</a:t>
            </a:r>
            <a:endParaRPr lang="en-US" sz="1250" dirty="0"/>
          </a:p>
        </p:txBody>
      </p:sp>
      <p:sp>
        <p:nvSpPr>
          <p:cNvPr id="3" name="Text 1"/>
          <p:cNvSpPr txBox="1"/>
          <p:nvPr/>
        </p:nvSpPr>
        <p:spPr>
          <a:xfrm>
            <a:off x="548640" y="59436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Sprint 2 Stories — Live Weather Integration</a:t>
            </a:r>
            <a:endParaRPr lang="en-US" sz="3000" dirty="0"/>
          </a:p>
        </p:txBody>
      </p:sp>
      <p:sp>
        <p:nvSpPr>
          <p:cNvPr id="4" name="Shape 2"/>
          <p:cNvSpPr/>
          <p:nvPr/>
        </p:nvSpPr>
        <p:spPr>
          <a:xfrm>
            <a:off x="548640" y="1389888"/>
            <a:ext cx="3520440" cy="4892040"/>
          </a:xfrm>
          <a:prstGeom prst="roundRect">
            <a:avLst>
              <a:gd name="adj" fmla="val 2338"/>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5" name="Shape 3"/>
          <p:cNvSpPr/>
          <p:nvPr/>
        </p:nvSpPr>
        <p:spPr>
          <a:xfrm>
            <a:off x="749808" y="1572768"/>
            <a:ext cx="475488" cy="475488"/>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6" name="Text 4"/>
          <p:cNvSpPr txBox="1"/>
          <p:nvPr/>
        </p:nvSpPr>
        <p:spPr>
          <a:xfrm>
            <a:off x="749808" y="1572768"/>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7" name="Text 5"/>
          <p:cNvSpPr txBox="1"/>
          <p:nvPr/>
        </p:nvSpPr>
        <p:spPr>
          <a:xfrm>
            <a:off x="749808" y="2066544"/>
            <a:ext cx="475488" cy="201168"/>
          </a:xfrm>
          <a:prstGeom prst="rect">
            <a:avLst/>
          </a:prstGeom>
          <a:noFill/>
          <a:ln/>
        </p:spPr>
        <p:txBody>
          <a:bodyPr wrap="square" lIns="0" tIns="0" rIns="0" bIns="0"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pts</a:t>
            </a:r>
            <a:endParaRPr lang="en-US" sz="800" dirty="0"/>
          </a:p>
        </p:txBody>
      </p:sp>
      <p:sp>
        <p:nvSpPr>
          <p:cNvPr id="8" name="Text 6"/>
          <p:cNvSpPr txBox="1"/>
          <p:nvPr/>
        </p:nvSpPr>
        <p:spPr>
          <a:xfrm>
            <a:off x="1325880" y="1627632"/>
            <a:ext cx="2514600" cy="274320"/>
          </a:xfrm>
          <a:prstGeom prst="rect">
            <a:avLst/>
          </a:prstGeom>
          <a:noFill/>
          <a:ln/>
        </p:spPr>
        <p:txBody>
          <a:bodyPr wrap="square" lIns="0" tIns="0" rIns="0" bIns="0" rtlCol="0" anchor="ctr"/>
          <a:lstStyle/>
          <a:p>
            <a:pPr indent="0" marL="0">
              <a:buNone/>
            </a:pPr>
            <a:r>
              <a:rPr lang="en-US" sz="1250" b="1" dirty="0">
                <a:solidFill>
                  <a:srgbClr val="1E2761"/>
                </a:solidFill>
                <a:latin typeface="Courier New" pitchFamily="34" charset="0"/>
                <a:ea typeface="Courier New" pitchFamily="34" charset="-122"/>
                <a:cs typeface="Courier New" pitchFamily="34" charset="-120"/>
              </a:rPr>
              <a:t>SCRUM-23</a:t>
            </a:r>
            <a:endParaRPr lang="en-US" sz="1250" dirty="0"/>
          </a:p>
        </p:txBody>
      </p:sp>
      <p:sp>
        <p:nvSpPr>
          <p:cNvPr id="9" name="Text 7"/>
          <p:cNvSpPr txBox="1"/>
          <p:nvPr/>
        </p:nvSpPr>
        <p:spPr>
          <a:xfrm>
            <a:off x="749808" y="2322576"/>
            <a:ext cx="3118104" cy="1234440"/>
          </a:xfrm>
          <a:prstGeom prst="rect">
            <a:avLst/>
          </a:prstGeom>
          <a:noFill/>
          <a:ln/>
        </p:spPr>
        <p:txBody>
          <a:bodyPr wrap="square" lIns="0" tIns="0" rIns="0" bIns="0" rtlCol="0" anchor="ctr"/>
          <a:lstStyle/>
          <a:p>
            <a:pPr indent="0" marL="0">
              <a:lnSpc>
                <a:spcPct val="112000"/>
              </a:lnSpc>
              <a:buNone/>
            </a:pPr>
            <a:r>
              <a:rPr lang="en-US" sz="980" i="1" dirty="0">
                <a:solidFill>
                  <a:srgbClr val="2B2B2B"/>
                </a:solidFill>
                <a:latin typeface="Calibri" pitchFamily="34" charset="0"/>
                <a:ea typeface="Calibri" pitchFamily="34" charset="-122"/>
                <a:cs typeface="Calibri" pitchFamily="34" charset="-120"/>
              </a:rPr>
              <a:t>As a developer, I want a weather service module that fetches current heat index from the National Weather Service API (with an Open-Meteo fallback), so heat_index_f reflects real conditions instead of hand-typed estimates.</a:t>
            </a:r>
            <a:endParaRPr lang="en-US" sz="980" dirty="0"/>
          </a:p>
        </p:txBody>
      </p:sp>
      <p:sp>
        <p:nvSpPr>
          <p:cNvPr id="10" name="Text 8"/>
          <p:cNvSpPr txBox="1"/>
          <p:nvPr/>
        </p:nvSpPr>
        <p:spPr>
          <a:xfrm>
            <a:off x="749808" y="3602736"/>
            <a:ext cx="3118104" cy="219456"/>
          </a:xfrm>
          <a:prstGeom prst="rect">
            <a:avLst/>
          </a:prstGeom>
          <a:noFill/>
          <a:ln/>
        </p:spPr>
        <p:txBody>
          <a:bodyPr wrap="square" lIns="0" tIns="0" rIns="0" bIns="0" rtlCol="0" anchor="ctr"/>
          <a:lstStyle/>
          <a:p>
            <a:pPr indent="0" marL="0">
              <a:buNone/>
            </a:pPr>
            <a:r>
              <a:rPr lang="en-US" sz="860" b="1" spc="100" kern="0" dirty="0">
                <a:solidFill>
                  <a:srgbClr val="2E8B57"/>
                </a:solidFill>
                <a:latin typeface="Calibri" pitchFamily="34" charset="0"/>
                <a:ea typeface="Calibri" pitchFamily="34" charset="-122"/>
                <a:cs typeface="Calibri" pitchFamily="34" charset="-120"/>
              </a:rPr>
              <a:t>ACCEPTANCE CRITERIA</a:t>
            </a:r>
            <a:endParaRPr lang="en-US" sz="860" dirty="0"/>
          </a:p>
        </p:txBody>
      </p:sp>
      <p:sp>
        <p:nvSpPr>
          <p:cNvPr id="11" name="Text 9"/>
          <p:cNvSpPr txBox="1"/>
          <p:nvPr/>
        </p:nvSpPr>
        <p:spPr>
          <a:xfrm>
            <a:off x="749808" y="3840480"/>
            <a:ext cx="3118104" cy="914400"/>
          </a:xfrm>
          <a:prstGeom prst="rect">
            <a:avLst/>
          </a:prstGeom>
          <a:noFill/>
          <a:ln/>
        </p:spPr>
        <p:txBody>
          <a:bodyPr wrap="square" lIns="0" tIns="0" rIns="0" bIns="0" rtlCol="0" anchor="ctr"/>
          <a:lstStyle/>
          <a:p>
            <a:pPr indent="0" marL="0">
              <a:lnSpc>
                <a:spcPct val="112000"/>
              </a:lnSpc>
              <a:buNone/>
            </a:pPr>
            <a:r>
              <a:rPr lang="en-US" sz="930" dirty="0">
                <a:solidFill>
                  <a:srgbClr val="2B2B2B"/>
                </a:solidFill>
                <a:latin typeface="Calibri" pitchFamily="34" charset="0"/>
                <a:ea typeface="Calibri" pitchFamily="34" charset="-122"/>
                <a:cs typeface="Calibri" pitchFamily="34" charset="-120"/>
              </a:rPr>
              <a:t>weatherService.js exports a function returning heat index for a given lat/lon; tries the NWS two-step lookup first, falls back to Open-Meteo on failure or timeout.</a:t>
            </a:r>
            <a:endParaRPr lang="en-US" sz="930" dirty="0"/>
          </a:p>
        </p:txBody>
      </p:sp>
      <p:sp>
        <p:nvSpPr>
          <p:cNvPr id="12" name="Text 10"/>
          <p:cNvSpPr txBox="1"/>
          <p:nvPr/>
        </p:nvSpPr>
        <p:spPr>
          <a:xfrm>
            <a:off x="749808" y="4791456"/>
            <a:ext cx="3118104" cy="219456"/>
          </a:xfrm>
          <a:prstGeom prst="rect">
            <a:avLst/>
          </a:prstGeom>
          <a:noFill/>
          <a:ln/>
        </p:spPr>
        <p:txBody>
          <a:bodyPr wrap="square" lIns="0" tIns="0" rIns="0" bIns="0" rtlCol="0" anchor="ctr"/>
          <a:lstStyle/>
          <a:p>
            <a:pPr indent="0" marL="0">
              <a:buNone/>
            </a:pPr>
            <a:r>
              <a:rPr lang="en-US" sz="860" b="1" spc="100" kern="0" dirty="0">
                <a:solidFill>
                  <a:srgbClr val="E8543A"/>
                </a:solidFill>
                <a:latin typeface="Calibri" pitchFamily="34" charset="0"/>
                <a:ea typeface="Calibri" pitchFamily="34" charset="-122"/>
                <a:cs typeface="Calibri" pitchFamily="34" charset="-120"/>
              </a:rPr>
              <a:t>DEVELOPMENT TASKS</a:t>
            </a:r>
            <a:endParaRPr lang="en-US" sz="860" dirty="0"/>
          </a:p>
        </p:txBody>
      </p:sp>
      <p:sp>
        <p:nvSpPr>
          <p:cNvPr id="13" name="Text 11"/>
          <p:cNvSpPr/>
          <p:nvPr/>
        </p:nvSpPr>
        <p:spPr>
          <a:xfrm>
            <a:off x="749808" y="5029200"/>
            <a:ext cx="3118104" cy="1143000"/>
          </a:xfrm>
          <a:prstGeom prst="rect">
            <a:avLst/>
          </a:prstGeom>
          <a:noFill/>
          <a:ln/>
        </p:spPr>
        <p:txBody>
          <a:bodyPr wrap="square" lIns="0" tIns="0" rIns="0" bIns="0" rtlCol="0" anchor="t"/>
          <a:lstStyle/>
          <a:p>
            <a:pPr marL="152400" indent="-152400">
              <a:lnSpc>
                <a:spcPct val="108000"/>
              </a:lnSpc>
              <a:buSzPct val="100000"/>
              <a:buChar char="•"/>
            </a:pPr>
            <a:r>
              <a:rPr lang="en-US" sz="890" dirty="0">
                <a:solidFill>
                  <a:srgbClr val="2B2B2B"/>
                </a:solidFill>
                <a:latin typeface="Calibri" pitchFamily="34" charset="0"/>
                <a:ea typeface="Calibri" pitchFamily="34" charset="-122"/>
                <a:cs typeface="Calibri" pitchFamily="34" charset="-120"/>
              </a:rPr>
              <a:t>Implement getHeatIndex(lat, lon) in a new weatherService.js</a:t>
            </a:r>
            <a:endParaRPr lang="en-US" sz="890" dirty="0"/>
          </a:p>
          <a:p>
            <a:pPr marL="152400" indent="-152400">
              <a:lnSpc>
                <a:spcPct val="108000"/>
              </a:lnSpc>
              <a:buSzPct val="100000"/>
              <a:buChar char="•"/>
            </a:pPr>
            <a:r>
              <a:rPr lang="en-US" sz="890" dirty="0">
                <a:solidFill>
                  <a:srgbClr val="2B2B2B"/>
                </a:solidFill>
                <a:latin typeface="Calibri" pitchFamily="34" charset="0"/>
                <a:ea typeface="Calibri" pitchFamily="34" charset="-122"/>
                <a:cs typeface="Calibri" pitchFamily="34" charset="-120"/>
              </a:rPr>
              <a:t>Call the NWS /points/{lat},{lon} to forecast endpoint two-step lookup first</a:t>
            </a:r>
            <a:endParaRPr lang="en-US" sz="890" dirty="0"/>
          </a:p>
          <a:p>
            <a:pPr marL="152400" indent="-152400">
              <a:lnSpc>
                <a:spcPct val="108000"/>
              </a:lnSpc>
              <a:buSzPct val="100000"/>
              <a:buChar char="•"/>
            </a:pPr>
            <a:r>
              <a:rPr lang="en-US" sz="890" dirty="0">
                <a:solidFill>
                  <a:srgbClr val="2B2B2B"/>
                </a:solidFill>
                <a:latin typeface="Calibri" pitchFamily="34" charset="0"/>
                <a:ea typeface="Calibri" pitchFamily="34" charset="-122"/>
                <a:cs typeface="Calibri" pitchFamily="34" charset="-120"/>
              </a:rPr>
              <a:t>On failure or timeout, fall back to Open-Meteo's forecast API</a:t>
            </a:r>
            <a:endParaRPr lang="en-US" sz="890" dirty="0"/>
          </a:p>
          <a:p>
            <a:pPr marL="152400" indent="-152400">
              <a:lnSpc>
                <a:spcPct val="108000"/>
              </a:lnSpc>
              <a:buSzPct val="100000"/>
              <a:buChar char="•"/>
            </a:pPr>
            <a:r>
              <a:rPr lang="en-US" sz="890" dirty="0">
                <a:solidFill>
                  <a:srgbClr val="2B2B2B"/>
                </a:solidFill>
                <a:latin typeface="Calibri" pitchFamily="34" charset="0"/>
                <a:ea typeface="Calibri" pitchFamily="34" charset="-122"/>
                <a:cs typeface="Calibri" pitchFamily="34" charset="-120"/>
              </a:rPr>
              <a:t>Send the NWS_USER_AGENT_EMAIL contact header per NWS usage policy</a:t>
            </a:r>
            <a:endParaRPr lang="en-US" sz="890" dirty="0"/>
          </a:p>
        </p:txBody>
      </p:sp>
      <p:sp>
        <p:nvSpPr>
          <p:cNvPr id="14" name="Shape 12"/>
          <p:cNvSpPr/>
          <p:nvPr/>
        </p:nvSpPr>
        <p:spPr>
          <a:xfrm>
            <a:off x="4434840" y="1389888"/>
            <a:ext cx="3520440" cy="4892040"/>
          </a:xfrm>
          <a:prstGeom prst="roundRect">
            <a:avLst>
              <a:gd name="adj" fmla="val 2338"/>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15" name="Shape 13"/>
          <p:cNvSpPr/>
          <p:nvPr/>
        </p:nvSpPr>
        <p:spPr>
          <a:xfrm>
            <a:off x="4636008" y="1572768"/>
            <a:ext cx="475488" cy="475488"/>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16" name="Text 14"/>
          <p:cNvSpPr txBox="1"/>
          <p:nvPr/>
        </p:nvSpPr>
        <p:spPr>
          <a:xfrm>
            <a:off x="4636008" y="1572768"/>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5"/>
          <p:cNvSpPr txBox="1"/>
          <p:nvPr/>
        </p:nvSpPr>
        <p:spPr>
          <a:xfrm>
            <a:off x="4636008" y="2066544"/>
            <a:ext cx="475488" cy="201168"/>
          </a:xfrm>
          <a:prstGeom prst="rect">
            <a:avLst/>
          </a:prstGeom>
          <a:noFill/>
          <a:ln/>
        </p:spPr>
        <p:txBody>
          <a:bodyPr wrap="square" lIns="0" tIns="0" rIns="0" bIns="0"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pts</a:t>
            </a:r>
            <a:endParaRPr lang="en-US" sz="800" dirty="0"/>
          </a:p>
        </p:txBody>
      </p:sp>
      <p:sp>
        <p:nvSpPr>
          <p:cNvPr id="18" name="Text 16"/>
          <p:cNvSpPr txBox="1"/>
          <p:nvPr/>
        </p:nvSpPr>
        <p:spPr>
          <a:xfrm>
            <a:off x="5212080" y="1627632"/>
            <a:ext cx="2514600" cy="274320"/>
          </a:xfrm>
          <a:prstGeom prst="rect">
            <a:avLst/>
          </a:prstGeom>
          <a:noFill/>
          <a:ln/>
        </p:spPr>
        <p:txBody>
          <a:bodyPr wrap="square" lIns="0" tIns="0" rIns="0" bIns="0" rtlCol="0" anchor="ctr"/>
          <a:lstStyle/>
          <a:p>
            <a:pPr indent="0" marL="0">
              <a:buNone/>
            </a:pPr>
            <a:r>
              <a:rPr lang="en-US" sz="1250" b="1" dirty="0">
                <a:solidFill>
                  <a:srgbClr val="1E2761"/>
                </a:solidFill>
                <a:latin typeface="Courier New" pitchFamily="34" charset="0"/>
                <a:ea typeface="Courier New" pitchFamily="34" charset="-122"/>
                <a:cs typeface="Courier New" pitchFamily="34" charset="-120"/>
              </a:rPr>
              <a:t>SCRUM-24</a:t>
            </a:r>
            <a:endParaRPr lang="en-US" sz="1250" dirty="0"/>
          </a:p>
        </p:txBody>
      </p:sp>
      <p:sp>
        <p:nvSpPr>
          <p:cNvPr id="19" name="Text 17"/>
          <p:cNvSpPr txBox="1"/>
          <p:nvPr/>
        </p:nvSpPr>
        <p:spPr>
          <a:xfrm>
            <a:off x="4636008" y="2322576"/>
            <a:ext cx="3118104" cy="1234440"/>
          </a:xfrm>
          <a:prstGeom prst="rect">
            <a:avLst/>
          </a:prstGeom>
          <a:noFill/>
          <a:ln/>
        </p:spPr>
        <p:txBody>
          <a:bodyPr wrap="square" lIns="0" tIns="0" rIns="0" bIns="0" rtlCol="0" anchor="ctr"/>
          <a:lstStyle/>
          <a:p>
            <a:pPr indent="0" marL="0">
              <a:lnSpc>
                <a:spcPct val="112000"/>
              </a:lnSpc>
              <a:buNone/>
            </a:pPr>
            <a:r>
              <a:rPr lang="en-US" sz="980" i="1" dirty="0">
                <a:solidFill>
                  <a:srgbClr val="2B2B2B"/>
                </a:solidFill>
                <a:latin typeface="Calibri" pitchFamily="34" charset="0"/>
                <a:ea typeface="Calibri" pitchFamily="34" charset="-122"/>
                <a:cs typeface="Calibri" pitchFamily="34" charset="-120"/>
              </a:rPr>
              <a:t>As a developer, I want weather responses cached (~30-60 min TTL), so we don't exceed NWS/Open-Meteo rate limits or slow things down.</a:t>
            </a:r>
            <a:endParaRPr lang="en-US" sz="980" dirty="0"/>
          </a:p>
        </p:txBody>
      </p:sp>
      <p:sp>
        <p:nvSpPr>
          <p:cNvPr id="20" name="Text 18"/>
          <p:cNvSpPr txBox="1"/>
          <p:nvPr/>
        </p:nvSpPr>
        <p:spPr>
          <a:xfrm>
            <a:off x="4636008" y="3602736"/>
            <a:ext cx="3118104" cy="219456"/>
          </a:xfrm>
          <a:prstGeom prst="rect">
            <a:avLst/>
          </a:prstGeom>
          <a:noFill/>
          <a:ln/>
        </p:spPr>
        <p:txBody>
          <a:bodyPr wrap="square" lIns="0" tIns="0" rIns="0" bIns="0" rtlCol="0" anchor="ctr"/>
          <a:lstStyle/>
          <a:p>
            <a:pPr indent="0" marL="0">
              <a:buNone/>
            </a:pPr>
            <a:r>
              <a:rPr lang="en-US" sz="860" b="1" spc="100" kern="0" dirty="0">
                <a:solidFill>
                  <a:srgbClr val="2E8B57"/>
                </a:solidFill>
                <a:latin typeface="Calibri" pitchFamily="34" charset="0"/>
                <a:ea typeface="Calibri" pitchFamily="34" charset="-122"/>
                <a:cs typeface="Calibri" pitchFamily="34" charset="-120"/>
              </a:rPr>
              <a:t>ACCEPTANCE CRITERIA</a:t>
            </a:r>
            <a:endParaRPr lang="en-US" sz="860" dirty="0"/>
          </a:p>
        </p:txBody>
      </p:sp>
      <p:sp>
        <p:nvSpPr>
          <p:cNvPr id="21" name="Text 19"/>
          <p:cNvSpPr txBox="1"/>
          <p:nvPr/>
        </p:nvSpPr>
        <p:spPr>
          <a:xfrm>
            <a:off x="4636008" y="3840480"/>
            <a:ext cx="3118104" cy="914400"/>
          </a:xfrm>
          <a:prstGeom prst="rect">
            <a:avLst/>
          </a:prstGeom>
          <a:noFill/>
          <a:ln/>
        </p:spPr>
        <p:txBody>
          <a:bodyPr wrap="square" lIns="0" tIns="0" rIns="0" bIns="0" rtlCol="0" anchor="ctr"/>
          <a:lstStyle/>
          <a:p>
            <a:pPr indent="0" marL="0">
              <a:lnSpc>
                <a:spcPct val="112000"/>
              </a:lnSpc>
              <a:buNone/>
            </a:pPr>
            <a:r>
              <a:rPr lang="en-US" sz="930" dirty="0">
                <a:solidFill>
                  <a:srgbClr val="2B2B2B"/>
                </a:solidFill>
                <a:latin typeface="Calibri" pitchFamily="34" charset="0"/>
                <a:ea typeface="Calibri" pitchFamily="34" charset="-122"/>
                <a:cs typeface="Calibri" pitchFamily="34" charset="-120"/>
              </a:rPr>
              <a:t>Repeated calls for the same area within the TTL window reuse the cached value instead of re-fetching.</a:t>
            </a:r>
            <a:endParaRPr lang="en-US" sz="930" dirty="0"/>
          </a:p>
        </p:txBody>
      </p:sp>
      <p:sp>
        <p:nvSpPr>
          <p:cNvPr id="22" name="Text 20"/>
          <p:cNvSpPr txBox="1"/>
          <p:nvPr/>
        </p:nvSpPr>
        <p:spPr>
          <a:xfrm>
            <a:off x="4636008" y="4791456"/>
            <a:ext cx="3118104" cy="219456"/>
          </a:xfrm>
          <a:prstGeom prst="rect">
            <a:avLst/>
          </a:prstGeom>
          <a:noFill/>
          <a:ln/>
        </p:spPr>
        <p:txBody>
          <a:bodyPr wrap="square" lIns="0" tIns="0" rIns="0" bIns="0" rtlCol="0" anchor="ctr"/>
          <a:lstStyle/>
          <a:p>
            <a:pPr indent="0" marL="0">
              <a:buNone/>
            </a:pPr>
            <a:r>
              <a:rPr lang="en-US" sz="860" b="1" spc="100" kern="0" dirty="0">
                <a:solidFill>
                  <a:srgbClr val="E8543A"/>
                </a:solidFill>
                <a:latin typeface="Calibri" pitchFamily="34" charset="0"/>
                <a:ea typeface="Calibri" pitchFamily="34" charset="-122"/>
                <a:cs typeface="Calibri" pitchFamily="34" charset="-120"/>
              </a:rPr>
              <a:t>DEVELOPMENT TASKS</a:t>
            </a:r>
            <a:endParaRPr lang="en-US" sz="860" dirty="0"/>
          </a:p>
        </p:txBody>
      </p:sp>
      <p:sp>
        <p:nvSpPr>
          <p:cNvPr id="23" name="Text 21"/>
          <p:cNvSpPr/>
          <p:nvPr/>
        </p:nvSpPr>
        <p:spPr>
          <a:xfrm>
            <a:off x="4636008" y="5029200"/>
            <a:ext cx="3118104" cy="1143000"/>
          </a:xfrm>
          <a:prstGeom prst="rect">
            <a:avLst/>
          </a:prstGeom>
          <a:noFill/>
          <a:ln/>
        </p:spPr>
        <p:txBody>
          <a:bodyPr wrap="square" lIns="0" tIns="0" rIns="0" bIns="0" rtlCol="0" anchor="t"/>
          <a:lstStyle/>
          <a:p>
            <a:pPr marL="152400" indent="-152400">
              <a:lnSpc>
                <a:spcPct val="108000"/>
              </a:lnSpc>
              <a:buSzPct val="100000"/>
              <a:buChar char="•"/>
            </a:pPr>
            <a:r>
              <a:rPr lang="en-US" sz="890" dirty="0">
                <a:solidFill>
                  <a:srgbClr val="2B2B2B"/>
                </a:solidFill>
                <a:latin typeface="Calibri" pitchFamily="34" charset="0"/>
                <a:ea typeface="Calibri" pitchFamily="34" charset="-122"/>
                <a:cs typeface="Calibri" pitchFamily="34" charset="-120"/>
              </a:rPr>
              <a:t>Add an in-memory or DB-backed cache keyed by area / lat-lon with a 30-60 minute TTL</a:t>
            </a:r>
            <a:endParaRPr lang="en-US" sz="890" dirty="0"/>
          </a:p>
          <a:p>
            <a:pPr marL="152400" indent="-152400">
              <a:lnSpc>
                <a:spcPct val="108000"/>
              </a:lnSpc>
              <a:buSzPct val="100000"/>
              <a:buChar char="•"/>
            </a:pPr>
            <a:r>
              <a:rPr lang="en-US" sz="890" dirty="0">
                <a:solidFill>
                  <a:srgbClr val="2B2B2B"/>
                </a:solidFill>
                <a:latin typeface="Calibri" pitchFamily="34" charset="0"/>
                <a:ea typeface="Calibri" pitchFamily="34" charset="-122"/>
                <a:cs typeface="Calibri" pitchFamily="34" charset="-120"/>
              </a:rPr>
              <a:t>Wire getHeatIndex() to check/populate the cache before calling NWS or Open-Meteo</a:t>
            </a:r>
            <a:endParaRPr lang="en-US" sz="890" dirty="0"/>
          </a:p>
          <a:p>
            <a:pPr marL="152400" indent="-152400">
              <a:lnSpc>
                <a:spcPct val="108000"/>
              </a:lnSpc>
              <a:buSzPct val="100000"/>
              <a:buChar char="•"/>
            </a:pPr>
            <a:r>
              <a:rPr lang="en-US" sz="890" dirty="0">
                <a:solidFill>
                  <a:srgbClr val="2B2B2B"/>
                </a:solidFill>
                <a:latin typeface="Calibri" pitchFamily="34" charset="0"/>
                <a:ea typeface="Calibri" pitchFamily="34" charset="-122"/>
                <a:cs typeface="Calibri" pitchFamily="34" charset="-120"/>
              </a:rPr>
              <a:t>Add a config constant for the TTL so it is easy to tune</a:t>
            </a:r>
            <a:endParaRPr lang="en-US" sz="890" dirty="0"/>
          </a:p>
        </p:txBody>
      </p:sp>
      <p:sp>
        <p:nvSpPr>
          <p:cNvPr id="24" name="Shape 22"/>
          <p:cNvSpPr/>
          <p:nvPr/>
        </p:nvSpPr>
        <p:spPr>
          <a:xfrm>
            <a:off x="8321040" y="1389888"/>
            <a:ext cx="3520440" cy="4892040"/>
          </a:xfrm>
          <a:prstGeom prst="roundRect">
            <a:avLst>
              <a:gd name="adj" fmla="val 2338"/>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25" name="Shape 23"/>
          <p:cNvSpPr/>
          <p:nvPr/>
        </p:nvSpPr>
        <p:spPr>
          <a:xfrm>
            <a:off x="8522208" y="1572768"/>
            <a:ext cx="475488" cy="475488"/>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26" name="Text 24"/>
          <p:cNvSpPr txBox="1"/>
          <p:nvPr/>
        </p:nvSpPr>
        <p:spPr>
          <a:xfrm>
            <a:off x="8522208" y="1572768"/>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7" name="Text 25"/>
          <p:cNvSpPr txBox="1"/>
          <p:nvPr/>
        </p:nvSpPr>
        <p:spPr>
          <a:xfrm>
            <a:off x="8522208" y="2066544"/>
            <a:ext cx="475488" cy="201168"/>
          </a:xfrm>
          <a:prstGeom prst="rect">
            <a:avLst/>
          </a:prstGeom>
          <a:noFill/>
          <a:ln/>
        </p:spPr>
        <p:txBody>
          <a:bodyPr wrap="square" lIns="0" tIns="0" rIns="0" bIns="0"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pts</a:t>
            </a:r>
            <a:endParaRPr lang="en-US" sz="800" dirty="0"/>
          </a:p>
        </p:txBody>
      </p:sp>
      <p:sp>
        <p:nvSpPr>
          <p:cNvPr id="28" name="Text 26"/>
          <p:cNvSpPr txBox="1"/>
          <p:nvPr/>
        </p:nvSpPr>
        <p:spPr>
          <a:xfrm>
            <a:off x="9098280" y="1627632"/>
            <a:ext cx="2514600" cy="274320"/>
          </a:xfrm>
          <a:prstGeom prst="rect">
            <a:avLst/>
          </a:prstGeom>
          <a:noFill/>
          <a:ln/>
        </p:spPr>
        <p:txBody>
          <a:bodyPr wrap="square" lIns="0" tIns="0" rIns="0" bIns="0" rtlCol="0" anchor="ctr"/>
          <a:lstStyle/>
          <a:p>
            <a:pPr indent="0" marL="0">
              <a:buNone/>
            </a:pPr>
            <a:r>
              <a:rPr lang="en-US" sz="1250" b="1" dirty="0">
                <a:solidFill>
                  <a:srgbClr val="1E2761"/>
                </a:solidFill>
                <a:latin typeface="Courier New" pitchFamily="34" charset="0"/>
                <a:ea typeface="Courier New" pitchFamily="34" charset="-122"/>
                <a:cs typeface="Courier New" pitchFamily="34" charset="-120"/>
              </a:rPr>
              <a:t>SCRUM-25</a:t>
            </a:r>
            <a:endParaRPr lang="en-US" sz="1250" dirty="0"/>
          </a:p>
        </p:txBody>
      </p:sp>
      <p:sp>
        <p:nvSpPr>
          <p:cNvPr id="29" name="Text 27"/>
          <p:cNvSpPr txBox="1"/>
          <p:nvPr/>
        </p:nvSpPr>
        <p:spPr>
          <a:xfrm>
            <a:off x="8522208" y="2322576"/>
            <a:ext cx="3118104" cy="1234440"/>
          </a:xfrm>
          <a:prstGeom prst="rect">
            <a:avLst/>
          </a:prstGeom>
          <a:noFill/>
          <a:ln/>
        </p:spPr>
        <p:txBody>
          <a:bodyPr wrap="square" lIns="0" tIns="0" rIns="0" bIns="0" rtlCol="0" anchor="ctr"/>
          <a:lstStyle/>
          <a:p>
            <a:pPr indent="0" marL="0">
              <a:lnSpc>
                <a:spcPct val="112000"/>
              </a:lnSpc>
              <a:buNone/>
            </a:pPr>
            <a:r>
              <a:rPr lang="en-US" sz="980" i="1" dirty="0">
                <a:solidFill>
                  <a:srgbClr val="2B2B2B"/>
                </a:solidFill>
                <a:latin typeface="Calibri" pitchFamily="34" charset="0"/>
                <a:ea typeface="Calibri" pitchFamily="34" charset="-122"/>
                <a:cs typeface="Calibri" pitchFamily="34" charset="-120"/>
              </a:rPr>
              <a:t>As a developer, I want a fallback to an area's last-known-good heat_index_f when the weather API is down, so one flaky external service doesn't break scoring entirely.</a:t>
            </a:r>
            <a:endParaRPr lang="en-US" sz="980" dirty="0"/>
          </a:p>
        </p:txBody>
      </p:sp>
      <p:sp>
        <p:nvSpPr>
          <p:cNvPr id="30" name="Text 28"/>
          <p:cNvSpPr txBox="1"/>
          <p:nvPr/>
        </p:nvSpPr>
        <p:spPr>
          <a:xfrm>
            <a:off x="8522208" y="3602736"/>
            <a:ext cx="3118104" cy="219456"/>
          </a:xfrm>
          <a:prstGeom prst="rect">
            <a:avLst/>
          </a:prstGeom>
          <a:noFill/>
          <a:ln/>
        </p:spPr>
        <p:txBody>
          <a:bodyPr wrap="square" lIns="0" tIns="0" rIns="0" bIns="0" rtlCol="0" anchor="ctr"/>
          <a:lstStyle/>
          <a:p>
            <a:pPr indent="0" marL="0">
              <a:buNone/>
            </a:pPr>
            <a:r>
              <a:rPr lang="en-US" sz="860" b="1" spc="100" kern="0" dirty="0">
                <a:solidFill>
                  <a:srgbClr val="2E8B57"/>
                </a:solidFill>
                <a:latin typeface="Calibri" pitchFamily="34" charset="0"/>
                <a:ea typeface="Calibri" pitchFamily="34" charset="-122"/>
                <a:cs typeface="Calibri" pitchFamily="34" charset="-120"/>
              </a:rPr>
              <a:t>ACCEPTANCE CRITERIA</a:t>
            </a:r>
            <a:endParaRPr lang="en-US" sz="860" dirty="0"/>
          </a:p>
        </p:txBody>
      </p:sp>
      <p:sp>
        <p:nvSpPr>
          <p:cNvPr id="31" name="Text 29"/>
          <p:cNvSpPr txBox="1"/>
          <p:nvPr/>
        </p:nvSpPr>
        <p:spPr>
          <a:xfrm>
            <a:off x="8522208" y="3840480"/>
            <a:ext cx="3118104" cy="914400"/>
          </a:xfrm>
          <a:prstGeom prst="rect">
            <a:avLst/>
          </a:prstGeom>
          <a:noFill/>
          <a:ln/>
        </p:spPr>
        <p:txBody>
          <a:bodyPr wrap="square" lIns="0" tIns="0" rIns="0" bIns="0" rtlCol="0" anchor="ctr"/>
          <a:lstStyle/>
          <a:p>
            <a:pPr indent="0" marL="0">
              <a:lnSpc>
                <a:spcPct val="112000"/>
              </a:lnSpc>
              <a:buNone/>
            </a:pPr>
            <a:r>
              <a:rPr lang="en-US" sz="930" dirty="0">
                <a:solidFill>
                  <a:srgbClr val="2B2B2B"/>
                </a:solidFill>
                <a:latin typeface="Calibri" pitchFamily="34" charset="0"/>
                <a:ea typeface="Calibri" pitchFamily="34" charset="-122"/>
                <a:cs typeface="Calibri" pitchFamily="34" charset="-120"/>
              </a:rPr>
              <a:t>On fetch failure, the area keeps its previous heat_index_f and logs the failure rather than erroring out.</a:t>
            </a:r>
            <a:endParaRPr lang="en-US" sz="930" dirty="0"/>
          </a:p>
        </p:txBody>
      </p:sp>
      <p:sp>
        <p:nvSpPr>
          <p:cNvPr id="32" name="Text 30"/>
          <p:cNvSpPr txBox="1"/>
          <p:nvPr/>
        </p:nvSpPr>
        <p:spPr>
          <a:xfrm>
            <a:off x="8522208" y="4791456"/>
            <a:ext cx="3118104" cy="219456"/>
          </a:xfrm>
          <a:prstGeom prst="rect">
            <a:avLst/>
          </a:prstGeom>
          <a:noFill/>
          <a:ln/>
        </p:spPr>
        <p:txBody>
          <a:bodyPr wrap="square" lIns="0" tIns="0" rIns="0" bIns="0" rtlCol="0" anchor="ctr"/>
          <a:lstStyle/>
          <a:p>
            <a:pPr indent="0" marL="0">
              <a:buNone/>
            </a:pPr>
            <a:r>
              <a:rPr lang="en-US" sz="860" b="1" spc="100" kern="0" dirty="0">
                <a:solidFill>
                  <a:srgbClr val="E8543A"/>
                </a:solidFill>
                <a:latin typeface="Calibri" pitchFamily="34" charset="0"/>
                <a:ea typeface="Calibri" pitchFamily="34" charset="-122"/>
                <a:cs typeface="Calibri" pitchFamily="34" charset="-120"/>
              </a:rPr>
              <a:t>DEVELOPMENT TASKS</a:t>
            </a:r>
            <a:endParaRPr lang="en-US" sz="860" dirty="0"/>
          </a:p>
        </p:txBody>
      </p:sp>
      <p:sp>
        <p:nvSpPr>
          <p:cNvPr id="33" name="Text 31"/>
          <p:cNvSpPr/>
          <p:nvPr/>
        </p:nvSpPr>
        <p:spPr>
          <a:xfrm>
            <a:off x="8522208" y="5029200"/>
            <a:ext cx="3118104" cy="1143000"/>
          </a:xfrm>
          <a:prstGeom prst="rect">
            <a:avLst/>
          </a:prstGeom>
          <a:noFill/>
          <a:ln/>
        </p:spPr>
        <p:txBody>
          <a:bodyPr wrap="square" lIns="0" tIns="0" rIns="0" bIns="0" rtlCol="0" anchor="t"/>
          <a:lstStyle/>
          <a:p>
            <a:pPr marL="152400" indent="-152400">
              <a:lnSpc>
                <a:spcPct val="108000"/>
              </a:lnSpc>
              <a:buSzPct val="100000"/>
              <a:buChar char="•"/>
            </a:pPr>
            <a:r>
              <a:rPr lang="en-US" sz="890" dirty="0">
                <a:solidFill>
                  <a:srgbClr val="2B2B2B"/>
                </a:solidFill>
                <a:latin typeface="Calibri" pitchFamily="34" charset="0"/>
                <a:ea typeface="Calibri" pitchFamily="34" charset="-122"/>
                <a:cs typeface="Calibri" pitchFamily="34" charset="-120"/>
              </a:rPr>
              <a:t>Wrap weatherService calls in try/catch inside recomputeAllRiskScores.js</a:t>
            </a:r>
            <a:endParaRPr lang="en-US" sz="890" dirty="0"/>
          </a:p>
          <a:p>
            <a:pPr marL="152400" indent="-152400">
              <a:lnSpc>
                <a:spcPct val="108000"/>
              </a:lnSpc>
              <a:buSzPct val="100000"/>
              <a:buChar char="•"/>
            </a:pPr>
            <a:r>
              <a:rPr lang="en-US" sz="890" dirty="0">
                <a:solidFill>
                  <a:srgbClr val="2B2B2B"/>
                </a:solidFill>
                <a:latin typeface="Calibri" pitchFamily="34" charset="0"/>
                <a:ea typeface="Calibri" pitchFamily="34" charset="-122"/>
                <a:cs typeface="Calibri" pitchFamily="34" charset="-120"/>
              </a:rPr>
              <a:t>On failure, retain the area's existing heat_index_f and log a warning with the area id + error</a:t>
            </a:r>
            <a:endParaRPr lang="en-US" sz="890" dirty="0"/>
          </a:p>
          <a:p>
            <a:pPr marL="152400" indent="-152400">
              <a:lnSpc>
                <a:spcPct val="108000"/>
              </a:lnSpc>
              <a:buSzPct val="100000"/>
              <a:buChar char="•"/>
            </a:pPr>
            <a:r>
              <a:rPr lang="en-US" sz="890" dirty="0">
                <a:solidFill>
                  <a:srgbClr val="2B2B2B"/>
                </a:solidFill>
                <a:latin typeface="Calibri" pitchFamily="34" charset="0"/>
                <a:ea typeface="Calibri" pitchFamily="34" charset="-122"/>
                <a:cs typeface="Calibri" pitchFamily="34" charset="-120"/>
              </a:rPr>
              <a:t>Ensure one area's failure doesn't abort the batch job for the remaining areas</a:t>
            </a:r>
            <a:endParaRPr lang="en-US" sz="890" dirty="0"/>
          </a:p>
        </p:txBody>
      </p:sp>
      <p:sp>
        <p:nvSpPr>
          <p:cNvPr id="34" name="Text 32"/>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CINS 5338/5388 — Software Project Management</a:t>
            </a:r>
            <a:endParaRPr lang="en-US" sz="900" dirty="0"/>
          </a:p>
        </p:txBody>
      </p:sp>
      <p:sp>
        <p:nvSpPr>
          <p:cNvPr id="35" name="Text 33"/>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TIES BOTH EPICS TOGETHER · ACCEPTANCE CRITERIA &amp; DEVELOPMENT TASKS</a:t>
            </a:r>
            <a:endParaRPr lang="en-US" sz="1250" dirty="0"/>
          </a:p>
        </p:txBody>
      </p:sp>
      <p:sp>
        <p:nvSpPr>
          <p:cNvPr id="3" name="Text 1"/>
          <p:cNvSpPr txBox="1"/>
          <p:nvPr/>
        </p:nvSpPr>
        <p:spPr>
          <a:xfrm>
            <a:off x="548640" y="59436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Sprint 2 Stories — Cross-Cutting</a:t>
            </a:r>
            <a:endParaRPr lang="en-US" sz="3000" dirty="0"/>
          </a:p>
        </p:txBody>
      </p:sp>
      <p:sp>
        <p:nvSpPr>
          <p:cNvPr id="4" name="Shape 2"/>
          <p:cNvSpPr/>
          <p:nvPr/>
        </p:nvSpPr>
        <p:spPr>
          <a:xfrm>
            <a:off x="548640" y="1389888"/>
            <a:ext cx="5257800" cy="4892040"/>
          </a:xfrm>
          <a:prstGeom prst="roundRect">
            <a:avLst>
              <a:gd name="adj" fmla="val 1682"/>
            </a:avLst>
          </a:prstGeom>
          <a:solidFill>
            <a:srgbClr val="F4F5FA"/>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5" name="Shape 3"/>
          <p:cNvSpPr/>
          <p:nvPr/>
        </p:nvSpPr>
        <p:spPr>
          <a:xfrm>
            <a:off x="749808" y="1572768"/>
            <a:ext cx="475488" cy="475488"/>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6" name="Text 4"/>
          <p:cNvSpPr txBox="1"/>
          <p:nvPr/>
        </p:nvSpPr>
        <p:spPr>
          <a:xfrm>
            <a:off x="749808" y="1572768"/>
            <a:ext cx="475488"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7" name="Text 5"/>
          <p:cNvSpPr txBox="1"/>
          <p:nvPr/>
        </p:nvSpPr>
        <p:spPr>
          <a:xfrm>
            <a:off x="749808" y="2066544"/>
            <a:ext cx="475488" cy="201168"/>
          </a:xfrm>
          <a:prstGeom prst="rect">
            <a:avLst/>
          </a:prstGeom>
          <a:noFill/>
          <a:ln/>
        </p:spPr>
        <p:txBody>
          <a:bodyPr wrap="square" lIns="0" tIns="0" rIns="0" bIns="0"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pts</a:t>
            </a:r>
            <a:endParaRPr lang="en-US" sz="800" dirty="0"/>
          </a:p>
        </p:txBody>
      </p:sp>
      <p:sp>
        <p:nvSpPr>
          <p:cNvPr id="8" name="Text 6"/>
          <p:cNvSpPr txBox="1"/>
          <p:nvPr/>
        </p:nvSpPr>
        <p:spPr>
          <a:xfrm>
            <a:off x="1325880" y="1627632"/>
            <a:ext cx="4251960" cy="274320"/>
          </a:xfrm>
          <a:prstGeom prst="rect">
            <a:avLst/>
          </a:prstGeom>
          <a:noFill/>
          <a:ln/>
        </p:spPr>
        <p:txBody>
          <a:bodyPr wrap="square" lIns="0" tIns="0" rIns="0" bIns="0" rtlCol="0" anchor="ctr"/>
          <a:lstStyle/>
          <a:p>
            <a:pPr indent="0" marL="0">
              <a:buNone/>
            </a:pPr>
            <a:r>
              <a:rPr lang="en-US" sz="1250" b="1" dirty="0">
                <a:solidFill>
                  <a:srgbClr val="1E2761"/>
                </a:solidFill>
                <a:latin typeface="Courier New" pitchFamily="34" charset="0"/>
                <a:ea typeface="Courier New" pitchFamily="34" charset="-122"/>
                <a:cs typeface="Courier New" pitchFamily="34" charset="-120"/>
              </a:rPr>
              <a:t>SCRUM-26</a:t>
            </a:r>
            <a:endParaRPr lang="en-US" sz="1250" dirty="0"/>
          </a:p>
        </p:txBody>
      </p:sp>
      <p:sp>
        <p:nvSpPr>
          <p:cNvPr id="9" name="Text 7"/>
          <p:cNvSpPr txBox="1"/>
          <p:nvPr/>
        </p:nvSpPr>
        <p:spPr>
          <a:xfrm>
            <a:off x="749808" y="2322576"/>
            <a:ext cx="4855464" cy="1234440"/>
          </a:xfrm>
          <a:prstGeom prst="rect">
            <a:avLst/>
          </a:prstGeom>
          <a:noFill/>
          <a:ln/>
        </p:spPr>
        <p:txBody>
          <a:bodyPr wrap="square" lIns="0" tIns="0" rIns="0" bIns="0" rtlCol="0" anchor="ctr"/>
          <a:lstStyle/>
          <a:p>
            <a:pPr indent="0" marL="0">
              <a:lnSpc>
                <a:spcPct val="112000"/>
              </a:lnSpc>
              <a:buNone/>
            </a:pPr>
            <a:r>
              <a:rPr lang="en-US" sz="980" i="1" dirty="0">
                <a:solidFill>
                  <a:srgbClr val="2B2B2B"/>
                </a:solidFill>
                <a:latin typeface="Calibri" pitchFamily="34" charset="0"/>
                <a:ea typeface="Calibri" pitchFamily="34" charset="-122"/>
                <a:cs typeface="Calibri" pitchFamily="34" charset="-120"/>
              </a:rPr>
              <a:t>As a developer, I want the batch recompute job to pull live weather + demographic data before scoring each area, so risk scores stay current without manual re-seeding.</a:t>
            </a:r>
            <a:endParaRPr lang="en-US" sz="980" dirty="0"/>
          </a:p>
        </p:txBody>
      </p:sp>
      <p:sp>
        <p:nvSpPr>
          <p:cNvPr id="10" name="Text 8"/>
          <p:cNvSpPr txBox="1"/>
          <p:nvPr/>
        </p:nvSpPr>
        <p:spPr>
          <a:xfrm>
            <a:off x="749808" y="3602736"/>
            <a:ext cx="4855464" cy="219456"/>
          </a:xfrm>
          <a:prstGeom prst="rect">
            <a:avLst/>
          </a:prstGeom>
          <a:noFill/>
          <a:ln/>
        </p:spPr>
        <p:txBody>
          <a:bodyPr wrap="square" lIns="0" tIns="0" rIns="0" bIns="0" rtlCol="0" anchor="ctr"/>
          <a:lstStyle/>
          <a:p>
            <a:pPr indent="0" marL="0">
              <a:buNone/>
            </a:pPr>
            <a:r>
              <a:rPr lang="en-US" sz="860" b="1" spc="100" kern="0" dirty="0">
                <a:solidFill>
                  <a:srgbClr val="2E8B57"/>
                </a:solidFill>
                <a:latin typeface="Calibri" pitchFamily="34" charset="0"/>
                <a:ea typeface="Calibri" pitchFamily="34" charset="-122"/>
                <a:cs typeface="Calibri" pitchFamily="34" charset="-120"/>
              </a:rPr>
              <a:t>ACCEPTANCE CRITERIA</a:t>
            </a:r>
            <a:endParaRPr lang="en-US" sz="860" dirty="0"/>
          </a:p>
        </p:txBody>
      </p:sp>
      <p:sp>
        <p:nvSpPr>
          <p:cNvPr id="11" name="Text 9"/>
          <p:cNvSpPr txBox="1"/>
          <p:nvPr/>
        </p:nvSpPr>
        <p:spPr>
          <a:xfrm>
            <a:off x="749808" y="3840480"/>
            <a:ext cx="4855464" cy="914400"/>
          </a:xfrm>
          <a:prstGeom prst="rect">
            <a:avLst/>
          </a:prstGeom>
          <a:noFill/>
          <a:ln/>
        </p:spPr>
        <p:txBody>
          <a:bodyPr wrap="square" lIns="0" tIns="0" rIns="0" bIns="0" rtlCol="0" anchor="ctr"/>
          <a:lstStyle/>
          <a:p>
            <a:pPr indent="0" marL="0">
              <a:lnSpc>
                <a:spcPct val="112000"/>
              </a:lnSpc>
              <a:buNone/>
            </a:pPr>
            <a:r>
              <a:rPr lang="en-US" sz="930" dirty="0">
                <a:solidFill>
                  <a:srgbClr val="2B2B2B"/>
                </a:solidFill>
                <a:latin typeface="Calibri" pitchFamily="34" charset="0"/>
                <a:ea typeface="Calibri" pitchFamily="34" charset="-122"/>
                <a:cs typeface="Calibri" pitchFamily="34" charset="-120"/>
              </a:rPr>
              <a:t>recomputeAllRiskScores.js calls both services per area, updates the row, then scores it; one area's failure does not abort the whole batch run.</a:t>
            </a:r>
            <a:endParaRPr lang="en-US" sz="930" dirty="0"/>
          </a:p>
        </p:txBody>
      </p:sp>
      <p:sp>
        <p:nvSpPr>
          <p:cNvPr id="12" name="Text 10"/>
          <p:cNvSpPr txBox="1"/>
          <p:nvPr/>
        </p:nvSpPr>
        <p:spPr>
          <a:xfrm>
            <a:off x="749808" y="4791456"/>
            <a:ext cx="4855464" cy="219456"/>
          </a:xfrm>
          <a:prstGeom prst="rect">
            <a:avLst/>
          </a:prstGeom>
          <a:noFill/>
          <a:ln/>
        </p:spPr>
        <p:txBody>
          <a:bodyPr wrap="square" lIns="0" tIns="0" rIns="0" bIns="0" rtlCol="0" anchor="ctr"/>
          <a:lstStyle/>
          <a:p>
            <a:pPr indent="0" marL="0">
              <a:buNone/>
            </a:pPr>
            <a:r>
              <a:rPr lang="en-US" sz="860" b="1" spc="100" kern="0" dirty="0">
                <a:solidFill>
                  <a:srgbClr val="E8543A"/>
                </a:solidFill>
                <a:latin typeface="Calibri" pitchFamily="34" charset="0"/>
                <a:ea typeface="Calibri" pitchFamily="34" charset="-122"/>
                <a:cs typeface="Calibri" pitchFamily="34" charset="-120"/>
              </a:rPr>
              <a:t>DEVELOPMENT TASKS</a:t>
            </a:r>
            <a:endParaRPr lang="en-US" sz="860" dirty="0"/>
          </a:p>
        </p:txBody>
      </p:sp>
      <p:sp>
        <p:nvSpPr>
          <p:cNvPr id="13" name="Text 11"/>
          <p:cNvSpPr/>
          <p:nvPr/>
        </p:nvSpPr>
        <p:spPr>
          <a:xfrm>
            <a:off x="749808" y="5029200"/>
            <a:ext cx="4855464" cy="1143000"/>
          </a:xfrm>
          <a:prstGeom prst="rect">
            <a:avLst/>
          </a:prstGeom>
          <a:noFill/>
          <a:ln/>
        </p:spPr>
        <p:txBody>
          <a:bodyPr wrap="square" lIns="0" tIns="0" rIns="0" bIns="0" rtlCol="0" anchor="t"/>
          <a:lstStyle/>
          <a:p>
            <a:pPr marL="152400" indent="-152400">
              <a:lnSpc>
                <a:spcPct val="108000"/>
              </a:lnSpc>
              <a:buSzPct val="100000"/>
              <a:buChar char="•"/>
            </a:pPr>
            <a:r>
              <a:rPr lang="en-US" sz="890" dirty="0">
                <a:solidFill>
                  <a:srgbClr val="2B2B2B"/>
                </a:solidFill>
                <a:latin typeface="Calibri" pitchFamily="34" charset="0"/>
                <a:ea typeface="Calibri" pitchFamily="34" charset="-122"/>
                <a:cs typeface="Calibri" pitchFamily="34" charset="-120"/>
              </a:rPr>
              <a:t>Update recomputeAllRiskScores.js to call weatherService + demographicsService per area before computeVulnerabilityScore()</a:t>
            </a:r>
            <a:endParaRPr lang="en-US" sz="890" dirty="0"/>
          </a:p>
          <a:p>
            <a:pPr marL="152400" indent="-152400">
              <a:lnSpc>
                <a:spcPct val="108000"/>
              </a:lnSpc>
              <a:buSzPct val="100000"/>
              <a:buChar char="•"/>
            </a:pPr>
            <a:r>
              <a:rPr lang="en-US" sz="890" dirty="0">
                <a:solidFill>
                  <a:srgbClr val="2B2B2B"/>
                </a:solidFill>
                <a:latin typeface="Calibri" pitchFamily="34" charset="0"/>
                <a:ea typeface="Calibri" pitchFamily="34" charset="-122"/>
                <a:cs typeface="Calibri" pitchFamily="34" charset="-120"/>
              </a:rPr>
              <a:t>Persist updated heat_index_f / pct_elderly / pct_low_income / pct_no_ac alongside the new risk_score</a:t>
            </a:r>
            <a:endParaRPr lang="en-US" sz="890" dirty="0"/>
          </a:p>
          <a:p>
            <a:pPr marL="152400" indent="-152400">
              <a:lnSpc>
                <a:spcPct val="108000"/>
              </a:lnSpc>
              <a:buSzPct val="100000"/>
              <a:buChar char="•"/>
            </a:pPr>
            <a:r>
              <a:rPr lang="en-US" sz="890" dirty="0">
                <a:solidFill>
                  <a:srgbClr val="2B2B2B"/>
                </a:solidFill>
                <a:latin typeface="Calibri" pitchFamily="34" charset="0"/>
                <a:ea typeface="Calibri" pitchFamily="34" charset="-122"/>
                <a:cs typeface="Calibri" pitchFamily="34" charset="-120"/>
              </a:rPr>
              <a:t>Wrap each area's processing in try/catch so one failure logs and continues rather than aborting</a:t>
            </a:r>
            <a:endParaRPr lang="en-US" sz="890" dirty="0"/>
          </a:p>
          <a:p>
            <a:pPr marL="152400" indent="-152400">
              <a:lnSpc>
                <a:spcPct val="108000"/>
              </a:lnSpc>
              <a:buSzPct val="100000"/>
              <a:buChar char="•"/>
            </a:pPr>
            <a:r>
              <a:rPr lang="en-US" sz="890" dirty="0">
                <a:solidFill>
                  <a:srgbClr val="2B2B2B"/>
                </a:solidFill>
                <a:latin typeface="Calibri" pitchFamily="34" charset="0"/>
                <a:ea typeface="Calibri" pitchFamily="34" charset="-122"/>
                <a:cs typeface="Calibri" pitchFamily="34" charset="-120"/>
              </a:rPr>
              <a:t>Add a summary log line (areas processed / succeeded / failed) at the end of the run</a:t>
            </a:r>
            <a:endParaRPr lang="en-US" sz="890" dirty="0"/>
          </a:p>
        </p:txBody>
      </p:sp>
      <p:sp>
        <p:nvSpPr>
          <p:cNvPr id="14" name="Shape 12"/>
          <p:cNvSpPr/>
          <p:nvPr/>
        </p:nvSpPr>
        <p:spPr>
          <a:xfrm>
            <a:off x="6355080" y="1389888"/>
            <a:ext cx="5257800" cy="2286000"/>
          </a:xfrm>
          <a:prstGeom prst="roundRect">
            <a:avLst>
              <a:gd name="adj" fmla="val 3600"/>
            </a:avLst>
          </a:prstGeom>
          <a:solidFill>
            <a:srgbClr val="1E2761"/>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15" name="Text 13"/>
          <p:cNvSpPr txBox="1"/>
          <p:nvPr/>
        </p:nvSpPr>
        <p:spPr>
          <a:xfrm>
            <a:off x="6629400" y="1591056"/>
            <a:ext cx="475488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Sprint 2 at a glance</a:t>
            </a:r>
            <a:endParaRPr lang="en-US" sz="1500" dirty="0"/>
          </a:p>
        </p:txBody>
      </p:sp>
      <p:sp>
        <p:nvSpPr>
          <p:cNvPr id="16" name="Text 14"/>
          <p:cNvSpPr txBox="1"/>
          <p:nvPr/>
        </p:nvSpPr>
        <p:spPr>
          <a:xfrm>
            <a:off x="6629400" y="1993392"/>
            <a:ext cx="4754880" cy="1463040"/>
          </a:xfrm>
          <a:prstGeom prst="rect">
            <a:avLst/>
          </a:prstGeom>
          <a:noFill/>
          <a:ln/>
        </p:spPr>
        <p:txBody>
          <a:bodyPr wrap="square" lIns="0" tIns="0" rIns="0" bIns="0" rtlCol="0" anchor="ctr"/>
          <a:lstStyle/>
          <a:p>
            <a:pPr indent="0" marL="0">
              <a:lnSpc>
                <a:spcPct val="130000"/>
              </a:lnSpc>
              <a:buNone/>
            </a:pPr>
            <a:r>
              <a:rPr lang="en-US" sz="1160" dirty="0">
                <a:solidFill>
                  <a:srgbClr val="D8DCF7"/>
                </a:solidFill>
                <a:latin typeface="Calibri" pitchFamily="34" charset="0"/>
                <a:ea typeface="Calibri" pitchFamily="34" charset="-122"/>
                <a:cs typeface="Calibri" pitchFamily="34" charset="-120"/>
              </a:rPr>
              <a:t>9 user stories  ·  23 story points</a:t>
            </a:r>
            <a:endParaRPr lang="en-US" sz="1160" dirty="0"/>
          </a:p>
          <a:p>
            <a:pPr indent="0" marL="0">
              <a:lnSpc>
                <a:spcPct val="130000"/>
              </a:lnSpc>
              <a:buNone/>
            </a:pPr>
            <a:endParaRPr lang="en-US" sz="1160" dirty="0"/>
          </a:p>
          <a:p>
            <a:pPr indent="0" marL="0">
              <a:lnSpc>
                <a:spcPct val="130000"/>
              </a:lnSpc>
              <a:buNone/>
            </a:pPr>
            <a:r>
              <a:rPr lang="en-US" sz="1160" dirty="0">
                <a:solidFill>
                  <a:srgbClr val="D8DCF7"/>
                </a:solidFill>
                <a:latin typeface="Calibri" pitchFamily="34" charset="0"/>
                <a:ea typeface="Calibri" pitchFamily="34" charset="-122"/>
                <a:cs typeface="Calibri" pitchFamily="34" charset="-120"/>
              </a:rPr>
              <a:t>Demographic Integration (SCRUM-18 – 22)  12 pts</a:t>
            </a:r>
            <a:endParaRPr lang="en-US" sz="1160" dirty="0"/>
          </a:p>
          <a:p>
            <a:pPr indent="0" marL="0">
              <a:lnSpc>
                <a:spcPct val="130000"/>
              </a:lnSpc>
              <a:buNone/>
            </a:pPr>
            <a:r>
              <a:rPr lang="en-US" sz="1160" dirty="0">
                <a:solidFill>
                  <a:srgbClr val="D8DCF7"/>
                </a:solidFill>
                <a:latin typeface="Calibri" pitchFamily="34" charset="0"/>
                <a:ea typeface="Calibri" pitchFamily="34" charset="-122"/>
                <a:cs typeface="Calibri" pitchFamily="34" charset="-120"/>
              </a:rPr>
              <a:t>Live Weather Integration (SCRUM-23 – 25)  8 pts</a:t>
            </a:r>
            <a:endParaRPr lang="en-US" sz="1160" dirty="0"/>
          </a:p>
          <a:p>
            <a:pPr indent="0" marL="0">
              <a:lnSpc>
                <a:spcPct val="130000"/>
              </a:lnSpc>
              <a:buNone/>
            </a:pPr>
            <a:r>
              <a:rPr lang="en-US" sz="1160" dirty="0">
                <a:solidFill>
                  <a:srgbClr val="D8DCF7"/>
                </a:solidFill>
                <a:latin typeface="Calibri" pitchFamily="34" charset="0"/>
                <a:ea typeface="Calibri" pitchFamily="34" charset="-122"/>
                <a:cs typeface="Calibri" pitchFamily="34" charset="-120"/>
              </a:rPr>
              <a:t>Cross-cutting recompute (SCRUM-26)  3 pts</a:t>
            </a:r>
            <a:endParaRPr lang="en-US" sz="1160" dirty="0"/>
          </a:p>
        </p:txBody>
      </p:sp>
      <p:sp>
        <p:nvSpPr>
          <p:cNvPr id="17" name="Shape 15"/>
          <p:cNvSpPr/>
          <p:nvPr/>
        </p:nvSpPr>
        <p:spPr>
          <a:xfrm>
            <a:off x="6355080" y="3840480"/>
            <a:ext cx="5257800" cy="2441448"/>
          </a:xfrm>
          <a:prstGeom prst="roundRect">
            <a:avLst>
              <a:gd name="adj" fmla="val 3371"/>
            </a:avLst>
          </a:prstGeom>
          <a:solidFill>
            <a:srgbClr val="FBF0DC"/>
          </a:solidFill>
          <a:ln w="12700">
            <a:solidFill>
              <a:srgbClr val="EFD9AE"/>
            </a:solidFill>
            <a:prstDash val="solid"/>
          </a:ln>
          <a:effectLst>
            <a:outerShdw sx="100000" sy="100000" kx="0" ky="0" algn="bl" rotWithShape="0" blurRad="101600" dist="38100" dir="5400000">
              <a:srgbClr val="1E2761">
                <a:alpha val="18000"/>
              </a:srgbClr>
            </a:outerShdw>
          </a:effectLst>
        </p:spPr>
      </p:sp>
      <p:sp>
        <p:nvSpPr>
          <p:cNvPr id="18" name="Text 16"/>
          <p:cNvSpPr txBox="1"/>
          <p:nvPr/>
        </p:nvSpPr>
        <p:spPr>
          <a:xfrm>
            <a:off x="6629400" y="4041648"/>
            <a:ext cx="4754880" cy="320040"/>
          </a:xfrm>
          <a:prstGeom prst="rect">
            <a:avLst/>
          </a:prstGeom>
          <a:noFill/>
          <a:ln/>
        </p:spPr>
        <p:txBody>
          <a:bodyPr wrap="square" lIns="0" tIns="0" rIns="0" bIns="0" rtlCol="0" anchor="ctr"/>
          <a:lstStyle/>
          <a:p>
            <a:pPr indent="0" marL="0">
              <a:buNone/>
            </a:pPr>
            <a:r>
              <a:rPr lang="en-US" sz="1350" b="1" dirty="0">
                <a:solidFill>
                  <a:srgbClr val="C98A2E"/>
                </a:solidFill>
                <a:latin typeface="Calibri" pitchFamily="34" charset="0"/>
                <a:ea typeface="Calibri" pitchFamily="34" charset="-122"/>
                <a:cs typeface="Calibri" pitchFamily="34" charset="-120"/>
              </a:rPr>
              <a:t>Why this story is separate</a:t>
            </a:r>
            <a:endParaRPr lang="en-US" sz="1350" dirty="0"/>
          </a:p>
        </p:txBody>
      </p:sp>
      <p:sp>
        <p:nvSpPr>
          <p:cNvPr id="19" name="Text 17"/>
          <p:cNvSpPr txBox="1"/>
          <p:nvPr/>
        </p:nvSpPr>
        <p:spPr>
          <a:xfrm>
            <a:off x="6629400" y="4407408"/>
            <a:ext cx="4754880" cy="1737360"/>
          </a:xfrm>
          <a:prstGeom prst="rect">
            <a:avLst/>
          </a:prstGeom>
          <a:noFill/>
          <a:ln/>
        </p:spPr>
        <p:txBody>
          <a:bodyPr wrap="square" lIns="0" tIns="0" rIns="0" bIns="0" rtlCol="0" anchor="ctr"/>
          <a:lstStyle/>
          <a:p>
            <a:pPr indent="0" marL="0">
              <a:lnSpc>
                <a:spcPct val="122000"/>
              </a:lnSpc>
              <a:buNone/>
            </a:pPr>
            <a:r>
              <a:rPr lang="en-US" sz="1080" dirty="0">
                <a:solidFill>
                  <a:srgbClr val="2B2B2B"/>
                </a:solidFill>
                <a:latin typeface="Calibri" pitchFamily="34" charset="0"/>
                <a:ea typeface="Calibri" pitchFamily="34" charset="-122"/>
                <a:cs typeface="Calibri" pitchFamily="34" charset="-120"/>
              </a:rPr>
              <a:t>SCRUM-26 is the only Sprint 2 story that touches both epics, so it deliberately has no parent. Weather and demographics were split so two developers could each own an epic without editing the same files; the recompute job is where the two finally meet. It is scheduled to start once either epic lands, and may be reassigned at standup to whoever finishes first.</a:t>
            </a:r>
            <a:endParaRPr lang="en-US" sz="1080" dirty="0"/>
          </a:p>
        </p:txBody>
      </p:sp>
      <p:sp>
        <p:nvSpPr>
          <p:cNvPr id="20" name="Text 18"/>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CINS 5338/5388 — Software Project Management</a:t>
            </a:r>
            <a:endParaRPr lang="en-US" sz="900" dirty="0"/>
          </a:p>
        </p:txBody>
      </p:sp>
      <p:sp>
        <p:nvSpPr>
          <p:cNvPr id="21" name="Text 19"/>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NEW SINCE BACKLOG WAS FIRST DRAFTED</a:t>
            </a:r>
            <a:endParaRPr lang="en-US" sz="1250" dirty="0"/>
          </a:p>
        </p:txBody>
      </p:sp>
      <p:sp>
        <p:nvSpPr>
          <p:cNvPr id="3" name="Text 1"/>
          <p:cNvSpPr txBox="1"/>
          <p:nvPr/>
        </p:nvSpPr>
        <p:spPr>
          <a:xfrm>
            <a:off x="548640" y="59436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Site Directory — Pilot Region Update</a:t>
            </a:r>
            <a:endParaRPr lang="en-US" sz="3000" dirty="0"/>
          </a:p>
        </p:txBody>
      </p:sp>
      <p:sp>
        <p:nvSpPr>
          <p:cNvPr id="4" name="Shape 2"/>
          <p:cNvSpPr/>
          <p:nvPr/>
        </p:nvSpPr>
        <p:spPr>
          <a:xfrm>
            <a:off x="548640" y="1234440"/>
            <a:ext cx="11064240" cy="777240"/>
          </a:xfrm>
          <a:prstGeom prst="roundRect">
            <a:avLst>
              <a:gd name="adj" fmla="val 10588"/>
            </a:avLst>
          </a:prstGeom>
          <a:solidFill>
            <a:srgbClr val="FDE8E4"/>
          </a:solidFill>
          <a:ln w="12700">
            <a:solidFill>
              <a:srgbClr val="E1E4F0"/>
            </a:solidFill>
            <a:prstDash val="solid"/>
          </a:ln>
        </p:spPr>
      </p:sp>
      <p:sp>
        <p:nvSpPr>
          <p:cNvPr id="5" name="Text 3"/>
          <p:cNvSpPr/>
          <p:nvPr/>
        </p:nvSpPr>
        <p:spPr>
          <a:xfrm>
            <a:off x="777240" y="1325880"/>
            <a:ext cx="1828800" cy="228600"/>
          </a:xfrm>
          <a:prstGeom prst="rect">
            <a:avLst/>
          </a:prstGeom>
          <a:noFill/>
          <a:ln/>
        </p:spPr>
        <p:txBody>
          <a:bodyPr wrap="square" lIns="0" tIns="0" rIns="0" bIns="0" rtlCol="0" anchor="ctr"/>
          <a:lstStyle/>
          <a:p>
            <a:pPr indent="0" marL="0">
              <a:buNone/>
            </a:pPr>
            <a:r>
              <a:rPr lang="en-US" sz="900" b="1" spc="100" kern="0" dirty="0">
                <a:solidFill>
                  <a:srgbClr val="E8543A"/>
                </a:solidFill>
                <a:latin typeface="Calibri" pitchFamily="34" charset="0"/>
                <a:ea typeface="Calibri" pitchFamily="34" charset="-122"/>
                <a:cs typeface="Calibri" pitchFamily="34" charset="-120"/>
              </a:rPr>
              <a:t>GAP</a:t>
            </a:r>
            <a:endParaRPr lang="en-US" sz="900" dirty="0"/>
          </a:p>
        </p:txBody>
      </p:sp>
      <p:sp>
        <p:nvSpPr>
          <p:cNvPr id="6" name="Text 4"/>
          <p:cNvSpPr/>
          <p:nvPr/>
        </p:nvSpPr>
        <p:spPr>
          <a:xfrm>
            <a:off x="777240" y="1563624"/>
            <a:ext cx="10607040" cy="384048"/>
          </a:xfrm>
          <a:prstGeom prst="rect">
            <a:avLst/>
          </a:prstGeom>
          <a:noFill/>
          <a:ln/>
        </p:spPr>
        <p:txBody>
          <a:bodyPr wrap="square" lIns="0" tIns="0" rIns="0" bIns="0" rtlCol="0" anchor="ctr"/>
          <a:lstStyle/>
          <a:p>
            <a:pPr indent="0" marL="0">
              <a:buNone/>
            </a:pPr>
            <a:r>
              <a:rPr lang="en-US" sz="1100" i="1" dirty="0">
                <a:solidFill>
                  <a:srgbClr val="2B2B2B"/>
                </a:solidFill>
                <a:latin typeface="Calibri" pitchFamily="34" charset="0"/>
                <a:ea typeface="Calibri" pitchFamily="34" charset="-122"/>
                <a:cs typeface="Calibri" pitchFamily="34" charset="-120"/>
              </a:rPr>
              <a:t>The resident site-search view had no cooling/water “site” records to show — only the priority-area overlay had real data.</a:t>
            </a:r>
            <a:endParaRPr lang="en-US" sz="1100" dirty="0"/>
          </a:p>
        </p:txBody>
      </p:sp>
      <p:sp>
        <p:nvSpPr>
          <p:cNvPr id="7" name="Shape 5"/>
          <p:cNvSpPr/>
          <p:nvPr/>
        </p:nvSpPr>
        <p:spPr>
          <a:xfrm>
            <a:off x="548640" y="2148840"/>
            <a:ext cx="11064240" cy="777240"/>
          </a:xfrm>
          <a:prstGeom prst="roundRect">
            <a:avLst>
              <a:gd name="adj" fmla="val 10588"/>
            </a:avLst>
          </a:prstGeom>
          <a:solidFill>
            <a:srgbClr val="E4F3EB"/>
          </a:solidFill>
          <a:ln w="12700">
            <a:solidFill>
              <a:srgbClr val="E1E4F0"/>
            </a:solidFill>
            <a:prstDash val="solid"/>
          </a:ln>
        </p:spPr>
      </p:sp>
      <p:sp>
        <p:nvSpPr>
          <p:cNvPr id="8" name="Text 6"/>
          <p:cNvSpPr/>
          <p:nvPr/>
        </p:nvSpPr>
        <p:spPr>
          <a:xfrm>
            <a:off x="777240" y="2240280"/>
            <a:ext cx="3657600" cy="228600"/>
          </a:xfrm>
          <a:prstGeom prst="rect">
            <a:avLst/>
          </a:prstGeom>
          <a:noFill/>
          <a:ln/>
        </p:spPr>
        <p:txBody>
          <a:bodyPr wrap="square" lIns="0" tIns="0" rIns="0" bIns="0" rtlCol="0" anchor="ctr"/>
          <a:lstStyle/>
          <a:p>
            <a:pPr indent="0" marL="0">
              <a:buNone/>
            </a:pPr>
            <a:r>
              <a:rPr lang="en-US" sz="900" b="1" spc="100" kern="0" dirty="0">
                <a:solidFill>
                  <a:srgbClr val="2E8B57"/>
                </a:solidFill>
                <a:latin typeface="Calibri" pitchFamily="34" charset="0"/>
                <a:ea typeface="Calibri" pitchFamily="34" charset="-122"/>
                <a:cs typeface="Calibri" pitchFamily="34" charset="-120"/>
              </a:rPr>
              <a:t>FIXED — SCRUM-27 (IN REVIEW)</a:t>
            </a:r>
            <a:endParaRPr lang="en-US" sz="900" dirty="0"/>
          </a:p>
        </p:txBody>
      </p:sp>
      <p:sp>
        <p:nvSpPr>
          <p:cNvPr id="9" name="Text 7"/>
          <p:cNvSpPr/>
          <p:nvPr/>
        </p:nvSpPr>
        <p:spPr>
          <a:xfrm>
            <a:off x="777240" y="2478024"/>
            <a:ext cx="10607040" cy="384048"/>
          </a:xfrm>
          <a:prstGeom prst="rect">
            <a:avLst/>
          </a:prstGeom>
          <a:noFill/>
          <a:ln/>
        </p:spPr>
        <p:txBody>
          <a:bodyPr wrap="square" lIns="0" tIns="0" rIns="0" bIns="0" rtlCol="0" anchor="ctr"/>
          <a:lstStyle/>
          <a:p>
            <a:pPr indent="0" marL="0">
              <a:buNone/>
            </a:pPr>
            <a:r>
              <a:rPr lang="en-US" sz="1100" dirty="0">
                <a:solidFill>
                  <a:srgbClr val="2B2B2B"/>
                </a:solidFill>
                <a:latin typeface="Calibri" pitchFamily="34" charset="0"/>
                <a:ea typeface="Calibri" pitchFamily="34" charset="-122"/>
                <a:cs typeface="Calibri" pitchFamily="34" charset="-120"/>
              </a:rPr>
              <a:t>11 real, publicly documented relief sites seeded across the Texas pilot region.</a:t>
            </a:r>
            <a:endParaRPr lang="en-US" sz="1100" dirty="0"/>
          </a:p>
        </p:txBody>
      </p:sp>
      <p:sp>
        <p:nvSpPr>
          <p:cNvPr id="10" name="Text 8"/>
          <p:cNvSpPr/>
          <p:nvPr/>
        </p:nvSpPr>
        <p:spPr>
          <a:xfrm>
            <a:off x="548640" y="3200400"/>
            <a:ext cx="6492240" cy="2743200"/>
          </a:xfrm>
          <a:prstGeom prst="rect">
            <a:avLst/>
          </a:prstGeom>
          <a:noFill/>
          <a:ln/>
        </p:spPr>
        <p:txBody>
          <a:bodyPr wrap="square" lIns="0" tIns="0" rIns="0" bIns="0" rtlCol="0" anchor="t"/>
          <a:lstStyle/>
          <a:p>
            <a:pPr marL="152400" indent="-152400">
              <a:lnSpc>
                <a:spcPct val="108000"/>
              </a:lnSpc>
              <a:buSzPct val="100000"/>
              <a:buChar char="•"/>
            </a:pPr>
            <a:r>
              <a:rPr lang="en-US" sz="1050" dirty="0">
                <a:solidFill>
                  <a:srgbClr val="2B2B2B"/>
                </a:solidFill>
                <a:latin typeface="Calibri" pitchFamily="34" charset="0"/>
                <a:ea typeface="Calibri" pitchFamily="34" charset="-122"/>
                <a:cs typeface="Calibri" pitchFamily="34" charset="-120"/>
              </a:rPr>
              <a:t>Sites are real, verified locations — public library branches serving as official cooling centers, city recreation centers, and parks — checked against each city's library/parks department site and the Census Bureau geocoder.</a:t>
            </a:r>
            <a:endParaRPr lang="en-US" sz="1050" dirty="0"/>
          </a:p>
          <a:p>
            <a:pPr marL="152400" indent="-152400">
              <a:lnSpc>
                <a:spcPct val="108000"/>
              </a:lnSpc>
              <a:buSzPct val="100000"/>
              <a:buChar char="•"/>
            </a:pPr>
            <a:r>
              <a:rPr lang="en-US" sz="1050" dirty="0">
                <a:solidFill>
                  <a:srgbClr val="2B2B2B"/>
                </a:solidFill>
                <a:latin typeface="Calibri" pitchFamily="34" charset="0"/>
                <a:ea typeface="Calibri" pitchFamily="34" charset="-122"/>
                <a:cs typeface="Calibri" pitchFamily="34" charset="-120"/>
              </a:rPr>
              <a:t>Pilot region moved from an initial Los Angeles placeholder to statewide Texas, matching the project's own location (Houston) for real-world accuracy.</a:t>
            </a:r>
            <a:endParaRPr lang="en-US" sz="1050" dirty="0"/>
          </a:p>
          <a:p>
            <a:pPr marL="152400" indent="-152400">
              <a:lnSpc>
                <a:spcPct val="108000"/>
              </a:lnSpc>
              <a:buSzPct val="100000"/>
              <a:buChar char="•"/>
            </a:pPr>
            <a:r>
              <a:rPr lang="en-US" sz="1050" dirty="0">
                <a:solidFill>
                  <a:srgbClr val="2B2B2B"/>
                </a:solidFill>
                <a:latin typeface="Calibri" pitchFamily="34" charset="0"/>
                <a:ea typeface="Calibri" pitchFamily="34" charset="-122"/>
                <a:cs typeface="Calibri" pitchFamily="34" charset="-120"/>
              </a:rPr>
              <a:t>Site types map to the existing schema: cooling_center, water_station, shade, splash_pad. Community/rec centers are seeded as cooling_center — no separate type exists in the DB's CHECK constraint.</a:t>
            </a:r>
            <a:endParaRPr lang="en-US" sz="1050" dirty="0"/>
          </a:p>
          <a:p>
            <a:pPr marL="152400" indent="-152400">
              <a:lnSpc>
                <a:spcPct val="108000"/>
              </a:lnSpc>
              <a:buSzPct val="100000"/>
              <a:buChar char="•"/>
            </a:pPr>
            <a:r>
              <a:rPr lang="en-US" sz="1050" dirty="0">
                <a:solidFill>
                  <a:srgbClr val="2B2B2B"/>
                </a:solidFill>
                <a:latin typeface="Calibri" pitchFamily="34" charset="0"/>
                <a:ea typeface="Calibri" pitchFamily="34" charset="-122"/>
                <a:cs typeface="Calibri" pitchFamily="34" charset="-120"/>
              </a:rPr>
              <a:t>Status is deliberately seeded as “unknown” — real open/closed status comes from an org admin via the app's own “Update Site Open/Closed Status” flow, not from guessing it.</a:t>
            </a:r>
            <a:endParaRPr lang="en-US" sz="1050" dirty="0"/>
          </a:p>
        </p:txBody>
      </p:sp>
      <p:sp>
        <p:nvSpPr>
          <p:cNvPr id="11" name="Text 9"/>
          <p:cNvSpPr/>
          <p:nvPr/>
        </p:nvSpPr>
        <p:spPr>
          <a:xfrm>
            <a:off x="7315200" y="3200400"/>
            <a:ext cx="4297680" cy="228600"/>
          </a:xfrm>
          <a:prstGeom prst="rect">
            <a:avLst/>
          </a:prstGeom>
          <a:noFill/>
          <a:ln/>
        </p:spPr>
        <p:txBody>
          <a:bodyPr wrap="square" lIns="0" tIns="0" rIns="0" bIns="0" rtlCol="0" anchor="ctr"/>
          <a:lstStyle/>
          <a:p>
            <a:pPr indent="0" marL="0">
              <a:buNone/>
            </a:pPr>
            <a:r>
              <a:rPr lang="en-US" sz="900" b="1" spc="100" kern="0" dirty="0">
                <a:solidFill>
                  <a:srgbClr val="1E2761"/>
                </a:solidFill>
                <a:latin typeface="Calibri" pitchFamily="34" charset="0"/>
                <a:ea typeface="Calibri" pitchFamily="34" charset="-122"/>
                <a:cs typeface="Calibri" pitchFamily="34" charset="-120"/>
              </a:rPr>
              <a:t>SITES BY CITY</a:t>
            </a:r>
            <a:endParaRPr lang="en-US" sz="900" dirty="0"/>
          </a:p>
        </p:txBody>
      </p:sp>
      <p:sp>
        <p:nvSpPr>
          <p:cNvPr id="12" name="Shape 10"/>
          <p:cNvSpPr/>
          <p:nvPr/>
        </p:nvSpPr>
        <p:spPr>
          <a:xfrm>
            <a:off x="7315200" y="3502152"/>
            <a:ext cx="4297680" cy="329184"/>
          </a:xfrm>
          <a:prstGeom prst="roundRect">
            <a:avLst>
              <a:gd name="adj" fmla="val 25000"/>
            </a:avLst>
          </a:prstGeom>
          <a:solidFill>
            <a:srgbClr val="F4F5FA"/>
          </a:solidFill>
          <a:ln w="12700">
            <a:solidFill>
              <a:srgbClr val="E1E4F0"/>
            </a:solidFill>
            <a:prstDash val="solid"/>
          </a:ln>
        </p:spPr>
      </p:sp>
      <p:sp>
        <p:nvSpPr>
          <p:cNvPr id="13" name="Text 11"/>
          <p:cNvSpPr/>
          <p:nvPr/>
        </p:nvSpPr>
        <p:spPr>
          <a:xfrm>
            <a:off x="7498080" y="3502152"/>
            <a:ext cx="2743200" cy="329184"/>
          </a:xfrm>
          <a:prstGeom prst="rect">
            <a:avLst/>
          </a:prstGeom>
          <a:noFill/>
          <a:ln/>
        </p:spPr>
        <p:txBody>
          <a:bodyPr wrap="square" lIns="0" tIns="0" rIns="0" bIns="0" rtlCol="0" anchor="ctr"/>
          <a:lstStyle/>
          <a:p>
            <a:pPr indent="0" marL="0">
              <a:buNone/>
            </a:pPr>
            <a:r>
              <a:rPr lang="en-US" sz="1050" dirty="0">
                <a:solidFill>
                  <a:srgbClr val="2B2B2B"/>
                </a:solidFill>
                <a:latin typeface="Calibri" pitchFamily="34" charset="0"/>
                <a:ea typeface="Calibri" pitchFamily="34" charset="-122"/>
                <a:cs typeface="Calibri" pitchFamily="34" charset="-120"/>
              </a:rPr>
              <a:t>Houston</a:t>
            </a:r>
            <a:endParaRPr lang="en-US" sz="1050" dirty="0"/>
          </a:p>
        </p:txBody>
      </p:sp>
      <p:sp>
        <p:nvSpPr>
          <p:cNvPr id="14" name="Shape 12"/>
          <p:cNvSpPr/>
          <p:nvPr/>
        </p:nvSpPr>
        <p:spPr>
          <a:xfrm>
            <a:off x="10652760" y="3538728"/>
            <a:ext cx="822960" cy="256032"/>
          </a:xfrm>
          <a:prstGeom prst="roundRect">
            <a:avLst>
              <a:gd name="adj" fmla="val 50000"/>
            </a:avLst>
          </a:prstGeom>
          <a:solidFill>
            <a:srgbClr val="FFFFFF"/>
          </a:solidFill>
          <a:ln/>
        </p:spPr>
      </p:sp>
      <p:sp>
        <p:nvSpPr>
          <p:cNvPr id="15" name="Text 13"/>
          <p:cNvSpPr txBox="1"/>
          <p:nvPr/>
        </p:nvSpPr>
        <p:spPr>
          <a:xfrm>
            <a:off x="10652760" y="3538728"/>
            <a:ext cx="822960" cy="256032"/>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4 sites</a:t>
            </a:r>
            <a:endParaRPr lang="en-US" sz="950" dirty="0"/>
          </a:p>
        </p:txBody>
      </p:sp>
      <p:sp>
        <p:nvSpPr>
          <p:cNvPr id="16" name="Shape 14"/>
          <p:cNvSpPr/>
          <p:nvPr/>
        </p:nvSpPr>
        <p:spPr>
          <a:xfrm>
            <a:off x="7315200" y="3904488"/>
            <a:ext cx="4297680" cy="329184"/>
          </a:xfrm>
          <a:prstGeom prst="roundRect">
            <a:avLst>
              <a:gd name="adj" fmla="val 25000"/>
            </a:avLst>
          </a:prstGeom>
          <a:solidFill>
            <a:srgbClr val="F4F5FA"/>
          </a:solidFill>
          <a:ln w="12700">
            <a:solidFill>
              <a:srgbClr val="E1E4F0"/>
            </a:solidFill>
            <a:prstDash val="solid"/>
          </a:ln>
        </p:spPr>
      </p:sp>
      <p:sp>
        <p:nvSpPr>
          <p:cNvPr id="17" name="Text 15"/>
          <p:cNvSpPr/>
          <p:nvPr/>
        </p:nvSpPr>
        <p:spPr>
          <a:xfrm>
            <a:off x="7498080" y="3904488"/>
            <a:ext cx="2743200" cy="329184"/>
          </a:xfrm>
          <a:prstGeom prst="rect">
            <a:avLst/>
          </a:prstGeom>
          <a:noFill/>
          <a:ln/>
        </p:spPr>
        <p:txBody>
          <a:bodyPr wrap="square" lIns="0" tIns="0" rIns="0" bIns="0" rtlCol="0" anchor="ctr"/>
          <a:lstStyle/>
          <a:p>
            <a:pPr indent="0" marL="0">
              <a:buNone/>
            </a:pPr>
            <a:r>
              <a:rPr lang="en-US" sz="1050" dirty="0">
                <a:solidFill>
                  <a:srgbClr val="2B2B2B"/>
                </a:solidFill>
                <a:latin typeface="Calibri" pitchFamily="34" charset="0"/>
                <a:ea typeface="Calibri" pitchFamily="34" charset="-122"/>
                <a:cs typeface="Calibri" pitchFamily="34" charset="-120"/>
              </a:rPr>
              <a:t>Dallas</a:t>
            </a:r>
            <a:endParaRPr lang="en-US" sz="1050" dirty="0"/>
          </a:p>
        </p:txBody>
      </p:sp>
      <p:sp>
        <p:nvSpPr>
          <p:cNvPr id="18" name="Shape 16"/>
          <p:cNvSpPr/>
          <p:nvPr/>
        </p:nvSpPr>
        <p:spPr>
          <a:xfrm>
            <a:off x="10652760" y="3941064"/>
            <a:ext cx="822960" cy="256032"/>
          </a:xfrm>
          <a:prstGeom prst="roundRect">
            <a:avLst>
              <a:gd name="adj" fmla="val 50000"/>
            </a:avLst>
          </a:prstGeom>
          <a:solidFill>
            <a:srgbClr val="FFFFFF"/>
          </a:solidFill>
          <a:ln/>
        </p:spPr>
      </p:sp>
      <p:sp>
        <p:nvSpPr>
          <p:cNvPr id="19" name="Text 17"/>
          <p:cNvSpPr txBox="1"/>
          <p:nvPr/>
        </p:nvSpPr>
        <p:spPr>
          <a:xfrm>
            <a:off x="10652760" y="3941064"/>
            <a:ext cx="822960" cy="256032"/>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2 sites</a:t>
            </a:r>
            <a:endParaRPr lang="en-US" sz="950" dirty="0"/>
          </a:p>
        </p:txBody>
      </p:sp>
      <p:sp>
        <p:nvSpPr>
          <p:cNvPr id="20" name="Shape 18"/>
          <p:cNvSpPr/>
          <p:nvPr/>
        </p:nvSpPr>
        <p:spPr>
          <a:xfrm>
            <a:off x="7315200" y="4306824"/>
            <a:ext cx="4297680" cy="329184"/>
          </a:xfrm>
          <a:prstGeom prst="roundRect">
            <a:avLst>
              <a:gd name="adj" fmla="val 25000"/>
            </a:avLst>
          </a:prstGeom>
          <a:solidFill>
            <a:srgbClr val="F4F5FA"/>
          </a:solidFill>
          <a:ln w="12700">
            <a:solidFill>
              <a:srgbClr val="E1E4F0"/>
            </a:solidFill>
            <a:prstDash val="solid"/>
          </a:ln>
        </p:spPr>
      </p:sp>
      <p:sp>
        <p:nvSpPr>
          <p:cNvPr id="21" name="Text 19"/>
          <p:cNvSpPr/>
          <p:nvPr/>
        </p:nvSpPr>
        <p:spPr>
          <a:xfrm>
            <a:off x="7498080" y="4306824"/>
            <a:ext cx="2743200" cy="329184"/>
          </a:xfrm>
          <a:prstGeom prst="rect">
            <a:avLst/>
          </a:prstGeom>
          <a:noFill/>
          <a:ln/>
        </p:spPr>
        <p:txBody>
          <a:bodyPr wrap="square" lIns="0" tIns="0" rIns="0" bIns="0" rtlCol="0" anchor="ctr"/>
          <a:lstStyle/>
          <a:p>
            <a:pPr indent="0" marL="0">
              <a:buNone/>
            </a:pPr>
            <a:r>
              <a:rPr lang="en-US" sz="1050" dirty="0">
                <a:solidFill>
                  <a:srgbClr val="2B2B2B"/>
                </a:solidFill>
                <a:latin typeface="Calibri" pitchFamily="34" charset="0"/>
                <a:ea typeface="Calibri" pitchFamily="34" charset="-122"/>
                <a:cs typeface="Calibri" pitchFamily="34" charset="-120"/>
              </a:rPr>
              <a:t>Fort Worth</a:t>
            </a:r>
            <a:endParaRPr lang="en-US" sz="1050" dirty="0"/>
          </a:p>
        </p:txBody>
      </p:sp>
      <p:sp>
        <p:nvSpPr>
          <p:cNvPr id="22" name="Shape 20"/>
          <p:cNvSpPr/>
          <p:nvPr/>
        </p:nvSpPr>
        <p:spPr>
          <a:xfrm>
            <a:off x="10652760" y="4343400"/>
            <a:ext cx="822960" cy="256032"/>
          </a:xfrm>
          <a:prstGeom prst="roundRect">
            <a:avLst>
              <a:gd name="adj" fmla="val 50000"/>
            </a:avLst>
          </a:prstGeom>
          <a:solidFill>
            <a:srgbClr val="FFFFFF"/>
          </a:solidFill>
          <a:ln/>
        </p:spPr>
      </p:sp>
      <p:sp>
        <p:nvSpPr>
          <p:cNvPr id="23" name="Text 21"/>
          <p:cNvSpPr txBox="1"/>
          <p:nvPr/>
        </p:nvSpPr>
        <p:spPr>
          <a:xfrm>
            <a:off x="10652760" y="4343400"/>
            <a:ext cx="822960" cy="256032"/>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1 site</a:t>
            </a:r>
            <a:endParaRPr lang="en-US" sz="950" dirty="0"/>
          </a:p>
        </p:txBody>
      </p:sp>
      <p:sp>
        <p:nvSpPr>
          <p:cNvPr id="24" name="Shape 22"/>
          <p:cNvSpPr/>
          <p:nvPr/>
        </p:nvSpPr>
        <p:spPr>
          <a:xfrm>
            <a:off x="7315200" y="4709160"/>
            <a:ext cx="4297680" cy="329184"/>
          </a:xfrm>
          <a:prstGeom prst="roundRect">
            <a:avLst>
              <a:gd name="adj" fmla="val 25000"/>
            </a:avLst>
          </a:prstGeom>
          <a:solidFill>
            <a:srgbClr val="F4F5FA"/>
          </a:solidFill>
          <a:ln w="12700">
            <a:solidFill>
              <a:srgbClr val="E1E4F0"/>
            </a:solidFill>
            <a:prstDash val="solid"/>
          </a:ln>
        </p:spPr>
      </p:sp>
      <p:sp>
        <p:nvSpPr>
          <p:cNvPr id="25" name="Text 23"/>
          <p:cNvSpPr/>
          <p:nvPr/>
        </p:nvSpPr>
        <p:spPr>
          <a:xfrm>
            <a:off x="7498080" y="4709160"/>
            <a:ext cx="2743200" cy="329184"/>
          </a:xfrm>
          <a:prstGeom prst="rect">
            <a:avLst/>
          </a:prstGeom>
          <a:noFill/>
          <a:ln/>
        </p:spPr>
        <p:txBody>
          <a:bodyPr wrap="square" lIns="0" tIns="0" rIns="0" bIns="0" rtlCol="0" anchor="ctr"/>
          <a:lstStyle/>
          <a:p>
            <a:pPr indent="0" marL="0">
              <a:buNone/>
            </a:pPr>
            <a:r>
              <a:rPr lang="en-US" sz="1050" dirty="0">
                <a:solidFill>
                  <a:srgbClr val="2B2B2B"/>
                </a:solidFill>
                <a:latin typeface="Calibri" pitchFamily="34" charset="0"/>
                <a:ea typeface="Calibri" pitchFamily="34" charset="-122"/>
                <a:cs typeface="Calibri" pitchFamily="34" charset="-120"/>
              </a:rPr>
              <a:t>Austin</a:t>
            </a:r>
            <a:endParaRPr lang="en-US" sz="1050" dirty="0"/>
          </a:p>
        </p:txBody>
      </p:sp>
      <p:sp>
        <p:nvSpPr>
          <p:cNvPr id="26" name="Shape 24"/>
          <p:cNvSpPr/>
          <p:nvPr/>
        </p:nvSpPr>
        <p:spPr>
          <a:xfrm>
            <a:off x="10652760" y="4745736"/>
            <a:ext cx="822960" cy="256032"/>
          </a:xfrm>
          <a:prstGeom prst="roundRect">
            <a:avLst>
              <a:gd name="adj" fmla="val 50000"/>
            </a:avLst>
          </a:prstGeom>
          <a:solidFill>
            <a:srgbClr val="FFFFFF"/>
          </a:solidFill>
          <a:ln/>
        </p:spPr>
      </p:sp>
      <p:sp>
        <p:nvSpPr>
          <p:cNvPr id="27" name="Text 25"/>
          <p:cNvSpPr txBox="1"/>
          <p:nvPr/>
        </p:nvSpPr>
        <p:spPr>
          <a:xfrm>
            <a:off x="10652760" y="4745736"/>
            <a:ext cx="822960" cy="256032"/>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2 sites</a:t>
            </a:r>
            <a:endParaRPr lang="en-US" sz="950" dirty="0"/>
          </a:p>
        </p:txBody>
      </p:sp>
      <p:sp>
        <p:nvSpPr>
          <p:cNvPr id="28" name="Shape 26"/>
          <p:cNvSpPr/>
          <p:nvPr/>
        </p:nvSpPr>
        <p:spPr>
          <a:xfrm>
            <a:off x="7315200" y="5111496"/>
            <a:ext cx="4297680" cy="329184"/>
          </a:xfrm>
          <a:prstGeom prst="roundRect">
            <a:avLst>
              <a:gd name="adj" fmla="val 25000"/>
            </a:avLst>
          </a:prstGeom>
          <a:solidFill>
            <a:srgbClr val="F4F5FA"/>
          </a:solidFill>
          <a:ln w="12700">
            <a:solidFill>
              <a:srgbClr val="E1E4F0"/>
            </a:solidFill>
            <a:prstDash val="solid"/>
          </a:ln>
        </p:spPr>
      </p:sp>
      <p:sp>
        <p:nvSpPr>
          <p:cNvPr id="29" name="Text 27"/>
          <p:cNvSpPr/>
          <p:nvPr/>
        </p:nvSpPr>
        <p:spPr>
          <a:xfrm>
            <a:off x="7498080" y="5111496"/>
            <a:ext cx="2743200" cy="329184"/>
          </a:xfrm>
          <a:prstGeom prst="rect">
            <a:avLst/>
          </a:prstGeom>
          <a:noFill/>
          <a:ln/>
        </p:spPr>
        <p:txBody>
          <a:bodyPr wrap="square" lIns="0" tIns="0" rIns="0" bIns="0" rtlCol="0" anchor="ctr"/>
          <a:lstStyle/>
          <a:p>
            <a:pPr indent="0" marL="0">
              <a:buNone/>
            </a:pPr>
            <a:r>
              <a:rPr lang="en-US" sz="1050" dirty="0">
                <a:solidFill>
                  <a:srgbClr val="2B2B2B"/>
                </a:solidFill>
                <a:latin typeface="Calibri" pitchFamily="34" charset="0"/>
                <a:ea typeface="Calibri" pitchFamily="34" charset="-122"/>
                <a:cs typeface="Calibri" pitchFamily="34" charset="-120"/>
              </a:rPr>
              <a:t>San Antonio</a:t>
            </a:r>
            <a:endParaRPr lang="en-US" sz="1050" dirty="0"/>
          </a:p>
        </p:txBody>
      </p:sp>
      <p:sp>
        <p:nvSpPr>
          <p:cNvPr id="30" name="Shape 28"/>
          <p:cNvSpPr/>
          <p:nvPr/>
        </p:nvSpPr>
        <p:spPr>
          <a:xfrm>
            <a:off x="10652760" y="5148072"/>
            <a:ext cx="822960" cy="256032"/>
          </a:xfrm>
          <a:prstGeom prst="roundRect">
            <a:avLst>
              <a:gd name="adj" fmla="val 50000"/>
            </a:avLst>
          </a:prstGeom>
          <a:solidFill>
            <a:srgbClr val="FFFFFF"/>
          </a:solidFill>
          <a:ln/>
        </p:spPr>
      </p:sp>
      <p:sp>
        <p:nvSpPr>
          <p:cNvPr id="31" name="Text 29"/>
          <p:cNvSpPr txBox="1"/>
          <p:nvPr/>
        </p:nvSpPr>
        <p:spPr>
          <a:xfrm>
            <a:off x="10652760" y="5148072"/>
            <a:ext cx="822960" cy="256032"/>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2 sites</a:t>
            </a:r>
            <a:endParaRPr lang="en-US" sz="950" dirty="0"/>
          </a:p>
        </p:txBody>
      </p:sp>
      <p:sp>
        <p:nvSpPr>
          <p:cNvPr id="32" name="Text 30"/>
          <p:cNvSpPr/>
          <p:nvPr/>
        </p:nvSpPr>
        <p:spPr>
          <a:xfrm>
            <a:off x="548640" y="5989320"/>
            <a:ext cx="11064240" cy="457200"/>
          </a:xfrm>
          <a:prstGeom prst="rect">
            <a:avLst/>
          </a:prstGeom>
          <a:noFill/>
          <a:ln/>
        </p:spPr>
        <p:txBody>
          <a:bodyPr wrap="square" lIns="0" tIns="0" rIns="0" bIns="0" rtlCol="0" anchor="ctr"/>
          <a:lstStyle/>
          <a:p>
            <a:pPr indent="0" marL="0">
              <a:lnSpc>
                <a:spcPct val="115000"/>
              </a:lnSpc>
              <a:buNone/>
            </a:pPr>
            <a:r>
              <a:rPr lang="en-US" sz="950" i="1" dirty="0">
                <a:solidFill>
                  <a:srgbClr val="6B7280"/>
                </a:solidFill>
                <a:latin typeface="Calibri" pitchFamily="34" charset="0"/>
                <a:ea typeface="Calibri" pitchFamily="34" charset="-122"/>
                <a:cs typeface="Calibri" pitchFamily="34" charset="-120"/>
              </a:rPr>
              <a:t>Pending: local seed run (seed_areas.sql + seed_sites.sql) and PR merge into develop before map/admin screenshots reflect the new data.</a:t>
            </a:r>
            <a:endParaRPr lang="en-US" sz="950" dirty="0"/>
          </a:p>
        </p:txBody>
      </p:sp>
      <p:sp>
        <p:nvSpPr>
          <p:cNvPr id="33" name="Text 31"/>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CINS 5338/5388 — Software Project Management</a:t>
            </a:r>
            <a:endParaRPr lang="en-US" sz="900" dirty="0"/>
          </a:p>
        </p:txBody>
      </p:sp>
      <p:sp>
        <p:nvSpPr>
          <p:cNvPr id="34" name="Text 32"/>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BALANCED BY STORY POINTS &amp; SCRUM ROLE</a:t>
            </a:r>
            <a:endParaRPr lang="en-US" sz="1250" dirty="0"/>
          </a:p>
        </p:txBody>
      </p:sp>
      <p:sp>
        <p:nvSpPr>
          <p:cNvPr id="3" name="Text 1"/>
          <p:cNvSpPr txBox="1"/>
          <p:nvPr/>
        </p:nvSpPr>
        <p:spPr>
          <a:xfrm>
            <a:off x="548640" y="59436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Sprint 2 — Team Assignments</a:t>
            </a:r>
            <a:endParaRPr lang="en-US" sz="3000" dirty="0"/>
          </a:p>
        </p:txBody>
      </p:sp>
      <p:sp>
        <p:nvSpPr>
          <p:cNvPr id="4" name="Text 2"/>
          <p:cNvSpPr/>
          <p:nvPr/>
        </p:nvSpPr>
        <p:spPr>
          <a:xfrm>
            <a:off x="1417320" y="1280160"/>
            <a:ext cx="2743200" cy="228600"/>
          </a:xfrm>
          <a:prstGeom prst="rect">
            <a:avLst/>
          </a:prstGeom>
          <a:noFill/>
          <a:ln/>
        </p:spPr>
        <p:txBody>
          <a:bodyPr wrap="square" lIns="0" tIns="0" rIns="0" bIns="0" rtlCol="0" anchor="ctr"/>
          <a:lstStyle/>
          <a:p>
            <a:pPr indent="0" marL="0">
              <a:buNone/>
            </a:pPr>
            <a:r>
              <a:rPr lang="en-US" sz="900" b="1" spc="100" kern="0" dirty="0">
                <a:solidFill>
                  <a:srgbClr val="6B7280"/>
                </a:solidFill>
                <a:latin typeface="Calibri" pitchFamily="34" charset="0"/>
                <a:ea typeface="Calibri" pitchFamily="34" charset="-122"/>
                <a:cs typeface="Calibri" pitchFamily="34" charset="-120"/>
              </a:rPr>
              <a:t>ASSIGNEE</a:t>
            </a:r>
            <a:endParaRPr lang="en-US" sz="900" dirty="0"/>
          </a:p>
        </p:txBody>
      </p:sp>
      <p:sp>
        <p:nvSpPr>
          <p:cNvPr id="5" name="Text 3"/>
          <p:cNvSpPr/>
          <p:nvPr/>
        </p:nvSpPr>
        <p:spPr>
          <a:xfrm>
            <a:off x="4206240" y="1280160"/>
            <a:ext cx="1645920" cy="228600"/>
          </a:xfrm>
          <a:prstGeom prst="rect">
            <a:avLst/>
          </a:prstGeom>
          <a:noFill/>
          <a:ln/>
        </p:spPr>
        <p:txBody>
          <a:bodyPr wrap="square" lIns="0" tIns="0" rIns="0" bIns="0" rtlCol="0" anchor="ctr"/>
          <a:lstStyle/>
          <a:p>
            <a:pPr indent="0" marL="0">
              <a:buNone/>
            </a:pPr>
            <a:r>
              <a:rPr lang="en-US" sz="900" b="1" spc="100" kern="0" dirty="0">
                <a:solidFill>
                  <a:srgbClr val="6B7280"/>
                </a:solidFill>
                <a:latin typeface="Calibri" pitchFamily="34" charset="0"/>
                <a:ea typeface="Calibri" pitchFamily="34" charset="-122"/>
                <a:cs typeface="Calibri" pitchFamily="34" charset="-120"/>
              </a:rPr>
              <a:t>ROLE</a:t>
            </a:r>
            <a:endParaRPr lang="en-US" sz="900" dirty="0"/>
          </a:p>
        </p:txBody>
      </p:sp>
      <p:sp>
        <p:nvSpPr>
          <p:cNvPr id="6" name="Text 4"/>
          <p:cNvSpPr/>
          <p:nvPr/>
        </p:nvSpPr>
        <p:spPr>
          <a:xfrm>
            <a:off x="5852160" y="1280160"/>
            <a:ext cx="914400" cy="228600"/>
          </a:xfrm>
          <a:prstGeom prst="rect">
            <a:avLst/>
          </a:prstGeom>
          <a:noFill/>
          <a:ln/>
        </p:spPr>
        <p:txBody>
          <a:bodyPr wrap="square" lIns="0" tIns="0" rIns="0" bIns="0" rtlCol="0" anchor="ctr"/>
          <a:lstStyle/>
          <a:p>
            <a:pPr indent="0" marL="0">
              <a:buNone/>
            </a:pPr>
            <a:r>
              <a:rPr lang="en-US" sz="900" b="1" spc="100" kern="0" dirty="0">
                <a:solidFill>
                  <a:srgbClr val="6B7280"/>
                </a:solidFill>
                <a:latin typeface="Calibri" pitchFamily="34" charset="0"/>
                <a:ea typeface="Calibri" pitchFamily="34" charset="-122"/>
                <a:cs typeface="Calibri" pitchFamily="34" charset="-120"/>
              </a:rPr>
              <a:t>POINTS</a:t>
            </a:r>
            <a:endParaRPr lang="en-US" sz="900" dirty="0"/>
          </a:p>
        </p:txBody>
      </p:sp>
      <p:sp>
        <p:nvSpPr>
          <p:cNvPr id="7" name="Text 5"/>
          <p:cNvSpPr/>
          <p:nvPr/>
        </p:nvSpPr>
        <p:spPr>
          <a:xfrm>
            <a:off x="6858000" y="1280160"/>
            <a:ext cx="4754880" cy="228600"/>
          </a:xfrm>
          <a:prstGeom prst="rect">
            <a:avLst/>
          </a:prstGeom>
          <a:noFill/>
          <a:ln/>
        </p:spPr>
        <p:txBody>
          <a:bodyPr wrap="square" lIns="0" tIns="0" rIns="0" bIns="0" rtlCol="0" anchor="ctr"/>
          <a:lstStyle/>
          <a:p>
            <a:pPr indent="0" marL="0">
              <a:buNone/>
            </a:pPr>
            <a:r>
              <a:rPr lang="en-US" sz="900" b="1" spc="100" kern="0" dirty="0">
                <a:solidFill>
                  <a:srgbClr val="6B7280"/>
                </a:solidFill>
                <a:latin typeface="Calibri" pitchFamily="34" charset="0"/>
                <a:ea typeface="Calibri" pitchFamily="34" charset="-122"/>
                <a:cs typeface="Calibri" pitchFamily="34" charset="-120"/>
              </a:rPr>
              <a:t>STORIES</a:t>
            </a:r>
            <a:endParaRPr lang="en-US" sz="900" dirty="0"/>
          </a:p>
        </p:txBody>
      </p:sp>
      <p:sp>
        <p:nvSpPr>
          <p:cNvPr id="8" name="Shape 6"/>
          <p:cNvSpPr/>
          <p:nvPr/>
        </p:nvSpPr>
        <p:spPr>
          <a:xfrm>
            <a:off x="548640" y="1600200"/>
            <a:ext cx="11064240" cy="621792"/>
          </a:xfrm>
          <a:prstGeom prst="roundRect">
            <a:avLst>
              <a:gd name="adj" fmla="val 13235"/>
            </a:avLst>
          </a:prstGeom>
          <a:solidFill>
            <a:srgbClr val="FFFFFF"/>
          </a:solidFill>
          <a:ln w="12700">
            <a:solidFill>
              <a:srgbClr val="E1E4F0"/>
            </a:solidFill>
            <a:prstDash val="solid"/>
          </a:ln>
        </p:spPr>
      </p:sp>
      <p:sp>
        <p:nvSpPr>
          <p:cNvPr id="9" name="Shape 7"/>
          <p:cNvSpPr/>
          <p:nvPr/>
        </p:nvSpPr>
        <p:spPr>
          <a:xfrm>
            <a:off x="777240" y="1709928"/>
            <a:ext cx="402336" cy="402336"/>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10" name="Text 8"/>
          <p:cNvSpPr txBox="1"/>
          <p:nvPr/>
        </p:nvSpPr>
        <p:spPr>
          <a:xfrm>
            <a:off x="777240" y="170992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JH</a:t>
            </a:r>
            <a:endParaRPr lang="en-US" sz="1200" dirty="0"/>
          </a:p>
        </p:txBody>
      </p:sp>
      <p:sp>
        <p:nvSpPr>
          <p:cNvPr id="11" name="Text 9"/>
          <p:cNvSpPr/>
          <p:nvPr/>
        </p:nvSpPr>
        <p:spPr>
          <a:xfrm>
            <a:off x="1417320" y="1600200"/>
            <a:ext cx="2743200" cy="621792"/>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James Hawkins</a:t>
            </a:r>
            <a:endParaRPr lang="en-US" sz="1150" dirty="0"/>
          </a:p>
        </p:txBody>
      </p:sp>
      <p:sp>
        <p:nvSpPr>
          <p:cNvPr id="12" name="Text 10"/>
          <p:cNvSpPr/>
          <p:nvPr/>
        </p:nvSpPr>
        <p:spPr>
          <a:xfrm>
            <a:off x="4206240" y="1600200"/>
            <a:ext cx="1645920" cy="621792"/>
          </a:xfrm>
          <a:prstGeom prst="rect">
            <a:avLst/>
          </a:prstGeom>
          <a:noFill/>
          <a:ln/>
        </p:spPr>
        <p:txBody>
          <a:bodyPr wrap="square" lIns="0" tIns="0" rIns="0" bIns="0" rtlCol="0" anchor="ctr"/>
          <a:lstStyle/>
          <a:p>
            <a:pPr indent="0" marL="0">
              <a:buNone/>
            </a:pPr>
            <a:r>
              <a:rPr lang="en-US" sz="1050" dirty="0">
                <a:solidFill>
                  <a:srgbClr val="2B2B2B"/>
                </a:solidFill>
                <a:latin typeface="Calibri" pitchFamily="34" charset="0"/>
                <a:ea typeface="Calibri" pitchFamily="34" charset="-122"/>
                <a:cs typeface="Calibri" pitchFamily="34" charset="-120"/>
              </a:rPr>
              <a:t>Engineer</a:t>
            </a:r>
            <a:endParaRPr lang="en-US" sz="1050" dirty="0"/>
          </a:p>
        </p:txBody>
      </p:sp>
      <p:sp>
        <p:nvSpPr>
          <p:cNvPr id="13" name="Shape 11"/>
          <p:cNvSpPr/>
          <p:nvPr/>
        </p:nvSpPr>
        <p:spPr>
          <a:xfrm>
            <a:off x="5852160" y="1783080"/>
            <a:ext cx="731520" cy="256032"/>
          </a:xfrm>
          <a:prstGeom prst="roundRect">
            <a:avLst>
              <a:gd name="adj" fmla="val 50000"/>
            </a:avLst>
          </a:prstGeom>
          <a:solidFill>
            <a:srgbClr val="F4F5FA"/>
          </a:solidFill>
          <a:ln/>
        </p:spPr>
      </p:sp>
      <p:sp>
        <p:nvSpPr>
          <p:cNvPr id="14" name="Text 12"/>
          <p:cNvSpPr txBox="1"/>
          <p:nvPr/>
        </p:nvSpPr>
        <p:spPr>
          <a:xfrm>
            <a:off x="5852160" y="1783080"/>
            <a:ext cx="731520" cy="256032"/>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12 pts</a:t>
            </a:r>
            <a:endParaRPr lang="en-US" sz="950" dirty="0"/>
          </a:p>
        </p:txBody>
      </p:sp>
      <p:sp>
        <p:nvSpPr>
          <p:cNvPr id="15" name="Text 13"/>
          <p:cNvSpPr/>
          <p:nvPr/>
        </p:nvSpPr>
        <p:spPr>
          <a:xfrm>
            <a:off x="6858000" y="1600200"/>
            <a:ext cx="4754880" cy="621792"/>
          </a:xfrm>
          <a:prstGeom prst="rect">
            <a:avLst/>
          </a:prstGeom>
          <a:noFill/>
          <a:ln/>
        </p:spPr>
        <p:txBody>
          <a:bodyPr wrap="square" lIns="0" tIns="0" rIns="0" bIns="0" rtlCol="0" anchor="ctr"/>
          <a:lstStyle/>
          <a:p>
            <a:pPr indent="0" marL="0">
              <a:lnSpc>
                <a:spcPct val="110000"/>
              </a:lnSpc>
              <a:buNone/>
            </a:pPr>
            <a:r>
              <a:rPr lang="en-US" sz="980" dirty="0">
                <a:solidFill>
                  <a:srgbClr val="2B2B2B"/>
                </a:solidFill>
                <a:latin typeface="Calibri" pitchFamily="34" charset="0"/>
                <a:ea typeface="Calibri" pitchFamily="34" charset="-122"/>
                <a:cs typeface="Calibri" pitchFamily="34" charset="-120"/>
              </a:rPr>
              <a:t>SCRUM-18–22 — Demographic Integration (full epic)</a:t>
            </a:r>
            <a:endParaRPr lang="en-US" sz="980" dirty="0"/>
          </a:p>
        </p:txBody>
      </p:sp>
      <p:sp>
        <p:nvSpPr>
          <p:cNvPr id="16" name="Shape 14"/>
          <p:cNvSpPr/>
          <p:nvPr/>
        </p:nvSpPr>
        <p:spPr>
          <a:xfrm>
            <a:off x="548640" y="2313432"/>
            <a:ext cx="11064240" cy="621792"/>
          </a:xfrm>
          <a:prstGeom prst="roundRect">
            <a:avLst>
              <a:gd name="adj" fmla="val 13235"/>
            </a:avLst>
          </a:prstGeom>
          <a:solidFill>
            <a:srgbClr val="FFFFFF"/>
          </a:solidFill>
          <a:ln w="12700">
            <a:solidFill>
              <a:srgbClr val="E1E4F0"/>
            </a:solidFill>
            <a:prstDash val="solid"/>
          </a:ln>
        </p:spPr>
      </p:sp>
      <p:sp>
        <p:nvSpPr>
          <p:cNvPr id="17" name="Shape 15"/>
          <p:cNvSpPr/>
          <p:nvPr/>
        </p:nvSpPr>
        <p:spPr>
          <a:xfrm>
            <a:off x="777240" y="2423160"/>
            <a:ext cx="402336" cy="402336"/>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18" name="Text 16"/>
          <p:cNvSpPr txBox="1"/>
          <p:nvPr/>
        </p:nvSpPr>
        <p:spPr>
          <a:xfrm>
            <a:off x="777240" y="242316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RT</a:t>
            </a:r>
            <a:endParaRPr lang="en-US" sz="1200" dirty="0"/>
          </a:p>
        </p:txBody>
      </p:sp>
      <p:sp>
        <p:nvSpPr>
          <p:cNvPr id="19" name="Text 17"/>
          <p:cNvSpPr/>
          <p:nvPr/>
        </p:nvSpPr>
        <p:spPr>
          <a:xfrm>
            <a:off x="1417320" y="2313432"/>
            <a:ext cx="2743200" cy="621792"/>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Ryan Tucker</a:t>
            </a:r>
            <a:endParaRPr lang="en-US" sz="1150" dirty="0"/>
          </a:p>
        </p:txBody>
      </p:sp>
      <p:sp>
        <p:nvSpPr>
          <p:cNvPr id="20" name="Text 18"/>
          <p:cNvSpPr/>
          <p:nvPr/>
        </p:nvSpPr>
        <p:spPr>
          <a:xfrm>
            <a:off x="4206240" y="2313432"/>
            <a:ext cx="1645920" cy="621792"/>
          </a:xfrm>
          <a:prstGeom prst="rect">
            <a:avLst/>
          </a:prstGeom>
          <a:noFill/>
          <a:ln/>
        </p:spPr>
        <p:txBody>
          <a:bodyPr wrap="square" lIns="0" tIns="0" rIns="0" bIns="0" rtlCol="0" anchor="ctr"/>
          <a:lstStyle/>
          <a:p>
            <a:pPr indent="0" marL="0">
              <a:buNone/>
            </a:pPr>
            <a:r>
              <a:rPr lang="en-US" sz="1050" dirty="0">
                <a:solidFill>
                  <a:srgbClr val="2B2B2B"/>
                </a:solidFill>
                <a:latin typeface="Calibri" pitchFamily="34" charset="0"/>
                <a:ea typeface="Calibri" pitchFamily="34" charset="-122"/>
                <a:cs typeface="Calibri" pitchFamily="34" charset="-120"/>
              </a:rPr>
              <a:t>Developer</a:t>
            </a:r>
            <a:endParaRPr lang="en-US" sz="1050" dirty="0"/>
          </a:p>
        </p:txBody>
      </p:sp>
      <p:sp>
        <p:nvSpPr>
          <p:cNvPr id="21" name="Shape 19"/>
          <p:cNvSpPr/>
          <p:nvPr/>
        </p:nvSpPr>
        <p:spPr>
          <a:xfrm>
            <a:off x="5852160" y="2496312"/>
            <a:ext cx="731520" cy="256032"/>
          </a:xfrm>
          <a:prstGeom prst="roundRect">
            <a:avLst>
              <a:gd name="adj" fmla="val 50000"/>
            </a:avLst>
          </a:prstGeom>
          <a:solidFill>
            <a:srgbClr val="F4F5FA"/>
          </a:solidFill>
          <a:ln/>
        </p:spPr>
      </p:sp>
      <p:sp>
        <p:nvSpPr>
          <p:cNvPr id="22" name="Text 20"/>
          <p:cNvSpPr txBox="1"/>
          <p:nvPr/>
        </p:nvSpPr>
        <p:spPr>
          <a:xfrm>
            <a:off x="5852160" y="2496312"/>
            <a:ext cx="731520" cy="256032"/>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5 pts</a:t>
            </a:r>
            <a:endParaRPr lang="en-US" sz="950" dirty="0"/>
          </a:p>
        </p:txBody>
      </p:sp>
      <p:sp>
        <p:nvSpPr>
          <p:cNvPr id="23" name="Text 21"/>
          <p:cNvSpPr/>
          <p:nvPr/>
        </p:nvSpPr>
        <p:spPr>
          <a:xfrm>
            <a:off x="6858000" y="2313432"/>
            <a:ext cx="4754880" cy="621792"/>
          </a:xfrm>
          <a:prstGeom prst="rect">
            <a:avLst/>
          </a:prstGeom>
          <a:noFill/>
          <a:ln/>
        </p:spPr>
        <p:txBody>
          <a:bodyPr wrap="square" lIns="0" tIns="0" rIns="0" bIns="0" rtlCol="0" anchor="ctr"/>
          <a:lstStyle/>
          <a:p>
            <a:pPr indent="0" marL="0">
              <a:lnSpc>
                <a:spcPct val="110000"/>
              </a:lnSpc>
              <a:buNone/>
            </a:pPr>
            <a:r>
              <a:rPr lang="en-US" sz="980" dirty="0">
                <a:solidFill>
                  <a:srgbClr val="2B2B2B"/>
                </a:solidFill>
                <a:latin typeface="Calibri" pitchFamily="34" charset="0"/>
                <a:ea typeface="Calibri" pitchFamily="34" charset="-122"/>
                <a:cs typeface="Calibri" pitchFamily="34" charset="-120"/>
              </a:rPr>
              <a:t>SCRUM-23 — Weather API module</a:t>
            </a:r>
            <a:endParaRPr lang="en-US" sz="980" dirty="0"/>
          </a:p>
        </p:txBody>
      </p:sp>
      <p:sp>
        <p:nvSpPr>
          <p:cNvPr id="24" name="Shape 22"/>
          <p:cNvSpPr/>
          <p:nvPr/>
        </p:nvSpPr>
        <p:spPr>
          <a:xfrm>
            <a:off x="548640" y="3026664"/>
            <a:ext cx="11064240" cy="621792"/>
          </a:xfrm>
          <a:prstGeom prst="roundRect">
            <a:avLst>
              <a:gd name="adj" fmla="val 13235"/>
            </a:avLst>
          </a:prstGeom>
          <a:solidFill>
            <a:srgbClr val="FFFFFF"/>
          </a:solidFill>
          <a:ln w="12700">
            <a:solidFill>
              <a:srgbClr val="E1E4F0"/>
            </a:solidFill>
            <a:prstDash val="solid"/>
          </a:ln>
        </p:spPr>
      </p:sp>
      <p:sp>
        <p:nvSpPr>
          <p:cNvPr id="25" name="Shape 23"/>
          <p:cNvSpPr/>
          <p:nvPr/>
        </p:nvSpPr>
        <p:spPr>
          <a:xfrm>
            <a:off x="777240" y="3136392"/>
            <a:ext cx="402336" cy="402336"/>
          </a:xfrm>
          <a:prstGeom prst="ellipse">
            <a:avLst/>
          </a:prstGeom>
          <a:solidFill>
            <a:srgbClr val="C98A2E"/>
          </a:solidFill>
          <a:ln/>
          <a:effectLst>
            <a:outerShdw sx="100000" sy="100000" kx="0" ky="0" algn="bl" rotWithShape="0" blurRad="101600" dist="38100" dir="5400000">
              <a:srgbClr val="1E2761">
                <a:alpha val="18000"/>
              </a:srgbClr>
            </a:outerShdw>
          </a:effectLst>
        </p:spPr>
      </p:sp>
      <p:sp>
        <p:nvSpPr>
          <p:cNvPr id="26" name="Text 24"/>
          <p:cNvSpPr txBox="1"/>
          <p:nvPr/>
        </p:nvSpPr>
        <p:spPr>
          <a:xfrm>
            <a:off x="777240" y="313639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TW</a:t>
            </a:r>
            <a:endParaRPr lang="en-US" sz="1200" dirty="0"/>
          </a:p>
        </p:txBody>
      </p:sp>
      <p:sp>
        <p:nvSpPr>
          <p:cNvPr id="27" name="Text 25"/>
          <p:cNvSpPr/>
          <p:nvPr/>
        </p:nvSpPr>
        <p:spPr>
          <a:xfrm>
            <a:off x="1417320" y="3026664"/>
            <a:ext cx="2743200" cy="621792"/>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Teyana Williams</a:t>
            </a:r>
            <a:endParaRPr lang="en-US" sz="1150" dirty="0"/>
          </a:p>
        </p:txBody>
      </p:sp>
      <p:sp>
        <p:nvSpPr>
          <p:cNvPr id="28" name="Text 26"/>
          <p:cNvSpPr/>
          <p:nvPr/>
        </p:nvSpPr>
        <p:spPr>
          <a:xfrm>
            <a:off x="4206240" y="3026664"/>
            <a:ext cx="1645920" cy="621792"/>
          </a:xfrm>
          <a:prstGeom prst="rect">
            <a:avLst/>
          </a:prstGeom>
          <a:noFill/>
          <a:ln/>
        </p:spPr>
        <p:txBody>
          <a:bodyPr wrap="square" lIns="0" tIns="0" rIns="0" bIns="0" rtlCol="0" anchor="ctr"/>
          <a:lstStyle/>
          <a:p>
            <a:pPr indent="0" marL="0">
              <a:buNone/>
            </a:pPr>
            <a:r>
              <a:rPr lang="en-US" sz="1050" dirty="0">
                <a:solidFill>
                  <a:srgbClr val="2B2B2B"/>
                </a:solidFill>
                <a:latin typeface="Calibri" pitchFamily="34" charset="0"/>
                <a:ea typeface="Calibri" pitchFamily="34" charset="-122"/>
                <a:cs typeface="Calibri" pitchFamily="34" charset="-120"/>
              </a:rPr>
              <a:t>Developer</a:t>
            </a:r>
            <a:endParaRPr lang="en-US" sz="1050" dirty="0"/>
          </a:p>
        </p:txBody>
      </p:sp>
      <p:sp>
        <p:nvSpPr>
          <p:cNvPr id="29" name="Shape 27"/>
          <p:cNvSpPr/>
          <p:nvPr/>
        </p:nvSpPr>
        <p:spPr>
          <a:xfrm>
            <a:off x="5852160" y="3209544"/>
            <a:ext cx="731520" cy="256032"/>
          </a:xfrm>
          <a:prstGeom prst="roundRect">
            <a:avLst>
              <a:gd name="adj" fmla="val 50000"/>
            </a:avLst>
          </a:prstGeom>
          <a:solidFill>
            <a:srgbClr val="F4F5FA"/>
          </a:solidFill>
          <a:ln/>
        </p:spPr>
      </p:sp>
      <p:sp>
        <p:nvSpPr>
          <p:cNvPr id="30" name="Text 28"/>
          <p:cNvSpPr txBox="1"/>
          <p:nvPr/>
        </p:nvSpPr>
        <p:spPr>
          <a:xfrm>
            <a:off x="5852160" y="3209544"/>
            <a:ext cx="731520" cy="256032"/>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4 pts</a:t>
            </a:r>
            <a:endParaRPr lang="en-US" sz="950" dirty="0"/>
          </a:p>
        </p:txBody>
      </p:sp>
      <p:sp>
        <p:nvSpPr>
          <p:cNvPr id="31" name="Text 29"/>
          <p:cNvSpPr/>
          <p:nvPr/>
        </p:nvSpPr>
        <p:spPr>
          <a:xfrm>
            <a:off x="6858000" y="3026664"/>
            <a:ext cx="4754880" cy="621792"/>
          </a:xfrm>
          <a:prstGeom prst="rect">
            <a:avLst/>
          </a:prstGeom>
          <a:noFill/>
          <a:ln/>
        </p:spPr>
        <p:txBody>
          <a:bodyPr wrap="square" lIns="0" tIns="0" rIns="0" bIns="0" rtlCol="0" anchor="ctr"/>
          <a:lstStyle/>
          <a:p>
            <a:pPr indent="0" marL="0">
              <a:lnSpc>
                <a:spcPct val="110000"/>
              </a:lnSpc>
              <a:buNone/>
            </a:pPr>
            <a:r>
              <a:rPr lang="en-US" sz="980" dirty="0">
                <a:solidFill>
                  <a:srgbClr val="2B2B2B"/>
                </a:solidFill>
                <a:latin typeface="Calibri" pitchFamily="34" charset="0"/>
                <a:ea typeface="Calibri" pitchFamily="34" charset="-122"/>
                <a:cs typeface="Calibri" pitchFamily="34" charset="-120"/>
              </a:rPr>
              <a:t>SCRUM-25, SCRUM-26 — Weather fallback + cross-cutting recompute</a:t>
            </a:r>
            <a:endParaRPr lang="en-US" sz="980" dirty="0"/>
          </a:p>
        </p:txBody>
      </p:sp>
      <p:sp>
        <p:nvSpPr>
          <p:cNvPr id="32" name="Shape 30"/>
          <p:cNvSpPr/>
          <p:nvPr/>
        </p:nvSpPr>
        <p:spPr>
          <a:xfrm>
            <a:off x="548640" y="3739896"/>
            <a:ext cx="11064240" cy="621792"/>
          </a:xfrm>
          <a:prstGeom prst="roundRect">
            <a:avLst>
              <a:gd name="adj" fmla="val 13235"/>
            </a:avLst>
          </a:prstGeom>
          <a:solidFill>
            <a:srgbClr val="FFFFFF"/>
          </a:solidFill>
          <a:ln w="12700">
            <a:solidFill>
              <a:srgbClr val="E1E4F0"/>
            </a:solidFill>
            <a:prstDash val="solid"/>
          </a:ln>
        </p:spPr>
      </p:sp>
      <p:sp>
        <p:nvSpPr>
          <p:cNvPr id="33" name="Shape 31"/>
          <p:cNvSpPr/>
          <p:nvPr/>
        </p:nvSpPr>
        <p:spPr>
          <a:xfrm>
            <a:off x="777240" y="3849624"/>
            <a:ext cx="402336" cy="402336"/>
          </a:xfrm>
          <a:prstGeom prst="ellipse">
            <a:avLst/>
          </a:prstGeom>
          <a:solidFill>
            <a:srgbClr val="2E8B57"/>
          </a:solidFill>
          <a:ln/>
          <a:effectLst>
            <a:outerShdw sx="100000" sy="100000" kx="0" ky="0" algn="bl" rotWithShape="0" blurRad="101600" dist="38100" dir="5400000">
              <a:srgbClr val="1E2761">
                <a:alpha val="18000"/>
              </a:srgbClr>
            </a:outerShdw>
          </a:effectLst>
        </p:spPr>
      </p:sp>
      <p:sp>
        <p:nvSpPr>
          <p:cNvPr id="34" name="Text 32"/>
          <p:cNvSpPr txBox="1"/>
          <p:nvPr/>
        </p:nvSpPr>
        <p:spPr>
          <a:xfrm>
            <a:off x="777240" y="384962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DL</a:t>
            </a:r>
            <a:endParaRPr lang="en-US" sz="1200" dirty="0"/>
          </a:p>
        </p:txBody>
      </p:sp>
      <p:sp>
        <p:nvSpPr>
          <p:cNvPr id="35" name="Text 33"/>
          <p:cNvSpPr/>
          <p:nvPr/>
        </p:nvSpPr>
        <p:spPr>
          <a:xfrm>
            <a:off x="1417320" y="3739896"/>
            <a:ext cx="2743200" cy="621792"/>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D'Andre League (dleague)</a:t>
            </a:r>
            <a:endParaRPr lang="en-US" sz="1150" dirty="0"/>
          </a:p>
        </p:txBody>
      </p:sp>
      <p:sp>
        <p:nvSpPr>
          <p:cNvPr id="36" name="Text 34"/>
          <p:cNvSpPr/>
          <p:nvPr/>
        </p:nvSpPr>
        <p:spPr>
          <a:xfrm>
            <a:off x="4206240" y="3739896"/>
            <a:ext cx="1645920" cy="621792"/>
          </a:xfrm>
          <a:prstGeom prst="rect">
            <a:avLst/>
          </a:prstGeom>
          <a:noFill/>
          <a:ln/>
        </p:spPr>
        <p:txBody>
          <a:bodyPr wrap="square" lIns="0" tIns="0" rIns="0" bIns="0" rtlCol="0" anchor="ctr"/>
          <a:lstStyle/>
          <a:p>
            <a:pPr indent="0" marL="0">
              <a:buNone/>
            </a:pPr>
            <a:r>
              <a:rPr lang="en-US" sz="1050" dirty="0">
                <a:solidFill>
                  <a:srgbClr val="2B2B2B"/>
                </a:solidFill>
                <a:latin typeface="Calibri" pitchFamily="34" charset="0"/>
                <a:ea typeface="Calibri" pitchFamily="34" charset="-122"/>
                <a:cs typeface="Calibri" pitchFamily="34" charset="-120"/>
              </a:rPr>
              <a:t>Scrum Master</a:t>
            </a:r>
            <a:endParaRPr lang="en-US" sz="1050" dirty="0"/>
          </a:p>
        </p:txBody>
      </p:sp>
      <p:sp>
        <p:nvSpPr>
          <p:cNvPr id="37" name="Shape 35"/>
          <p:cNvSpPr/>
          <p:nvPr/>
        </p:nvSpPr>
        <p:spPr>
          <a:xfrm>
            <a:off x="5852160" y="3922776"/>
            <a:ext cx="731520" cy="256032"/>
          </a:xfrm>
          <a:prstGeom prst="roundRect">
            <a:avLst>
              <a:gd name="adj" fmla="val 50000"/>
            </a:avLst>
          </a:prstGeom>
          <a:solidFill>
            <a:srgbClr val="F4F5FA"/>
          </a:solidFill>
          <a:ln/>
        </p:spPr>
      </p:sp>
      <p:sp>
        <p:nvSpPr>
          <p:cNvPr id="38" name="Text 36"/>
          <p:cNvSpPr txBox="1"/>
          <p:nvPr/>
        </p:nvSpPr>
        <p:spPr>
          <a:xfrm>
            <a:off x="5852160" y="3922776"/>
            <a:ext cx="731520" cy="256032"/>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2 pts</a:t>
            </a:r>
            <a:endParaRPr lang="en-US" sz="950" dirty="0"/>
          </a:p>
        </p:txBody>
      </p:sp>
      <p:sp>
        <p:nvSpPr>
          <p:cNvPr id="39" name="Text 37"/>
          <p:cNvSpPr/>
          <p:nvPr/>
        </p:nvSpPr>
        <p:spPr>
          <a:xfrm>
            <a:off x="6858000" y="3739896"/>
            <a:ext cx="4754880" cy="621792"/>
          </a:xfrm>
          <a:prstGeom prst="rect">
            <a:avLst/>
          </a:prstGeom>
          <a:noFill/>
          <a:ln/>
        </p:spPr>
        <p:txBody>
          <a:bodyPr wrap="square" lIns="0" tIns="0" rIns="0" bIns="0" rtlCol="0" anchor="ctr"/>
          <a:lstStyle/>
          <a:p>
            <a:pPr indent="0" marL="0">
              <a:lnSpc>
                <a:spcPct val="110000"/>
              </a:lnSpc>
              <a:buNone/>
            </a:pPr>
            <a:r>
              <a:rPr lang="en-US" sz="980" dirty="0">
                <a:solidFill>
                  <a:srgbClr val="2B2B2B"/>
                </a:solidFill>
                <a:latin typeface="Calibri" pitchFamily="34" charset="0"/>
                <a:ea typeface="Calibri" pitchFamily="34" charset="-122"/>
                <a:cs typeface="Calibri" pitchFamily="34" charset="-120"/>
              </a:rPr>
              <a:t>SCRUM-24 — Weather response caching</a:t>
            </a:r>
            <a:endParaRPr lang="en-US" sz="980" dirty="0"/>
          </a:p>
        </p:txBody>
      </p:sp>
      <p:sp>
        <p:nvSpPr>
          <p:cNvPr id="40" name="Shape 38"/>
          <p:cNvSpPr/>
          <p:nvPr/>
        </p:nvSpPr>
        <p:spPr>
          <a:xfrm>
            <a:off x="548640" y="4590288"/>
            <a:ext cx="11064240" cy="1719072"/>
          </a:xfrm>
          <a:prstGeom prst="roundRect">
            <a:avLst>
              <a:gd name="adj" fmla="val 4787"/>
            </a:avLst>
          </a:prstGeom>
          <a:solidFill>
            <a:srgbClr val="F4F5FA"/>
          </a:solidFill>
          <a:ln w="12700">
            <a:solidFill>
              <a:srgbClr val="E1E4F0"/>
            </a:solidFill>
            <a:prstDash val="solid"/>
          </a:ln>
        </p:spPr>
      </p:sp>
      <p:sp>
        <p:nvSpPr>
          <p:cNvPr id="41" name="Text 39"/>
          <p:cNvSpPr/>
          <p:nvPr/>
        </p:nvSpPr>
        <p:spPr>
          <a:xfrm>
            <a:off x="777240" y="4700016"/>
            <a:ext cx="10607040" cy="1536192"/>
          </a:xfrm>
          <a:prstGeom prst="rect">
            <a:avLst/>
          </a:prstGeom>
          <a:noFill/>
          <a:ln/>
        </p:spPr>
        <p:txBody>
          <a:bodyPr wrap="square" lIns="0" tIns="0" rIns="0" bIns="0" rtlCol="0" anchor="t"/>
          <a:lstStyle/>
          <a:p>
            <a:pPr marL="152400" indent="-152400">
              <a:lnSpc>
                <a:spcPct val="108000"/>
              </a:lnSpc>
              <a:buSzPct val="100000"/>
              <a:buChar char="•"/>
            </a:pPr>
            <a:r>
              <a:rPr lang="en-US" sz="1000" dirty="0">
                <a:solidFill>
                  <a:srgbClr val="2B2B2B"/>
                </a:solidFill>
                <a:latin typeface="Calibri" pitchFamily="34" charset="0"/>
                <a:ea typeface="Calibri" pitchFamily="34" charset="-122"/>
                <a:cs typeface="Calibri" pitchFamily="34" charset="-120"/>
              </a:rPr>
              <a:t>Scrum Master (dleague) intentionally carries the lightest load — his primary Sprint 2 responsibility is facilitation, unblocking, and sprint ceremonies, not reflected in story points.</a:t>
            </a:r>
            <a:endParaRPr lang="en-US" sz="1000" dirty="0"/>
          </a:p>
          <a:p>
            <a:pPr marL="152400" indent="-152400">
              <a:lnSpc>
                <a:spcPct val="108000"/>
              </a:lnSpc>
              <a:buSzPct val="100000"/>
              <a:buChar char="•"/>
            </a:pPr>
            <a:r>
              <a:rPr lang="en-US" sz="1000" dirty="0">
                <a:solidFill>
                  <a:srgbClr val="2B2B2B"/>
                </a:solidFill>
                <a:latin typeface="Calibri" pitchFamily="34" charset="0"/>
                <a:ea typeface="Calibri" pitchFamily="34" charset="-122"/>
                <a:cs typeface="Calibri" pitchFamily="34" charset="-120"/>
              </a:rPr>
              <a:t>James (engineer) owns the entire Demographic Integration epic solo for continuity — one person's context across all 5 related stories avoids merge conflicts within the epic.</a:t>
            </a:r>
            <a:endParaRPr lang="en-US" sz="1000" dirty="0"/>
          </a:p>
          <a:p>
            <a:pPr marL="152400" indent="-152400">
              <a:lnSpc>
                <a:spcPct val="108000"/>
              </a:lnSpc>
              <a:buSzPct val="100000"/>
              <a:buChar char="•"/>
            </a:pPr>
            <a:r>
              <a:rPr lang="en-US" sz="1000" dirty="0">
                <a:solidFill>
                  <a:srgbClr val="2B2B2B"/>
                </a:solidFill>
                <a:latin typeface="Calibri" pitchFamily="34" charset="0"/>
                <a:ea typeface="Calibri" pitchFamily="34" charset="-122"/>
                <a:cs typeface="Calibri" pitchFamily="34" charset="-120"/>
              </a:rPr>
              <a:t>Ryan and Teyana split the Live Weather epic plus the cross-cutting recompute story, balanced within 1 point of each other (5 vs. 4).</a:t>
            </a:r>
            <a:endParaRPr lang="en-US" sz="1000" dirty="0"/>
          </a:p>
          <a:p>
            <a:pPr marL="152400" indent="-152400">
              <a:lnSpc>
                <a:spcPct val="108000"/>
              </a:lnSpc>
              <a:buSzPct val="100000"/>
              <a:buChar char="•"/>
            </a:pPr>
            <a:r>
              <a:rPr lang="en-US" sz="1000" dirty="0">
                <a:solidFill>
                  <a:srgbClr val="2B2B2B"/>
                </a:solidFill>
                <a:latin typeface="Calibri" pitchFamily="34" charset="0"/>
                <a:ea typeface="Calibri" pitchFamily="34" charset="-122"/>
                <a:cs typeface="Calibri" pitchFamily="34" charset="-120"/>
              </a:rPr>
              <a:t>SCRUM-26 depends on both epics finishing — if the larger Demographic epic runs long, the team may reassign it at standup.</a:t>
            </a:r>
            <a:endParaRPr lang="en-US" sz="1000" dirty="0"/>
          </a:p>
        </p:txBody>
      </p:sp>
      <p:sp>
        <p:nvSpPr>
          <p:cNvPr id="42" name="Text 40"/>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CINS 5338/5388 — Software Project Management</a:t>
            </a:r>
            <a:endParaRPr lang="en-US" sz="900" dirty="0"/>
          </a:p>
        </p:txBody>
      </p:sp>
      <p:sp>
        <p:nvSpPr>
          <p:cNvPr id="43" name="Text 41"/>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457200"/>
            <a:ext cx="10607040" cy="73152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Conclusion</a:t>
            </a:r>
            <a:endParaRPr lang="en-US" sz="3000" dirty="0"/>
          </a:p>
        </p:txBody>
      </p:sp>
      <p:sp>
        <p:nvSpPr>
          <p:cNvPr id="3" name="Text 1"/>
          <p:cNvSpPr txBox="1"/>
          <p:nvPr/>
        </p:nvSpPr>
        <p:spPr>
          <a:xfrm>
            <a:off x="548640" y="1554480"/>
            <a:ext cx="6766560" cy="4846320"/>
          </a:xfrm>
          <a:prstGeom prst="rect">
            <a:avLst/>
          </a:prstGeom>
          <a:noFill/>
          <a:ln/>
        </p:spPr>
        <p:txBody>
          <a:bodyPr wrap="square" lIns="0" tIns="0" rIns="0" bIns="0" rtlCol="0" anchor="ctr"/>
          <a:lstStyle/>
          <a:p>
            <a:pPr indent="0" marL="0">
              <a:lnSpc>
                <a:spcPct val="128000"/>
              </a:lnSpc>
              <a:buNone/>
            </a:pPr>
            <a:r>
              <a:rPr lang="en-US" sz="1360" dirty="0">
                <a:solidFill>
                  <a:srgbClr val="2B2B2B"/>
                </a:solidFill>
                <a:latin typeface="Calibri" pitchFamily="34" charset="0"/>
                <a:ea typeface="Calibri" pitchFamily="34" charset="-122"/>
                <a:cs typeface="Calibri" pitchFamily="34" charset="-120"/>
              </a:rPr>
              <a:t>The Heat Relief Network already runs end-to-end: a live Express + PostGIS backend, a working resident map and org portal, and a documented, rule-based priority-matching engine that ranks neighborhoods by heat vulnerability today.</a:t>
            </a:r>
            <a:endParaRPr lang="en-US" sz="1360" dirty="0"/>
          </a:p>
          <a:p>
            <a:pPr indent="0" marL="0">
              <a:lnSpc>
                <a:spcPct val="128000"/>
              </a:lnSpc>
              <a:buNone/>
            </a:pPr>
            <a:endParaRPr lang="en-US" sz="1360" dirty="0"/>
          </a:p>
          <a:p>
            <a:pPr indent="0" marL="0">
              <a:lnSpc>
                <a:spcPct val="128000"/>
              </a:lnSpc>
              <a:buNone/>
            </a:pPr>
            <a:r>
              <a:rPr lang="en-US" sz="1360" dirty="0">
                <a:solidFill>
                  <a:srgbClr val="2B2B2B"/>
                </a:solidFill>
                <a:latin typeface="Calibri" pitchFamily="34" charset="0"/>
                <a:ea typeface="Calibri" pitchFamily="34" charset="-122"/>
                <a:cs typeface="Calibri" pitchFamily="34" charset="-120"/>
              </a:rPr>
              <a:t>Sprint 2 is scoped and ready — Live Weather Integration and Demographic Integration will replace manually-seeded inputs with real NWS and Census data, making the priority ranking fully live without changing its transparent, explainable design.</a:t>
            </a:r>
            <a:endParaRPr lang="en-US" sz="1360" dirty="0"/>
          </a:p>
          <a:p>
            <a:pPr indent="0" marL="0">
              <a:lnSpc>
                <a:spcPct val="128000"/>
              </a:lnSpc>
              <a:buNone/>
            </a:pPr>
            <a:endParaRPr lang="en-US" sz="1360" dirty="0"/>
          </a:p>
          <a:p>
            <a:pPr indent="0" marL="0">
              <a:lnSpc>
                <a:spcPct val="128000"/>
              </a:lnSpc>
              <a:buNone/>
            </a:pPr>
            <a:r>
              <a:rPr lang="en-US" sz="1360" dirty="0">
                <a:solidFill>
                  <a:srgbClr val="2B2B2B"/>
                </a:solidFill>
                <a:latin typeface="Calibri" pitchFamily="34" charset="0"/>
                <a:ea typeface="Calibri" pitchFamily="34" charset="-122"/>
                <a:cs typeface="Calibri" pitchFamily="34" charset="-120"/>
              </a:rPr>
              <a:t>Our Jira board and GitHub history give a verifiable record of both the process and the product — this is Agile/Scrum practiced on a real, shipping feature, not just a paper exercise.</a:t>
            </a:r>
            <a:endParaRPr lang="en-US" sz="1360" dirty="0"/>
          </a:p>
        </p:txBody>
      </p:sp>
      <p:sp>
        <p:nvSpPr>
          <p:cNvPr id="4" name="Shape 2"/>
          <p:cNvSpPr/>
          <p:nvPr/>
        </p:nvSpPr>
        <p:spPr>
          <a:xfrm>
            <a:off x="7680960" y="1691640"/>
            <a:ext cx="3931920" cy="1234440"/>
          </a:xfrm>
          <a:prstGeom prst="roundRect">
            <a:avLst>
              <a:gd name="adj" fmla="val 6667"/>
            </a:avLst>
          </a:prstGeom>
          <a:solidFill>
            <a:srgbClr val="1E2761"/>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5" name="Text 3"/>
          <p:cNvSpPr txBox="1"/>
          <p:nvPr/>
        </p:nvSpPr>
        <p:spPr>
          <a:xfrm>
            <a:off x="7909560" y="1819656"/>
            <a:ext cx="1828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6" name="Text 4"/>
          <p:cNvSpPr txBox="1"/>
          <p:nvPr/>
        </p:nvSpPr>
        <p:spPr>
          <a:xfrm>
            <a:off x="7909560" y="2478024"/>
            <a:ext cx="3474720" cy="320040"/>
          </a:xfrm>
          <a:prstGeom prst="rect">
            <a:avLst/>
          </a:prstGeom>
          <a:noFill/>
          <a:ln/>
        </p:spPr>
        <p:txBody>
          <a:bodyPr wrap="square" lIns="0" tIns="0" rIns="0" bIns="0" rtlCol="0" anchor="ctr"/>
          <a:lstStyle/>
          <a:p>
            <a:pPr indent="0" marL="0">
              <a:buNone/>
            </a:pPr>
            <a:r>
              <a:rPr lang="en-US" sz="1200" dirty="0">
                <a:solidFill>
                  <a:srgbClr val="CFD6F5"/>
                </a:solidFill>
                <a:latin typeface="Calibri" pitchFamily="34" charset="0"/>
                <a:ea typeface="Calibri" pitchFamily="34" charset="-122"/>
                <a:cs typeface="Calibri" pitchFamily="34" charset="-120"/>
              </a:rPr>
              <a:t>Epics tracked</a:t>
            </a:r>
            <a:endParaRPr lang="en-US" sz="1200" dirty="0"/>
          </a:p>
        </p:txBody>
      </p:sp>
      <p:sp>
        <p:nvSpPr>
          <p:cNvPr id="7" name="Shape 5"/>
          <p:cNvSpPr/>
          <p:nvPr/>
        </p:nvSpPr>
        <p:spPr>
          <a:xfrm>
            <a:off x="7680960" y="3108960"/>
            <a:ext cx="3931920" cy="1234440"/>
          </a:xfrm>
          <a:prstGeom prst="roundRect">
            <a:avLst>
              <a:gd name="adj" fmla="val 6667"/>
            </a:avLst>
          </a:prstGeom>
          <a:solidFill>
            <a:srgbClr val="1E2761"/>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8" name="Text 6"/>
          <p:cNvSpPr txBox="1"/>
          <p:nvPr/>
        </p:nvSpPr>
        <p:spPr>
          <a:xfrm>
            <a:off x="7909560" y="3236976"/>
            <a:ext cx="1828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27</a:t>
            </a:r>
            <a:endParaRPr lang="en-US" sz="3000" dirty="0"/>
          </a:p>
        </p:txBody>
      </p:sp>
      <p:sp>
        <p:nvSpPr>
          <p:cNvPr id="9" name="Text 7"/>
          <p:cNvSpPr txBox="1"/>
          <p:nvPr/>
        </p:nvSpPr>
        <p:spPr>
          <a:xfrm>
            <a:off x="7909560" y="3895344"/>
            <a:ext cx="3474720" cy="320040"/>
          </a:xfrm>
          <a:prstGeom prst="rect">
            <a:avLst/>
          </a:prstGeom>
          <a:noFill/>
          <a:ln/>
        </p:spPr>
        <p:txBody>
          <a:bodyPr wrap="square" lIns="0" tIns="0" rIns="0" bIns="0" rtlCol="0" anchor="ctr"/>
          <a:lstStyle/>
          <a:p>
            <a:pPr indent="0" marL="0">
              <a:buNone/>
            </a:pPr>
            <a:r>
              <a:rPr lang="en-US" sz="1200" dirty="0">
                <a:solidFill>
                  <a:srgbClr val="CFD6F5"/>
                </a:solidFill>
                <a:latin typeface="Calibri" pitchFamily="34" charset="0"/>
                <a:ea typeface="Calibri" pitchFamily="34" charset="-122"/>
                <a:cs typeface="Calibri" pitchFamily="34" charset="-120"/>
              </a:rPr>
              <a:t>backlog items</a:t>
            </a:r>
            <a:endParaRPr lang="en-US" sz="1200" dirty="0"/>
          </a:p>
        </p:txBody>
      </p:sp>
      <p:sp>
        <p:nvSpPr>
          <p:cNvPr id="10" name="Shape 8"/>
          <p:cNvSpPr/>
          <p:nvPr/>
        </p:nvSpPr>
        <p:spPr>
          <a:xfrm>
            <a:off x="7680960" y="4526280"/>
            <a:ext cx="3931920" cy="1234440"/>
          </a:xfrm>
          <a:prstGeom prst="roundRect">
            <a:avLst>
              <a:gd name="adj" fmla="val 6667"/>
            </a:avLst>
          </a:prstGeom>
          <a:solidFill>
            <a:srgbClr val="1E2761"/>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11" name="Text 9"/>
          <p:cNvSpPr txBox="1"/>
          <p:nvPr/>
        </p:nvSpPr>
        <p:spPr>
          <a:xfrm>
            <a:off x="7909560" y="4654296"/>
            <a:ext cx="1828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21 / 44</a:t>
            </a:r>
            <a:endParaRPr lang="en-US" sz="3000" dirty="0"/>
          </a:p>
        </p:txBody>
      </p:sp>
      <p:sp>
        <p:nvSpPr>
          <p:cNvPr id="12" name="Text 10"/>
          <p:cNvSpPr txBox="1"/>
          <p:nvPr/>
        </p:nvSpPr>
        <p:spPr>
          <a:xfrm>
            <a:off x="7909560" y="5312664"/>
            <a:ext cx="3474720" cy="320040"/>
          </a:xfrm>
          <a:prstGeom prst="rect">
            <a:avLst/>
          </a:prstGeom>
          <a:noFill/>
          <a:ln/>
        </p:spPr>
        <p:txBody>
          <a:bodyPr wrap="square" lIns="0" tIns="0" rIns="0" bIns="0" rtlCol="0" anchor="ctr"/>
          <a:lstStyle/>
          <a:p>
            <a:pPr indent="0" marL="0">
              <a:buNone/>
            </a:pPr>
            <a:r>
              <a:rPr lang="en-US" sz="1200" dirty="0">
                <a:solidFill>
                  <a:srgbClr val="CFD6F5"/>
                </a:solidFill>
                <a:latin typeface="Calibri" pitchFamily="34" charset="0"/>
                <a:ea typeface="Calibri" pitchFamily="34" charset="-122"/>
                <a:cs typeface="Calibri" pitchFamily="34" charset="-120"/>
              </a:rPr>
              <a:t>points shipped</a:t>
            </a:r>
            <a:endParaRPr lang="en-US" sz="1200" dirty="0"/>
          </a:p>
        </p:txBody>
      </p:sp>
      <p:sp>
        <p:nvSpPr>
          <p:cNvPr id="13" name="Text 11"/>
          <p:cNvSpPr/>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CINS 5338/5388 — Software Project Management</a:t>
            </a:r>
            <a:endParaRPr lang="en-US" sz="900" dirty="0"/>
          </a:p>
        </p:txBody>
      </p:sp>
      <p:sp>
        <p:nvSpPr>
          <p:cNvPr id="14" name="Text 12"/>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2377440" y="-2377440"/>
            <a:ext cx="6400800" cy="6400800"/>
          </a:xfrm>
          <a:prstGeom prst="ellipse">
            <a:avLst/>
          </a:prstGeom>
          <a:solidFill>
            <a:srgbClr val="E8543A">
              <a:alpha val="13000"/>
            </a:srgbClr>
          </a:solidFill>
          <a:ln/>
        </p:spPr>
      </p:sp>
      <p:sp>
        <p:nvSpPr>
          <p:cNvPr id="3" name="Shape 1"/>
          <p:cNvSpPr/>
          <p:nvPr/>
        </p:nvSpPr>
        <p:spPr>
          <a:xfrm>
            <a:off x="8961120" y="3840480"/>
            <a:ext cx="5943600" cy="5943600"/>
          </a:xfrm>
          <a:prstGeom prst="ellipse">
            <a:avLst/>
          </a:prstGeom>
          <a:solidFill>
            <a:srgbClr val="C98A2E">
              <a:alpha val="12000"/>
            </a:srgbClr>
          </a:solidFill>
          <a:ln/>
        </p:spPr>
      </p:sp>
      <p:sp>
        <p:nvSpPr>
          <p:cNvPr id="4" name="Text 2"/>
          <p:cNvSpPr txBox="1"/>
          <p:nvPr/>
        </p:nvSpPr>
        <p:spPr>
          <a:xfrm>
            <a:off x="0" y="2651760"/>
            <a:ext cx="12161520" cy="100584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5" name="Text 3"/>
          <p:cNvSpPr txBox="1"/>
          <p:nvPr/>
        </p:nvSpPr>
        <p:spPr>
          <a:xfrm>
            <a:off x="0" y="3611880"/>
            <a:ext cx="12161520" cy="457200"/>
          </a:xfrm>
          <a:prstGeom prst="rect">
            <a:avLst/>
          </a:prstGeom>
          <a:noFill/>
          <a:ln/>
        </p:spPr>
        <p:txBody>
          <a:bodyPr wrap="square" lIns="0" tIns="0" rIns="0" bIns="0" rtlCol="0" anchor="ctr"/>
          <a:lstStyle/>
          <a:p>
            <a:pPr algn="ctr" indent="0" marL="0">
              <a:buNone/>
            </a:pPr>
            <a:r>
              <a:rPr lang="en-US" sz="1500" spc="200" kern="0" dirty="0">
                <a:solidFill>
                  <a:srgbClr val="CFD6F5"/>
                </a:solidFill>
                <a:latin typeface="Calibri" pitchFamily="34" charset="0"/>
                <a:ea typeface="Calibri" pitchFamily="34" charset="-122"/>
                <a:cs typeface="Calibri" pitchFamily="34" charset="-120"/>
              </a:rPr>
              <a:t>F O R   Y O U R   A T T E N T I O N</a:t>
            </a:r>
            <a:endParaRPr lang="en-US" sz="1500" dirty="0"/>
          </a:p>
        </p:txBody>
      </p:sp>
      <p:sp>
        <p:nvSpPr>
          <p:cNvPr id="6" name="Text 4"/>
          <p:cNvSpPr txBox="1"/>
          <p:nvPr/>
        </p:nvSpPr>
        <p:spPr>
          <a:xfrm>
            <a:off x="0" y="6126480"/>
            <a:ext cx="12161520" cy="365760"/>
          </a:xfrm>
          <a:prstGeom prst="rect">
            <a:avLst/>
          </a:prstGeom>
          <a:noFill/>
          <a:ln/>
        </p:spPr>
        <p:txBody>
          <a:bodyPr wrap="square" lIns="0" tIns="0" rIns="0" bIns="0" rtlCol="0" anchor="ctr"/>
          <a:lstStyle/>
          <a:p>
            <a:pPr algn="ctr" indent="0" marL="0">
              <a:buNone/>
            </a:pPr>
            <a:r>
              <a:rPr lang="en-US" sz="1150" dirty="0">
                <a:solidFill>
                  <a:srgbClr val="8891C7"/>
                </a:solidFill>
                <a:latin typeface="Calibri" pitchFamily="34" charset="0"/>
                <a:ea typeface="Calibri" pitchFamily="34" charset="-122"/>
                <a:cs typeface="Calibri" pitchFamily="34" charset="-120"/>
              </a:rPr>
              <a:t>Heat Relief Network  •  Team 5  •  CINS 5338/5388</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2026-09-15T21:27:33Z</dcterms:created>
  <dcterms:modified xsi:type="dcterms:W3CDTF">2026-09-15T21:27:33Z</dcterms:modified>
</cp:coreProperties>
</file>