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Good morning. D'Andre League, Scrum Master for Team 5, with James Hawkins, Teyana Williams and Ryan Tucker.
This is our sprint review for the Heat Relief Network — what we committed to, what we delivered, what we learned, and what we're carrying into the next sprint. Teyana will set up the 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Teyana Williams
We'll cover the system scope, our updated product backlog organized by epic, the stories we completed with their acceptance criteria, evidence of what was built, a live demo, our retrospective, what carried over, and our plan for the next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Teyana Williams
This is the system scope. Two actors — the resident looking for relief, and the organization administrator managing sites and outreach.
Residents find and filter sites, view the priority overlay and register for priority access. Administrators update site status, review ranked priority areas and work the resident queue. The scoring engine sits behind both views, feeding them from the same computation. D'Andre will take the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Thanks Teyana. Our backlog is organized by epic rather than as a flat list, because the epic boundaries are how we split work across the team without two people editing the same files.
Every item is written as a formal user story — as a persona, I want something, so that there's a reason — and every item is story-pointed. The completed epic is shaded; the rest is scoped and prioritized.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I'm James, the engineer. These are the six stories we committed to and delivered — twenty-one points, all Done.
The areas table and its spatial index. The scoring function combining heat index and vulnerability into one zero-to-one-hundred score. Priority ranking adjusted for distance to the nearest open site. The admin priority table. The resident map overlay. And documented methodology.
Each one carries its acceptance criteria and development tasks, and each was merged through a pull request only after those criteria were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This is the evidence. The resident map with real relief sites and the priority overlay. The admin portal's priority-areas table, showing each neighborhood ranked with its heat index and the distance to the nearest open site.
Every number on these screens is computed, not mocked — the scores come from real heat index values and real neighborhood demographics through the scoring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Ryan Tucker
I'm Ryan, and I'll walk the live demo.
We'll start on the resident view — enter a ZIP code, see the nearest relief sites with their type and status, and toggle the priority overlay to see which neighborhoods rank highest. Then into the organization portal to load the priority-areas ranking and show how recompute updates a score in place.
Worth noting as we go: every site shows status unknown rather than open. That's deliberate — status is set by an organization that actually knows, not guessed by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What went well: we delivered all six committed stories and twenty-one points. Splitting work along epic boundaries meant we rarely collided in the same files. And choosing a transparent rule-based scoring approach over a trained model let us ship something explainable without training data we don't have.
What was harder: we discovered late that no relief sites had ever been seeded, so the resident site search had been returning empty for the whole sprint. We'd been testing the scoring feature and never exercised the directory around it. The lesson we took is that placeholder data hides gaps, and we need to exercise the full user path, not just the story under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Here's what moved back to the backlog or forward into the next sprint, and why.
The honest framing: nothing was dropped for being too hard. What moved, moved because the sprint's real scope turned out to include the site directory gap we found in the retrospective, and we chose to close that rather than start something new on top of a feature that was quietly returning empty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This closes the gap D'Andre just described.
We'd been building against placeholder neighborhoods in Los Angeles County — necessary scaffolding, because spatial search can't be developed against an empty database. Our team is in Texas, so we moved the pilot region and replaced that data with five real neighborhoods across Houston, Dallas, Fort Worth, Austin and San Antonio, plus eleven real relief sites verified against city library and parks department records and geocoded through the Census Bureau.
So the map now shows places a person could actually drive to. That's the difference between a prototype and a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Here's how the next sprint's twenty-three points are distributed across the team.
James has the Demographic Integration epic at twelve points — one owner for a whole epic, for continuity. Ryan has the weather service module at five. Teyana has the weather fallback and the cross-cutting recompute job at four. I'm carrying two, because as Scrum Master my job this sprint is facilitation and unblocking, which doesn't show up in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James Hawkins
This epic replaces hand-seeded demographic numbers with live Census data — resolving each area to its census tract, pulling elderly and low-income percentages from the American Community Survey, caching those lookups, and falling back to last-known-good values when the API is down.
The last story in the epic is the one I'd point at: there's no free live source for air-conditioning access at the tract level, and that's thirty percent of our scoring weight. That story requires us to document the approach we choose rather than quietly inventing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Ryan Tucker
I own the weather epic. The service module calls the National Weather Service API first and falls back to Open-Meteo on failure or timeout, so heat index comes from live conditions instead of hand-typed estimates.
Responses get cached on a thirty-to-sixty-minute window to stay inside rate limits, and there's a last-known-good fallback matching the pattern on the demographic side — so however an external service fails, the system behaves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D'Andre League
That's our sprint review. Thank you — Team 5 is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E276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128016"/>
          </a:xfrm>
          <a:prstGeom prst="rect">
            <a:avLst/>
          </a:prstGeom>
          <a:solidFill>
            <a:srgbClr val="E8543A"/>
          </a:solidFill>
          <a:ln/>
        </p:spPr>
      </p:sp>
      <p:sp>
        <p:nvSpPr>
          <p:cNvPr id="3" name="Text 1"/>
          <p:cNvSpPr txBox="1"/>
          <p:nvPr/>
        </p:nvSpPr>
        <p:spPr>
          <a:xfrm>
            <a:off x="822960" y="2331720"/>
            <a:ext cx="10515600" cy="457200"/>
          </a:xfrm>
          <a:prstGeom prst="rect">
            <a:avLst/>
          </a:prstGeom>
          <a:noFill/>
          <a:ln/>
        </p:spPr>
        <p:txBody>
          <a:bodyPr wrap="square" lIns="0" tIns="0" rIns="0" bIns="0" rtlCol="0" anchor="ctr"/>
          <a:lstStyle/>
          <a:p>
            <a:pPr indent="0" marL="0">
              <a:buNone/>
            </a:pPr>
            <a:r>
              <a:rPr lang="en-US" sz="1500" b="1" spc="300" kern="0" dirty="0">
                <a:solidFill>
                  <a:srgbClr val="E8543A"/>
                </a:solidFill>
                <a:latin typeface="Calibri" pitchFamily="34" charset="0"/>
                <a:ea typeface="Calibri" pitchFamily="34" charset="-122"/>
                <a:cs typeface="Calibri" pitchFamily="34" charset="-120"/>
              </a:rPr>
              <a:t>HEAT RELIEF NETWORK</a:t>
            </a:r>
            <a:endParaRPr lang="en-US" sz="1500" dirty="0"/>
          </a:p>
        </p:txBody>
      </p:sp>
      <p:sp>
        <p:nvSpPr>
          <p:cNvPr id="4" name="Text 2"/>
          <p:cNvSpPr txBox="1"/>
          <p:nvPr/>
        </p:nvSpPr>
        <p:spPr>
          <a:xfrm>
            <a:off x="822960" y="2743200"/>
            <a:ext cx="1051560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Sprint 0 Presentation</a:t>
            </a:r>
            <a:endParaRPr lang="en-US" sz="4400" dirty="0"/>
          </a:p>
        </p:txBody>
      </p:sp>
      <p:sp>
        <p:nvSpPr>
          <p:cNvPr id="5" name="Text 3"/>
          <p:cNvSpPr txBox="1"/>
          <p:nvPr/>
        </p:nvSpPr>
        <p:spPr>
          <a:xfrm>
            <a:off x="822960" y="3794760"/>
            <a:ext cx="10515600" cy="365760"/>
          </a:xfrm>
          <a:prstGeom prst="rect">
            <a:avLst/>
          </a:prstGeom>
          <a:noFill/>
          <a:ln/>
        </p:spPr>
        <p:txBody>
          <a:bodyPr wrap="square" lIns="0" tIns="0" rIns="0" bIns="0" rtlCol="0" anchor="ctr"/>
          <a:lstStyle/>
          <a:p>
            <a:pPr indent="0" marL="0">
              <a:buNone/>
            </a:pPr>
            <a:r>
              <a:rPr lang="en-US" sz="1500" dirty="0">
                <a:solidFill>
                  <a:srgbClr val="C9CCE8"/>
                </a:solidFill>
                <a:latin typeface="Calibri" pitchFamily="34" charset="0"/>
                <a:ea typeface="Calibri" pitchFamily="34" charset="-122"/>
                <a:cs typeface="Calibri" pitchFamily="34" charset="-120"/>
              </a:rPr>
              <a:t>Team 5   •   CINS 5388 — Software Project Management</a:t>
            </a:r>
            <a:endParaRPr lang="en-US" sz="1500" dirty="0"/>
          </a:p>
        </p:txBody>
      </p:sp>
      <p:sp>
        <p:nvSpPr>
          <p:cNvPr id="6" name="Shape 4"/>
          <p:cNvSpPr/>
          <p:nvPr/>
        </p:nvSpPr>
        <p:spPr>
          <a:xfrm>
            <a:off x="822960" y="4343400"/>
            <a:ext cx="2926080" cy="0"/>
          </a:xfrm>
          <a:prstGeom prst="line">
            <a:avLst/>
          </a:prstGeom>
          <a:noFill/>
          <a:ln w="25400">
            <a:solidFill>
              <a:srgbClr val="E8543A"/>
            </a:solidFill>
            <a:prstDash val="solid"/>
          </a:ln>
        </p:spPr>
      </p:sp>
      <p:sp>
        <p:nvSpPr>
          <p:cNvPr id="7" name="Text 5"/>
          <p:cNvSpPr txBox="1"/>
          <p:nvPr/>
        </p:nvSpPr>
        <p:spPr>
          <a:xfrm>
            <a:off x="822960" y="4526280"/>
            <a:ext cx="10515600" cy="365760"/>
          </a:xfrm>
          <a:prstGeom prst="rect">
            <a:avLst/>
          </a:prstGeom>
          <a:noFill/>
          <a:ln/>
        </p:spPr>
        <p:txBody>
          <a:bodyPr wrap="square" lIns="0" tIns="0" rIns="0" bIns="0" rtlCol="0" anchor="ctr"/>
          <a:lstStyle/>
          <a:p>
            <a:pPr indent="0" marL="0">
              <a:buNone/>
            </a:pPr>
            <a:r>
              <a:rPr lang="en-US" sz="1300" dirty="0">
                <a:solidFill>
                  <a:srgbClr val="9AA0C7"/>
                </a:solidFill>
                <a:latin typeface="Calibri" pitchFamily="34" charset="0"/>
                <a:ea typeface="Calibri" pitchFamily="34" charset="-122"/>
                <a:cs typeface="Calibri" pitchFamily="34" charset="-120"/>
              </a:rPr>
              <a:t>D'Andre League   •   James Hawkins   •   Teyana Williams   •   Ryan Tucker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WHAT WE'LL COVER</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Agenda</a:t>
            </a:r>
            <a:endParaRPr lang="en-US" sz="2700" dirty="0"/>
          </a:p>
        </p:txBody>
      </p:sp>
      <p:sp>
        <p:nvSpPr>
          <p:cNvPr id="4" name="Shape 2"/>
          <p:cNvSpPr/>
          <p:nvPr/>
        </p:nvSpPr>
        <p:spPr>
          <a:xfrm>
            <a:off x="548640" y="1417320"/>
            <a:ext cx="5349240" cy="868680"/>
          </a:xfrm>
          <a:prstGeom prst="roundRect">
            <a:avLst>
              <a:gd name="adj" fmla="val 9474"/>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Shape 3"/>
          <p:cNvSpPr/>
          <p:nvPr/>
        </p:nvSpPr>
        <p:spPr>
          <a:xfrm>
            <a:off x="548640" y="1417320"/>
            <a:ext cx="73152" cy="868680"/>
          </a:xfrm>
          <a:prstGeom prst="rect">
            <a:avLst/>
          </a:prstGeom>
          <a:solidFill>
            <a:srgbClr val="E8543A"/>
          </a:solidFill>
          <a:ln/>
        </p:spPr>
      </p:sp>
      <p:sp>
        <p:nvSpPr>
          <p:cNvPr id="6" name="Text 4"/>
          <p:cNvSpPr txBox="1"/>
          <p:nvPr/>
        </p:nvSpPr>
        <p:spPr>
          <a:xfrm>
            <a:off x="822960" y="1417320"/>
            <a:ext cx="4892040"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1. UML Use Case Diagram</a:t>
            </a:r>
            <a:endParaRPr lang="en-US" sz="1400" dirty="0"/>
          </a:p>
        </p:txBody>
      </p:sp>
      <p:sp>
        <p:nvSpPr>
          <p:cNvPr id="7" name="Shape 5"/>
          <p:cNvSpPr/>
          <p:nvPr/>
        </p:nvSpPr>
        <p:spPr>
          <a:xfrm>
            <a:off x="548640" y="2468880"/>
            <a:ext cx="5349240" cy="868680"/>
          </a:xfrm>
          <a:prstGeom prst="roundRect">
            <a:avLst>
              <a:gd name="adj" fmla="val 9474"/>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8" name="Shape 6"/>
          <p:cNvSpPr/>
          <p:nvPr/>
        </p:nvSpPr>
        <p:spPr>
          <a:xfrm>
            <a:off x="548640" y="2468880"/>
            <a:ext cx="73152" cy="868680"/>
          </a:xfrm>
          <a:prstGeom prst="rect">
            <a:avLst/>
          </a:prstGeom>
          <a:solidFill>
            <a:srgbClr val="E8543A"/>
          </a:solidFill>
          <a:ln/>
        </p:spPr>
      </p:sp>
      <p:sp>
        <p:nvSpPr>
          <p:cNvPr id="9" name="Text 7"/>
          <p:cNvSpPr txBox="1"/>
          <p:nvPr/>
        </p:nvSpPr>
        <p:spPr>
          <a:xfrm>
            <a:off x="822960" y="2468880"/>
            <a:ext cx="4892040"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2. Updated Product Backlog (by epic)</a:t>
            </a:r>
            <a:endParaRPr lang="en-US" sz="1400" dirty="0"/>
          </a:p>
        </p:txBody>
      </p:sp>
      <p:sp>
        <p:nvSpPr>
          <p:cNvPr id="10" name="Shape 8"/>
          <p:cNvSpPr/>
          <p:nvPr/>
        </p:nvSpPr>
        <p:spPr>
          <a:xfrm>
            <a:off x="548640" y="3520440"/>
            <a:ext cx="5349240" cy="868680"/>
          </a:xfrm>
          <a:prstGeom prst="roundRect">
            <a:avLst>
              <a:gd name="adj" fmla="val 9474"/>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1" name="Shape 9"/>
          <p:cNvSpPr/>
          <p:nvPr/>
        </p:nvSpPr>
        <p:spPr>
          <a:xfrm>
            <a:off x="548640" y="3520440"/>
            <a:ext cx="73152" cy="868680"/>
          </a:xfrm>
          <a:prstGeom prst="rect">
            <a:avLst/>
          </a:prstGeom>
          <a:solidFill>
            <a:srgbClr val="E8543A"/>
          </a:solidFill>
          <a:ln/>
        </p:spPr>
      </p:sp>
      <p:sp>
        <p:nvSpPr>
          <p:cNvPr id="12" name="Text 10"/>
          <p:cNvSpPr txBox="1"/>
          <p:nvPr/>
        </p:nvSpPr>
        <p:spPr>
          <a:xfrm>
            <a:off x="822960" y="3520440"/>
            <a:ext cx="4892040"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3. Sprint 0 stories — acceptance criteria &amp; dev tasks</a:t>
            </a:r>
            <a:endParaRPr lang="en-US" sz="1400" dirty="0"/>
          </a:p>
        </p:txBody>
      </p:sp>
      <p:sp>
        <p:nvSpPr>
          <p:cNvPr id="13" name="Shape 11"/>
          <p:cNvSpPr/>
          <p:nvPr/>
        </p:nvSpPr>
        <p:spPr>
          <a:xfrm>
            <a:off x="548640" y="4572000"/>
            <a:ext cx="5349240" cy="868680"/>
          </a:xfrm>
          <a:prstGeom prst="roundRect">
            <a:avLst>
              <a:gd name="adj" fmla="val 9474"/>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4" name="Shape 12"/>
          <p:cNvSpPr/>
          <p:nvPr/>
        </p:nvSpPr>
        <p:spPr>
          <a:xfrm>
            <a:off x="548640" y="4572000"/>
            <a:ext cx="73152" cy="868680"/>
          </a:xfrm>
          <a:prstGeom prst="rect">
            <a:avLst/>
          </a:prstGeom>
          <a:solidFill>
            <a:srgbClr val="E8543A"/>
          </a:solidFill>
          <a:ln/>
        </p:spPr>
      </p:sp>
      <p:sp>
        <p:nvSpPr>
          <p:cNvPr id="15" name="Text 13"/>
          <p:cNvSpPr txBox="1"/>
          <p:nvPr/>
        </p:nvSpPr>
        <p:spPr>
          <a:xfrm>
            <a:off x="822960" y="4572000"/>
            <a:ext cx="4892040"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4. Screenshots — what Sprint 0 delivered</a:t>
            </a:r>
            <a:endParaRPr lang="en-US" sz="1400" dirty="0"/>
          </a:p>
        </p:txBody>
      </p:sp>
      <p:sp>
        <p:nvSpPr>
          <p:cNvPr id="16" name="Shape 14"/>
          <p:cNvSpPr/>
          <p:nvPr/>
        </p:nvSpPr>
        <p:spPr>
          <a:xfrm>
            <a:off x="6355080" y="1417320"/>
            <a:ext cx="5349240" cy="868680"/>
          </a:xfrm>
          <a:prstGeom prst="roundRect">
            <a:avLst>
              <a:gd name="adj" fmla="val 9474"/>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7" name="Shape 15"/>
          <p:cNvSpPr/>
          <p:nvPr/>
        </p:nvSpPr>
        <p:spPr>
          <a:xfrm>
            <a:off x="6355080" y="1417320"/>
            <a:ext cx="73152" cy="868680"/>
          </a:xfrm>
          <a:prstGeom prst="rect">
            <a:avLst/>
          </a:prstGeom>
          <a:solidFill>
            <a:srgbClr val="E8543A"/>
          </a:solidFill>
          <a:ln/>
        </p:spPr>
      </p:sp>
      <p:sp>
        <p:nvSpPr>
          <p:cNvPr id="18" name="Text 16"/>
          <p:cNvSpPr txBox="1"/>
          <p:nvPr/>
        </p:nvSpPr>
        <p:spPr>
          <a:xfrm>
            <a:off x="6629400" y="1417320"/>
            <a:ext cx="4892040"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5. Software demo (Sprint Review)</a:t>
            </a:r>
            <a:endParaRPr lang="en-US" sz="1400" dirty="0"/>
          </a:p>
        </p:txBody>
      </p:sp>
      <p:sp>
        <p:nvSpPr>
          <p:cNvPr id="19" name="Shape 17"/>
          <p:cNvSpPr/>
          <p:nvPr/>
        </p:nvSpPr>
        <p:spPr>
          <a:xfrm>
            <a:off x="6355080" y="2468880"/>
            <a:ext cx="5349240" cy="868680"/>
          </a:xfrm>
          <a:prstGeom prst="roundRect">
            <a:avLst>
              <a:gd name="adj" fmla="val 9474"/>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0" name="Shape 18"/>
          <p:cNvSpPr/>
          <p:nvPr/>
        </p:nvSpPr>
        <p:spPr>
          <a:xfrm>
            <a:off x="6355080" y="2468880"/>
            <a:ext cx="73152" cy="868680"/>
          </a:xfrm>
          <a:prstGeom prst="rect">
            <a:avLst/>
          </a:prstGeom>
          <a:solidFill>
            <a:srgbClr val="E8543A"/>
          </a:solidFill>
          <a:ln/>
        </p:spPr>
      </p:sp>
      <p:sp>
        <p:nvSpPr>
          <p:cNvPr id="21" name="Text 19"/>
          <p:cNvSpPr txBox="1"/>
          <p:nvPr/>
        </p:nvSpPr>
        <p:spPr>
          <a:xfrm>
            <a:off x="6629400" y="2468880"/>
            <a:ext cx="4892040"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6. Sprint Retrospective</a:t>
            </a:r>
            <a:endParaRPr lang="en-US" sz="1400" dirty="0"/>
          </a:p>
        </p:txBody>
      </p:sp>
      <p:sp>
        <p:nvSpPr>
          <p:cNvPr id="22" name="Shape 20"/>
          <p:cNvSpPr/>
          <p:nvPr/>
        </p:nvSpPr>
        <p:spPr>
          <a:xfrm>
            <a:off x="6355080" y="3520440"/>
            <a:ext cx="5349240" cy="868680"/>
          </a:xfrm>
          <a:prstGeom prst="roundRect">
            <a:avLst>
              <a:gd name="adj" fmla="val 9474"/>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3" name="Shape 21"/>
          <p:cNvSpPr/>
          <p:nvPr/>
        </p:nvSpPr>
        <p:spPr>
          <a:xfrm>
            <a:off x="6355080" y="3520440"/>
            <a:ext cx="73152" cy="868680"/>
          </a:xfrm>
          <a:prstGeom prst="rect">
            <a:avLst/>
          </a:prstGeom>
          <a:solidFill>
            <a:srgbClr val="E8543A"/>
          </a:solidFill>
          <a:ln/>
        </p:spPr>
      </p:sp>
      <p:sp>
        <p:nvSpPr>
          <p:cNvPr id="24" name="Text 22"/>
          <p:cNvSpPr txBox="1"/>
          <p:nvPr/>
        </p:nvSpPr>
        <p:spPr>
          <a:xfrm>
            <a:off x="6629400" y="3520440"/>
            <a:ext cx="4892040"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7. Backlog carryover from Sprint 0</a:t>
            </a:r>
            <a:endParaRPr lang="en-US" sz="1400" dirty="0"/>
          </a:p>
        </p:txBody>
      </p:sp>
      <p:sp>
        <p:nvSpPr>
          <p:cNvPr id="25" name="Shape 23"/>
          <p:cNvSpPr/>
          <p:nvPr/>
        </p:nvSpPr>
        <p:spPr>
          <a:xfrm>
            <a:off x="6355080" y="4572000"/>
            <a:ext cx="5349240" cy="868680"/>
          </a:xfrm>
          <a:prstGeom prst="roundRect">
            <a:avLst>
              <a:gd name="adj" fmla="val 9474"/>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6" name="Shape 24"/>
          <p:cNvSpPr/>
          <p:nvPr/>
        </p:nvSpPr>
        <p:spPr>
          <a:xfrm>
            <a:off x="6355080" y="4572000"/>
            <a:ext cx="73152" cy="868680"/>
          </a:xfrm>
          <a:prstGeom prst="rect">
            <a:avLst/>
          </a:prstGeom>
          <a:solidFill>
            <a:srgbClr val="E8543A"/>
          </a:solidFill>
          <a:ln/>
        </p:spPr>
      </p:sp>
      <p:sp>
        <p:nvSpPr>
          <p:cNvPr id="27" name="Text 25"/>
          <p:cNvSpPr txBox="1"/>
          <p:nvPr/>
        </p:nvSpPr>
        <p:spPr>
          <a:xfrm>
            <a:off x="6629400" y="4572000"/>
            <a:ext cx="4892040"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8. Sprint 1 planning — stories, AC &amp; dev tasks</a:t>
            </a:r>
            <a:endParaRPr lang="en-US" sz="1400" dirty="0"/>
          </a:p>
        </p:txBody>
      </p:sp>
      <p:sp>
        <p:nvSpPr>
          <p:cNvPr id="28" name="Text 26"/>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29" name="Text 27"/>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1 — SYSTEM SCOPE</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UML Use Case Diagram</a:t>
            </a:r>
            <a:endParaRPr lang="en-US" sz="2700" dirty="0"/>
          </a:p>
        </p:txBody>
      </p:sp>
      <p:sp>
        <p:nvSpPr>
          <p:cNvPr id="4" name="Shape 2"/>
          <p:cNvSpPr/>
          <p:nvPr/>
        </p:nvSpPr>
        <p:spPr>
          <a:xfrm>
            <a:off x="1545336" y="1179576"/>
            <a:ext cx="9070848" cy="4727448"/>
          </a:xfrm>
          <a:prstGeom prst="roundRect">
            <a:avLst>
              <a:gd name="adj" fmla="val 1741"/>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5" name="Image 0" descr="/tmp/claude-0/-home-claude/adf370eb-f340-5a92-b171-fa65d773f298/scratchpad/deck/assets/usecase.png">    </p:cNvPr>
          <p:cNvPicPr>
            <a:picLocks noChangeAspect="1"/>
          </p:cNvPicPr>
          <p:nvPr/>
        </p:nvPicPr>
        <p:blipFill>
          <a:blip r:embed="rId1"/>
          <a:srcRect l="0" r="0" t="0" b="0"/>
          <a:stretch/>
        </p:blipFill>
        <p:spPr>
          <a:xfrm>
            <a:off x="1600200" y="1234440"/>
            <a:ext cx="8961120" cy="4617720"/>
          </a:xfrm>
          <a:prstGeom prst="rect">
            <a:avLst/>
          </a:prstGeom>
        </p:spPr>
      </p:pic>
      <p:sp>
        <p:nvSpPr>
          <p:cNvPr id="6" name="Text 3"/>
          <p:cNvSpPr/>
          <p:nvPr/>
        </p:nvSpPr>
        <p:spPr>
          <a:xfrm>
            <a:off x="1600200" y="5897880"/>
            <a:ext cx="8961120" cy="502920"/>
          </a:xfrm>
          <a:prstGeom prst="rect">
            <a:avLst/>
          </a:prstGeom>
          <a:noFill/>
          <a:ln/>
        </p:spPr>
        <p:txBody>
          <a:bodyPr wrap="square" lIns="0" tIns="0" rIns="0" bIns="0" rtlCol="0" anchor="ctr"/>
          <a:lstStyle/>
          <a:p>
            <a:pPr indent="0" marL="0">
              <a:lnSpc>
                <a:spcPct val="115000"/>
              </a:lnSpc>
              <a:buNone/>
            </a:pPr>
            <a:r>
              <a:rPr lang="en-US" sz="950" i="1" dirty="0">
                <a:solidFill>
                  <a:srgbClr val="6B7280"/>
                </a:solidFill>
                <a:latin typeface="Calibri" pitchFamily="34" charset="0"/>
                <a:ea typeface="Calibri" pitchFamily="34" charset="-122"/>
                <a:cs typeface="Calibri" pitchFamily="34" charset="-120"/>
              </a:rPr>
              <a:t>No changes since the last checkpoint — Team 5 decided not to add new epics/features. Built use cases (solid) map to the completed AI Priority Matching epic; planned use cases (dashed) map to Sprint 1's Weather/Demographic epics.</a:t>
            </a:r>
            <a:endParaRPr lang="en-US" sz="950" dirty="0"/>
          </a:p>
        </p:txBody>
      </p:sp>
      <p:sp>
        <p:nvSpPr>
          <p:cNvPr id="7" name="Text 4"/>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8" name="Text 5"/>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2 — ORGANIZED BY EPIC/FEATURE</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Updated Product Backlog</a:t>
            </a:r>
            <a:endParaRPr lang="en-US" sz="2700" dirty="0"/>
          </a:p>
        </p:txBody>
      </p:sp>
      <p:sp>
        <p:nvSpPr>
          <p:cNvPr id="4" name="Text 2"/>
          <p:cNvSpPr/>
          <p:nvPr/>
        </p:nvSpPr>
        <p:spPr>
          <a:xfrm>
            <a:off x="548640" y="1188720"/>
            <a:ext cx="11064240" cy="594360"/>
          </a:xfrm>
          <a:prstGeom prst="rect">
            <a:avLst/>
          </a:prstGeom>
          <a:noFill/>
          <a:ln/>
        </p:spPr>
        <p:txBody>
          <a:bodyPr wrap="square" lIns="0" tIns="0" rIns="0" bIns="0" rtlCol="0" anchor="ctr"/>
          <a:lstStyle/>
          <a:p>
            <a:pPr indent="0" marL="0">
              <a:lnSpc>
                <a:spcPct val="115000"/>
              </a:lnSpc>
              <a:buNone/>
            </a:pPr>
            <a:r>
              <a:rPr lang="en-US" sz="1150" dirty="0">
                <a:solidFill>
                  <a:srgbClr val="2B2B2B"/>
                </a:solidFill>
                <a:latin typeface="Calibri" pitchFamily="34" charset="0"/>
                <a:ea typeface="Calibri" pitchFamily="34" charset="-122"/>
                <a:cs typeface="Calibri" pitchFamily="34" charset="-120"/>
              </a:rPr>
              <a:t>Per the last class discussion, Team 5 reviewed the backlog and decided against introducing new epics or features — the goal is to finish integrating real data sources into the existing app rather than growing scope. The backlog remains 3 epics + 1 cross-cutting integration story:</a:t>
            </a:r>
            <a:endParaRPr lang="en-US" sz="1150" dirty="0"/>
          </a:p>
        </p:txBody>
      </p:sp>
      <p:sp>
        <p:nvSpPr>
          <p:cNvPr id="5" name="Shape 3"/>
          <p:cNvSpPr/>
          <p:nvPr/>
        </p:nvSpPr>
        <p:spPr>
          <a:xfrm>
            <a:off x="548640" y="1965960"/>
            <a:ext cx="3520440" cy="3246120"/>
          </a:xfrm>
          <a:prstGeom prst="roundRect">
            <a:avLst>
              <a:gd name="adj" fmla="val 2535"/>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6" name="Shape 4"/>
          <p:cNvSpPr/>
          <p:nvPr/>
        </p:nvSpPr>
        <p:spPr>
          <a:xfrm>
            <a:off x="548640" y="1965960"/>
            <a:ext cx="3520440" cy="91440"/>
          </a:xfrm>
          <a:prstGeom prst="rect">
            <a:avLst/>
          </a:prstGeom>
          <a:solidFill>
            <a:srgbClr val="2E8B57"/>
          </a:solidFill>
          <a:ln/>
        </p:spPr>
      </p:sp>
      <p:sp>
        <p:nvSpPr>
          <p:cNvPr id="7" name="Text 5"/>
          <p:cNvSpPr txBox="1"/>
          <p:nvPr/>
        </p:nvSpPr>
        <p:spPr>
          <a:xfrm>
            <a:off x="777240" y="2240280"/>
            <a:ext cx="3063240" cy="59436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AI Priority Matching</a:t>
            </a:r>
            <a:endParaRPr lang="en-US" sz="1550" dirty="0"/>
          </a:p>
        </p:txBody>
      </p:sp>
      <p:sp>
        <p:nvSpPr>
          <p:cNvPr id="8" name="Text 6"/>
          <p:cNvSpPr txBox="1"/>
          <p:nvPr/>
        </p:nvSpPr>
        <p:spPr>
          <a:xfrm>
            <a:off x="777240" y="2788920"/>
            <a:ext cx="306324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SCRUM-8</a:t>
            </a:r>
            <a:endParaRPr lang="en-US" sz="900" dirty="0"/>
          </a:p>
        </p:txBody>
      </p:sp>
      <p:sp>
        <p:nvSpPr>
          <p:cNvPr id="9" name="Shape 7"/>
          <p:cNvSpPr/>
          <p:nvPr/>
        </p:nvSpPr>
        <p:spPr>
          <a:xfrm>
            <a:off x="777240" y="3063240"/>
            <a:ext cx="1417320" cy="256032"/>
          </a:xfrm>
          <a:prstGeom prst="roundRect">
            <a:avLst>
              <a:gd name="adj" fmla="val 50000"/>
            </a:avLst>
          </a:prstGeom>
          <a:solidFill>
            <a:srgbClr val="F4F5FA"/>
          </a:solidFill>
          <a:ln/>
        </p:spPr>
      </p:sp>
      <p:sp>
        <p:nvSpPr>
          <p:cNvPr id="10" name="Text 8"/>
          <p:cNvSpPr txBox="1"/>
          <p:nvPr/>
        </p:nvSpPr>
        <p:spPr>
          <a:xfrm>
            <a:off x="777240" y="3063240"/>
            <a:ext cx="1417320" cy="256032"/>
          </a:xfrm>
          <a:prstGeom prst="rect">
            <a:avLst/>
          </a:prstGeom>
          <a:noFill/>
          <a:ln/>
        </p:spPr>
        <p:txBody>
          <a:bodyPr wrap="square" lIns="0" tIns="0" rIns="0" bIns="0" rtlCol="0" anchor="ctr"/>
          <a:lstStyle/>
          <a:p>
            <a:pPr algn="ctr" indent="0" marL="0">
              <a:buNone/>
            </a:pPr>
            <a:r>
              <a:rPr lang="en-US" sz="950" b="1" dirty="0">
                <a:solidFill>
                  <a:srgbClr val="2B2B2B"/>
                </a:solidFill>
                <a:latin typeface="Calibri" pitchFamily="34" charset="0"/>
                <a:ea typeface="Calibri" pitchFamily="34" charset="-122"/>
                <a:cs typeface="Calibri" pitchFamily="34" charset="-120"/>
              </a:rPr>
              <a:t>6 stories</a:t>
            </a:r>
            <a:endParaRPr lang="en-US" sz="950" dirty="0"/>
          </a:p>
        </p:txBody>
      </p:sp>
      <p:sp>
        <p:nvSpPr>
          <p:cNvPr id="11" name="Shape 9"/>
          <p:cNvSpPr/>
          <p:nvPr/>
        </p:nvSpPr>
        <p:spPr>
          <a:xfrm>
            <a:off x="2286000" y="3063240"/>
            <a:ext cx="1554480" cy="256032"/>
          </a:xfrm>
          <a:prstGeom prst="roundRect">
            <a:avLst>
              <a:gd name="adj" fmla="val 50000"/>
            </a:avLst>
          </a:prstGeom>
          <a:solidFill>
            <a:srgbClr val="E4F3EB"/>
          </a:solidFill>
          <a:ln/>
        </p:spPr>
      </p:sp>
      <p:sp>
        <p:nvSpPr>
          <p:cNvPr id="12" name="Text 10"/>
          <p:cNvSpPr txBox="1"/>
          <p:nvPr/>
        </p:nvSpPr>
        <p:spPr>
          <a:xfrm>
            <a:off x="2286000" y="3063240"/>
            <a:ext cx="1554480" cy="256032"/>
          </a:xfrm>
          <a:prstGeom prst="rect">
            <a:avLst/>
          </a:prstGeom>
          <a:noFill/>
          <a:ln/>
        </p:spPr>
        <p:txBody>
          <a:bodyPr wrap="square" lIns="0" tIns="0" rIns="0" bIns="0" rtlCol="0" anchor="ctr"/>
          <a:lstStyle/>
          <a:p>
            <a:pPr algn="ctr" indent="0" marL="0">
              <a:buNone/>
            </a:pPr>
            <a:r>
              <a:rPr lang="en-US" sz="950" b="1" dirty="0">
                <a:solidFill>
                  <a:srgbClr val="2E8B57"/>
                </a:solidFill>
                <a:latin typeface="Calibri" pitchFamily="34" charset="0"/>
                <a:ea typeface="Calibri" pitchFamily="34" charset="-122"/>
                <a:cs typeface="Calibri" pitchFamily="34" charset="-120"/>
              </a:rPr>
              <a:t>Sprint 0 — Done</a:t>
            </a:r>
            <a:endParaRPr lang="en-US" sz="950" dirty="0"/>
          </a:p>
        </p:txBody>
      </p:sp>
      <p:sp>
        <p:nvSpPr>
          <p:cNvPr id="13" name="Text 11"/>
          <p:cNvSpPr txBox="1"/>
          <p:nvPr/>
        </p:nvSpPr>
        <p:spPr>
          <a:xfrm>
            <a:off x="777240" y="3474720"/>
            <a:ext cx="3063240" cy="1463040"/>
          </a:xfrm>
          <a:prstGeom prst="rect">
            <a:avLst/>
          </a:prstGeom>
          <a:noFill/>
          <a:ln/>
        </p:spPr>
        <p:txBody>
          <a:bodyPr wrap="square" lIns="0" tIns="0" rIns="0" bIns="0" rtlCol="0" anchor="ctr"/>
          <a:lstStyle/>
          <a:p>
            <a:pPr indent="0" marL="0">
              <a:lnSpc>
                <a:spcPct val="120000"/>
              </a:lnSpc>
              <a:buNone/>
            </a:pPr>
            <a:r>
              <a:rPr lang="en-US" sz="1030" dirty="0">
                <a:solidFill>
                  <a:srgbClr val="2B2B2B"/>
                </a:solidFill>
                <a:latin typeface="Calibri" pitchFamily="34" charset="0"/>
                <a:ea typeface="Calibri" pitchFamily="34" charset="-122"/>
                <a:cs typeface="Calibri" pitchFamily="34" charset="-120"/>
              </a:rPr>
              <a:t>Rank areas by heat-vulnerability score; surface the ranking on the resident map and admin portal.</a:t>
            </a:r>
            <a:endParaRPr lang="en-US" sz="1030" dirty="0"/>
          </a:p>
        </p:txBody>
      </p:sp>
      <p:sp>
        <p:nvSpPr>
          <p:cNvPr id="14" name="Shape 12"/>
          <p:cNvSpPr/>
          <p:nvPr/>
        </p:nvSpPr>
        <p:spPr>
          <a:xfrm>
            <a:off x="4325112" y="1965960"/>
            <a:ext cx="3520440" cy="3246120"/>
          </a:xfrm>
          <a:prstGeom prst="roundRect">
            <a:avLst>
              <a:gd name="adj" fmla="val 2535"/>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15" name="Shape 13"/>
          <p:cNvSpPr/>
          <p:nvPr/>
        </p:nvSpPr>
        <p:spPr>
          <a:xfrm>
            <a:off x="4325112" y="1965960"/>
            <a:ext cx="3520440" cy="91440"/>
          </a:xfrm>
          <a:prstGeom prst="rect">
            <a:avLst/>
          </a:prstGeom>
          <a:solidFill>
            <a:srgbClr val="C98A2E"/>
          </a:solidFill>
          <a:ln/>
        </p:spPr>
      </p:sp>
      <p:sp>
        <p:nvSpPr>
          <p:cNvPr id="16" name="Text 14"/>
          <p:cNvSpPr txBox="1"/>
          <p:nvPr/>
        </p:nvSpPr>
        <p:spPr>
          <a:xfrm>
            <a:off x="4553712" y="2240280"/>
            <a:ext cx="3063240" cy="59436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Live Weather Integration</a:t>
            </a:r>
            <a:endParaRPr lang="en-US" sz="1550" dirty="0"/>
          </a:p>
        </p:txBody>
      </p:sp>
      <p:sp>
        <p:nvSpPr>
          <p:cNvPr id="17" name="Text 15"/>
          <p:cNvSpPr txBox="1"/>
          <p:nvPr/>
        </p:nvSpPr>
        <p:spPr>
          <a:xfrm>
            <a:off x="4553712" y="2788920"/>
            <a:ext cx="306324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SCRUM-10</a:t>
            </a:r>
            <a:endParaRPr lang="en-US" sz="900" dirty="0"/>
          </a:p>
        </p:txBody>
      </p:sp>
      <p:sp>
        <p:nvSpPr>
          <p:cNvPr id="18" name="Shape 16"/>
          <p:cNvSpPr/>
          <p:nvPr/>
        </p:nvSpPr>
        <p:spPr>
          <a:xfrm>
            <a:off x="4553712" y="3063240"/>
            <a:ext cx="1417320" cy="256032"/>
          </a:xfrm>
          <a:prstGeom prst="roundRect">
            <a:avLst>
              <a:gd name="adj" fmla="val 50000"/>
            </a:avLst>
          </a:prstGeom>
          <a:solidFill>
            <a:srgbClr val="F4F5FA"/>
          </a:solidFill>
          <a:ln/>
        </p:spPr>
      </p:sp>
      <p:sp>
        <p:nvSpPr>
          <p:cNvPr id="19" name="Text 17"/>
          <p:cNvSpPr txBox="1"/>
          <p:nvPr/>
        </p:nvSpPr>
        <p:spPr>
          <a:xfrm>
            <a:off x="4553712" y="3063240"/>
            <a:ext cx="1417320" cy="256032"/>
          </a:xfrm>
          <a:prstGeom prst="rect">
            <a:avLst/>
          </a:prstGeom>
          <a:noFill/>
          <a:ln/>
        </p:spPr>
        <p:txBody>
          <a:bodyPr wrap="square" lIns="0" tIns="0" rIns="0" bIns="0" rtlCol="0" anchor="ctr"/>
          <a:lstStyle/>
          <a:p>
            <a:pPr algn="ctr" indent="0" marL="0">
              <a:buNone/>
            </a:pPr>
            <a:r>
              <a:rPr lang="en-US" sz="950" b="1" dirty="0">
                <a:solidFill>
                  <a:srgbClr val="2B2B2B"/>
                </a:solidFill>
                <a:latin typeface="Calibri" pitchFamily="34" charset="0"/>
                <a:ea typeface="Calibri" pitchFamily="34" charset="-122"/>
                <a:cs typeface="Calibri" pitchFamily="34" charset="-120"/>
              </a:rPr>
              <a:t>3 stories</a:t>
            </a:r>
            <a:endParaRPr lang="en-US" sz="950" dirty="0"/>
          </a:p>
        </p:txBody>
      </p:sp>
      <p:sp>
        <p:nvSpPr>
          <p:cNvPr id="20" name="Shape 18"/>
          <p:cNvSpPr/>
          <p:nvPr/>
        </p:nvSpPr>
        <p:spPr>
          <a:xfrm>
            <a:off x="6062472" y="3063240"/>
            <a:ext cx="1554480" cy="256032"/>
          </a:xfrm>
          <a:prstGeom prst="roundRect">
            <a:avLst>
              <a:gd name="adj" fmla="val 50000"/>
            </a:avLst>
          </a:prstGeom>
          <a:solidFill>
            <a:srgbClr val="FBF0DC"/>
          </a:solidFill>
          <a:ln/>
        </p:spPr>
      </p:sp>
      <p:sp>
        <p:nvSpPr>
          <p:cNvPr id="21" name="Text 19"/>
          <p:cNvSpPr txBox="1"/>
          <p:nvPr/>
        </p:nvSpPr>
        <p:spPr>
          <a:xfrm>
            <a:off x="6062472" y="3063240"/>
            <a:ext cx="1554480" cy="256032"/>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Sprint 1 — Planned</a:t>
            </a:r>
            <a:endParaRPr lang="en-US" sz="950" dirty="0"/>
          </a:p>
        </p:txBody>
      </p:sp>
      <p:sp>
        <p:nvSpPr>
          <p:cNvPr id="22" name="Text 20"/>
          <p:cNvSpPr txBox="1"/>
          <p:nvPr/>
        </p:nvSpPr>
        <p:spPr>
          <a:xfrm>
            <a:off x="4553712" y="3474720"/>
            <a:ext cx="3063240" cy="1463040"/>
          </a:xfrm>
          <a:prstGeom prst="rect">
            <a:avLst/>
          </a:prstGeom>
          <a:noFill/>
          <a:ln/>
        </p:spPr>
        <p:txBody>
          <a:bodyPr wrap="square" lIns="0" tIns="0" rIns="0" bIns="0" rtlCol="0" anchor="ctr"/>
          <a:lstStyle/>
          <a:p>
            <a:pPr indent="0" marL="0">
              <a:lnSpc>
                <a:spcPct val="120000"/>
              </a:lnSpc>
              <a:buNone/>
            </a:pPr>
            <a:r>
              <a:rPr lang="en-US" sz="1030" dirty="0">
                <a:solidFill>
                  <a:srgbClr val="2B2B2B"/>
                </a:solidFill>
                <a:latin typeface="Calibri" pitchFamily="34" charset="0"/>
                <a:ea typeface="Calibri" pitchFamily="34" charset="-122"/>
                <a:cs typeface="Calibri" pitchFamily="34" charset="-120"/>
              </a:rPr>
              <a:t>Replace hand-seeded heat index values with live NWS / Open-Meteo data, cached and fault-tolerant.</a:t>
            </a:r>
            <a:endParaRPr lang="en-US" sz="1030" dirty="0"/>
          </a:p>
        </p:txBody>
      </p:sp>
      <p:sp>
        <p:nvSpPr>
          <p:cNvPr id="23" name="Shape 21"/>
          <p:cNvSpPr/>
          <p:nvPr/>
        </p:nvSpPr>
        <p:spPr>
          <a:xfrm>
            <a:off x="8101584" y="1965960"/>
            <a:ext cx="3520440" cy="3246120"/>
          </a:xfrm>
          <a:prstGeom prst="roundRect">
            <a:avLst>
              <a:gd name="adj" fmla="val 2535"/>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24" name="Shape 22"/>
          <p:cNvSpPr/>
          <p:nvPr/>
        </p:nvSpPr>
        <p:spPr>
          <a:xfrm>
            <a:off x="8101584" y="1965960"/>
            <a:ext cx="3520440" cy="91440"/>
          </a:xfrm>
          <a:prstGeom prst="rect">
            <a:avLst/>
          </a:prstGeom>
          <a:solidFill>
            <a:srgbClr val="C98A2E"/>
          </a:solidFill>
          <a:ln/>
        </p:spPr>
      </p:sp>
      <p:sp>
        <p:nvSpPr>
          <p:cNvPr id="25" name="Text 23"/>
          <p:cNvSpPr txBox="1"/>
          <p:nvPr/>
        </p:nvSpPr>
        <p:spPr>
          <a:xfrm>
            <a:off x="8330184" y="2240280"/>
            <a:ext cx="3063240" cy="59436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Demographic Integration</a:t>
            </a:r>
            <a:endParaRPr lang="en-US" sz="1550" dirty="0"/>
          </a:p>
        </p:txBody>
      </p:sp>
      <p:sp>
        <p:nvSpPr>
          <p:cNvPr id="26" name="Text 24"/>
          <p:cNvSpPr txBox="1"/>
          <p:nvPr/>
        </p:nvSpPr>
        <p:spPr>
          <a:xfrm>
            <a:off x="8330184" y="2788920"/>
            <a:ext cx="306324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SCRUM-11</a:t>
            </a:r>
            <a:endParaRPr lang="en-US" sz="900" dirty="0"/>
          </a:p>
        </p:txBody>
      </p:sp>
      <p:sp>
        <p:nvSpPr>
          <p:cNvPr id="27" name="Shape 25"/>
          <p:cNvSpPr/>
          <p:nvPr/>
        </p:nvSpPr>
        <p:spPr>
          <a:xfrm>
            <a:off x="8330184" y="3063240"/>
            <a:ext cx="1417320" cy="256032"/>
          </a:xfrm>
          <a:prstGeom prst="roundRect">
            <a:avLst>
              <a:gd name="adj" fmla="val 50000"/>
            </a:avLst>
          </a:prstGeom>
          <a:solidFill>
            <a:srgbClr val="F4F5FA"/>
          </a:solidFill>
          <a:ln/>
        </p:spPr>
      </p:sp>
      <p:sp>
        <p:nvSpPr>
          <p:cNvPr id="28" name="Text 26"/>
          <p:cNvSpPr txBox="1"/>
          <p:nvPr/>
        </p:nvSpPr>
        <p:spPr>
          <a:xfrm>
            <a:off x="8330184" y="3063240"/>
            <a:ext cx="1417320" cy="256032"/>
          </a:xfrm>
          <a:prstGeom prst="rect">
            <a:avLst/>
          </a:prstGeom>
          <a:noFill/>
          <a:ln/>
        </p:spPr>
        <p:txBody>
          <a:bodyPr wrap="square" lIns="0" tIns="0" rIns="0" bIns="0" rtlCol="0" anchor="ctr"/>
          <a:lstStyle/>
          <a:p>
            <a:pPr algn="ctr" indent="0" marL="0">
              <a:buNone/>
            </a:pPr>
            <a:r>
              <a:rPr lang="en-US" sz="950" b="1" dirty="0">
                <a:solidFill>
                  <a:srgbClr val="2B2B2B"/>
                </a:solidFill>
                <a:latin typeface="Calibri" pitchFamily="34" charset="0"/>
                <a:ea typeface="Calibri" pitchFamily="34" charset="-122"/>
                <a:cs typeface="Calibri" pitchFamily="34" charset="-120"/>
              </a:rPr>
              <a:t>5 stories</a:t>
            </a:r>
            <a:endParaRPr lang="en-US" sz="950" dirty="0"/>
          </a:p>
        </p:txBody>
      </p:sp>
      <p:sp>
        <p:nvSpPr>
          <p:cNvPr id="29" name="Shape 27"/>
          <p:cNvSpPr/>
          <p:nvPr/>
        </p:nvSpPr>
        <p:spPr>
          <a:xfrm>
            <a:off x="9838944" y="3063240"/>
            <a:ext cx="1554480" cy="256032"/>
          </a:xfrm>
          <a:prstGeom prst="roundRect">
            <a:avLst>
              <a:gd name="adj" fmla="val 50000"/>
            </a:avLst>
          </a:prstGeom>
          <a:solidFill>
            <a:srgbClr val="FBF0DC"/>
          </a:solidFill>
          <a:ln/>
        </p:spPr>
      </p:sp>
      <p:sp>
        <p:nvSpPr>
          <p:cNvPr id="30" name="Text 28"/>
          <p:cNvSpPr txBox="1"/>
          <p:nvPr/>
        </p:nvSpPr>
        <p:spPr>
          <a:xfrm>
            <a:off x="9838944" y="3063240"/>
            <a:ext cx="1554480" cy="256032"/>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Sprint 1 — Planned</a:t>
            </a:r>
            <a:endParaRPr lang="en-US" sz="950" dirty="0"/>
          </a:p>
        </p:txBody>
      </p:sp>
      <p:sp>
        <p:nvSpPr>
          <p:cNvPr id="31" name="Text 29"/>
          <p:cNvSpPr txBox="1"/>
          <p:nvPr/>
        </p:nvSpPr>
        <p:spPr>
          <a:xfrm>
            <a:off x="8330184" y="3474720"/>
            <a:ext cx="3063240" cy="1463040"/>
          </a:xfrm>
          <a:prstGeom prst="rect">
            <a:avLst/>
          </a:prstGeom>
          <a:noFill/>
          <a:ln/>
        </p:spPr>
        <p:txBody>
          <a:bodyPr wrap="square" lIns="0" tIns="0" rIns="0" bIns="0" rtlCol="0" anchor="ctr"/>
          <a:lstStyle/>
          <a:p>
            <a:pPr indent="0" marL="0">
              <a:lnSpc>
                <a:spcPct val="120000"/>
              </a:lnSpc>
              <a:buNone/>
            </a:pPr>
            <a:r>
              <a:rPr lang="en-US" sz="1030" dirty="0">
                <a:solidFill>
                  <a:srgbClr val="2B2B2B"/>
                </a:solidFill>
                <a:latin typeface="Calibri" pitchFamily="34" charset="0"/>
                <a:ea typeface="Calibri" pitchFamily="34" charset="-122"/>
                <a:cs typeface="Calibri" pitchFamily="34" charset="-120"/>
              </a:rPr>
              <a:t>Replace hand-seeded elderly/low-income % with live Census Bureau (ACS) data via geocoded tracts.</a:t>
            </a:r>
            <a:endParaRPr lang="en-US" sz="1030" dirty="0"/>
          </a:p>
        </p:txBody>
      </p:sp>
      <p:sp>
        <p:nvSpPr>
          <p:cNvPr id="32" name="Shape 30"/>
          <p:cNvSpPr/>
          <p:nvPr/>
        </p:nvSpPr>
        <p:spPr>
          <a:xfrm>
            <a:off x="548640" y="5394960"/>
            <a:ext cx="11064240" cy="822960"/>
          </a:xfrm>
          <a:prstGeom prst="roundRect">
            <a:avLst>
              <a:gd name="adj" fmla="val 10000"/>
            </a:avLst>
          </a:prstGeom>
          <a:solidFill>
            <a:srgbClr val="F4F5FA"/>
          </a:solidFill>
          <a:ln w="12700">
            <a:solidFill>
              <a:srgbClr val="E1E4F0"/>
            </a:solidFill>
            <a:prstDash val="solid"/>
          </a:ln>
        </p:spPr>
      </p:sp>
      <p:sp>
        <p:nvSpPr>
          <p:cNvPr id="33" name="Text 31"/>
          <p:cNvSpPr/>
          <p:nvPr/>
        </p:nvSpPr>
        <p:spPr>
          <a:xfrm>
            <a:off x="777240" y="5504688"/>
            <a:ext cx="10607040" cy="594360"/>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 SCRUM-26 (cross-cutting): the batch recompute job that pulls both live weather and demographic data before scoring each area — the story that ties both Sprint 1 epics together. Sprint 1.</a:t>
            </a:r>
            <a:endParaRPr lang="en-US" sz="1050" dirty="0"/>
          </a:p>
        </p:txBody>
      </p:sp>
      <p:sp>
        <p:nvSpPr>
          <p:cNvPr id="34" name="Text 32"/>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35" name="Text 33"/>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3 — AI PRIORITY MATCHING (ALL DONE)</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Sprint 0 — Stories, Acceptance Criteria &amp; Dev Tasks</a:t>
            </a:r>
            <a:endParaRPr lang="en-US" sz="2700" dirty="0"/>
          </a:p>
        </p:txBody>
      </p:sp>
      <p:sp>
        <p:nvSpPr>
          <p:cNvPr id="4" name="Shape 2"/>
          <p:cNvSpPr/>
          <p:nvPr/>
        </p:nvSpPr>
        <p:spPr>
          <a:xfrm>
            <a:off x="502920" y="1234440"/>
            <a:ext cx="11155680" cy="739140"/>
          </a:xfrm>
          <a:prstGeom prst="roundRect">
            <a:avLst>
              <a:gd name="adj" fmla="val 11134"/>
            </a:avLst>
          </a:prstGeom>
          <a:solidFill>
            <a:srgbClr val="FFFFFF"/>
          </a:solidFill>
          <a:ln w="12700">
            <a:solidFill>
              <a:srgbClr val="E1E4F0"/>
            </a:solidFill>
            <a:prstDash val="solid"/>
          </a:ln>
        </p:spPr>
      </p:sp>
      <p:sp>
        <p:nvSpPr>
          <p:cNvPr id="5" name="Text 3"/>
          <p:cNvSpPr txBox="1"/>
          <p:nvPr/>
        </p:nvSpPr>
        <p:spPr>
          <a:xfrm>
            <a:off x="630936" y="1307592"/>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SCRUM-12</a:t>
            </a:r>
            <a:endParaRPr lang="en-US" sz="1000" dirty="0"/>
          </a:p>
        </p:txBody>
      </p:sp>
      <p:sp>
        <p:nvSpPr>
          <p:cNvPr id="6" name="Shape 4"/>
          <p:cNvSpPr/>
          <p:nvPr/>
        </p:nvSpPr>
        <p:spPr>
          <a:xfrm>
            <a:off x="630936" y="1563624"/>
            <a:ext cx="612648" cy="201168"/>
          </a:xfrm>
          <a:prstGeom prst="roundRect">
            <a:avLst>
              <a:gd name="adj" fmla="val 50000"/>
            </a:avLst>
          </a:prstGeom>
          <a:solidFill>
            <a:srgbClr val="E4F3EB"/>
          </a:solidFill>
          <a:ln/>
        </p:spPr>
      </p:sp>
      <p:sp>
        <p:nvSpPr>
          <p:cNvPr id="7" name="Text 5"/>
          <p:cNvSpPr txBox="1"/>
          <p:nvPr/>
        </p:nvSpPr>
        <p:spPr>
          <a:xfrm>
            <a:off x="630936" y="1563624"/>
            <a:ext cx="612648" cy="201168"/>
          </a:xfrm>
          <a:prstGeom prst="rect">
            <a:avLst/>
          </a:prstGeom>
          <a:noFill/>
          <a:ln/>
        </p:spPr>
        <p:txBody>
          <a:bodyPr wrap="square" lIns="0" tIns="0" rIns="0" bIns="0" rtlCol="0" anchor="ctr"/>
          <a:lstStyle/>
          <a:p>
            <a:pPr algn="ctr" indent="0" marL="0">
              <a:buNone/>
            </a:pPr>
            <a:r>
              <a:rPr lang="en-US" sz="950" b="1" dirty="0">
                <a:solidFill>
                  <a:srgbClr val="2E8B57"/>
                </a:solidFill>
                <a:latin typeface="Calibri" pitchFamily="34" charset="0"/>
                <a:ea typeface="Calibri" pitchFamily="34" charset="-122"/>
                <a:cs typeface="Calibri" pitchFamily="34" charset="-120"/>
              </a:rPr>
              <a:t>Done</a:t>
            </a:r>
            <a:endParaRPr lang="en-US" sz="950" dirty="0"/>
          </a:p>
        </p:txBody>
      </p:sp>
      <p:sp>
        <p:nvSpPr>
          <p:cNvPr id="8" name="Text 6"/>
          <p:cNvSpPr txBox="1"/>
          <p:nvPr/>
        </p:nvSpPr>
        <p:spPr>
          <a:xfrm>
            <a:off x="1271016" y="1307592"/>
            <a:ext cx="3246120" cy="59283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areas DB table storing heat + demographic inputs per area, so scores can be computed and stored.</a:t>
            </a:r>
            <a:endParaRPr lang="en-US" sz="960" dirty="0"/>
          </a:p>
        </p:txBody>
      </p:sp>
      <p:sp>
        <p:nvSpPr>
          <p:cNvPr id="9" name="Text 7"/>
          <p:cNvSpPr txBox="1"/>
          <p:nvPr/>
        </p:nvSpPr>
        <p:spPr>
          <a:xfrm>
            <a:off x="4645152" y="1289304"/>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10" name="Text 8"/>
          <p:cNvSpPr/>
          <p:nvPr/>
        </p:nvSpPr>
        <p:spPr>
          <a:xfrm>
            <a:off x="4645152" y="1481328"/>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areas table w/ heat_index_f, pct_elderly, pct_low_income, pct_no_ac, risk_score, centroid</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GIST spatial index on centroid</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Schema applies cleanly via psql -f schema.sql</a:t>
            </a:r>
            <a:endParaRPr lang="en-US" sz="860" dirty="0"/>
          </a:p>
        </p:txBody>
      </p:sp>
      <p:sp>
        <p:nvSpPr>
          <p:cNvPr id="11" name="Text 9"/>
          <p:cNvSpPr txBox="1"/>
          <p:nvPr/>
        </p:nvSpPr>
        <p:spPr>
          <a:xfrm>
            <a:off x="8124444" y="1289304"/>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12" name="Text 10"/>
          <p:cNvSpPr/>
          <p:nvPr/>
        </p:nvSpPr>
        <p:spPr>
          <a:xfrm>
            <a:off x="8124444" y="1481328"/>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Add areas table + CHECK constraints</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Add GIST index on centroid</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Write seed_areas.sql</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Verify on fresh Postgres+PostGIS</a:t>
            </a:r>
            <a:endParaRPr lang="en-US" sz="860" dirty="0"/>
          </a:p>
        </p:txBody>
      </p:sp>
      <p:sp>
        <p:nvSpPr>
          <p:cNvPr id="13" name="Shape 11"/>
          <p:cNvSpPr/>
          <p:nvPr/>
        </p:nvSpPr>
        <p:spPr>
          <a:xfrm>
            <a:off x="502920" y="2046732"/>
            <a:ext cx="11155680" cy="739140"/>
          </a:xfrm>
          <a:prstGeom prst="roundRect">
            <a:avLst>
              <a:gd name="adj" fmla="val 11134"/>
            </a:avLst>
          </a:prstGeom>
          <a:solidFill>
            <a:srgbClr val="FFFFFF"/>
          </a:solidFill>
          <a:ln w="12700">
            <a:solidFill>
              <a:srgbClr val="E1E4F0"/>
            </a:solidFill>
            <a:prstDash val="solid"/>
          </a:ln>
        </p:spPr>
      </p:sp>
      <p:sp>
        <p:nvSpPr>
          <p:cNvPr id="14" name="Text 12"/>
          <p:cNvSpPr txBox="1"/>
          <p:nvPr/>
        </p:nvSpPr>
        <p:spPr>
          <a:xfrm>
            <a:off x="630936" y="2119884"/>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SCRUM-13</a:t>
            </a:r>
            <a:endParaRPr lang="en-US" sz="1000" dirty="0"/>
          </a:p>
        </p:txBody>
      </p:sp>
      <p:sp>
        <p:nvSpPr>
          <p:cNvPr id="15" name="Shape 13"/>
          <p:cNvSpPr/>
          <p:nvPr/>
        </p:nvSpPr>
        <p:spPr>
          <a:xfrm>
            <a:off x="630936" y="2375916"/>
            <a:ext cx="612648" cy="201168"/>
          </a:xfrm>
          <a:prstGeom prst="roundRect">
            <a:avLst>
              <a:gd name="adj" fmla="val 50000"/>
            </a:avLst>
          </a:prstGeom>
          <a:solidFill>
            <a:srgbClr val="E4F3EB"/>
          </a:solidFill>
          <a:ln/>
        </p:spPr>
      </p:sp>
      <p:sp>
        <p:nvSpPr>
          <p:cNvPr id="16" name="Text 14"/>
          <p:cNvSpPr txBox="1"/>
          <p:nvPr/>
        </p:nvSpPr>
        <p:spPr>
          <a:xfrm>
            <a:off x="630936" y="2375916"/>
            <a:ext cx="612648" cy="201168"/>
          </a:xfrm>
          <a:prstGeom prst="rect">
            <a:avLst/>
          </a:prstGeom>
          <a:noFill/>
          <a:ln/>
        </p:spPr>
        <p:txBody>
          <a:bodyPr wrap="square" lIns="0" tIns="0" rIns="0" bIns="0" rtlCol="0" anchor="ctr"/>
          <a:lstStyle/>
          <a:p>
            <a:pPr algn="ctr" indent="0" marL="0">
              <a:buNone/>
            </a:pPr>
            <a:r>
              <a:rPr lang="en-US" sz="950" b="1" dirty="0">
                <a:solidFill>
                  <a:srgbClr val="2E8B57"/>
                </a:solidFill>
                <a:latin typeface="Calibri" pitchFamily="34" charset="0"/>
                <a:ea typeface="Calibri" pitchFamily="34" charset="-122"/>
                <a:cs typeface="Calibri" pitchFamily="34" charset="-120"/>
              </a:rPr>
              <a:t>Done</a:t>
            </a:r>
            <a:endParaRPr lang="en-US" sz="950" dirty="0"/>
          </a:p>
        </p:txBody>
      </p:sp>
      <p:sp>
        <p:nvSpPr>
          <p:cNvPr id="17" name="Text 15"/>
          <p:cNvSpPr txBox="1"/>
          <p:nvPr/>
        </p:nvSpPr>
        <p:spPr>
          <a:xfrm>
            <a:off x="1271016" y="2119884"/>
            <a:ext cx="3246120" cy="59283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scoring function combining heat index + vulnerability % into one 0-100 score.</a:t>
            </a:r>
            <a:endParaRPr lang="en-US" sz="960" dirty="0"/>
          </a:p>
        </p:txBody>
      </p:sp>
      <p:sp>
        <p:nvSpPr>
          <p:cNvPr id="18" name="Text 16"/>
          <p:cNvSpPr txBox="1"/>
          <p:nvPr/>
        </p:nvSpPr>
        <p:spPr>
          <a:xfrm>
            <a:off x="4645152" y="2101596"/>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19" name="Text 17"/>
          <p:cNvSpPr/>
          <p:nvPr/>
        </p:nvSpPr>
        <p:spPr>
          <a:xfrm>
            <a:off x="4645152" y="2293620"/>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Returns single 0-100 score from heat index + 3 %s</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Weighted: heat 35%, no-AC 30%, elderly 20%, low-income 15%</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No DB dependency; unit-testable</a:t>
            </a:r>
            <a:endParaRPr lang="en-US" sz="860" dirty="0"/>
          </a:p>
        </p:txBody>
      </p:sp>
      <p:sp>
        <p:nvSpPr>
          <p:cNvPr id="20" name="Text 18"/>
          <p:cNvSpPr txBox="1"/>
          <p:nvPr/>
        </p:nvSpPr>
        <p:spPr>
          <a:xfrm>
            <a:off x="8124444" y="2101596"/>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21" name="Text 19"/>
          <p:cNvSpPr/>
          <p:nvPr/>
        </p:nvSpPr>
        <p:spPr>
          <a:xfrm>
            <a:off x="8124444" y="2293620"/>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Implement computeVulnerabilityScore()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Heat-index normalization (80-130°F clamp)</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WEIGHTS constant + clampPct() helper</a:t>
            </a:r>
            <a:endParaRPr lang="en-US" sz="860" dirty="0"/>
          </a:p>
        </p:txBody>
      </p:sp>
      <p:sp>
        <p:nvSpPr>
          <p:cNvPr id="22" name="Shape 20"/>
          <p:cNvSpPr/>
          <p:nvPr/>
        </p:nvSpPr>
        <p:spPr>
          <a:xfrm>
            <a:off x="502920" y="2859024"/>
            <a:ext cx="11155680" cy="739140"/>
          </a:xfrm>
          <a:prstGeom prst="roundRect">
            <a:avLst>
              <a:gd name="adj" fmla="val 11134"/>
            </a:avLst>
          </a:prstGeom>
          <a:solidFill>
            <a:srgbClr val="FFFFFF"/>
          </a:solidFill>
          <a:ln w="12700">
            <a:solidFill>
              <a:srgbClr val="E1E4F0"/>
            </a:solidFill>
            <a:prstDash val="solid"/>
          </a:ln>
        </p:spPr>
      </p:sp>
      <p:sp>
        <p:nvSpPr>
          <p:cNvPr id="23" name="Text 21"/>
          <p:cNvSpPr txBox="1"/>
          <p:nvPr/>
        </p:nvSpPr>
        <p:spPr>
          <a:xfrm>
            <a:off x="630936" y="2932176"/>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SCRUM-14</a:t>
            </a:r>
            <a:endParaRPr lang="en-US" sz="1000" dirty="0"/>
          </a:p>
        </p:txBody>
      </p:sp>
      <p:sp>
        <p:nvSpPr>
          <p:cNvPr id="24" name="Shape 22"/>
          <p:cNvSpPr/>
          <p:nvPr/>
        </p:nvSpPr>
        <p:spPr>
          <a:xfrm>
            <a:off x="630936" y="3188208"/>
            <a:ext cx="612648" cy="201168"/>
          </a:xfrm>
          <a:prstGeom prst="roundRect">
            <a:avLst>
              <a:gd name="adj" fmla="val 50000"/>
            </a:avLst>
          </a:prstGeom>
          <a:solidFill>
            <a:srgbClr val="E4F3EB"/>
          </a:solidFill>
          <a:ln/>
        </p:spPr>
      </p:sp>
      <p:sp>
        <p:nvSpPr>
          <p:cNvPr id="25" name="Text 23"/>
          <p:cNvSpPr txBox="1"/>
          <p:nvPr/>
        </p:nvSpPr>
        <p:spPr>
          <a:xfrm>
            <a:off x="630936" y="3188208"/>
            <a:ext cx="612648" cy="201168"/>
          </a:xfrm>
          <a:prstGeom prst="rect">
            <a:avLst/>
          </a:prstGeom>
          <a:noFill/>
          <a:ln/>
        </p:spPr>
        <p:txBody>
          <a:bodyPr wrap="square" lIns="0" tIns="0" rIns="0" bIns="0" rtlCol="0" anchor="ctr"/>
          <a:lstStyle/>
          <a:p>
            <a:pPr algn="ctr" indent="0" marL="0">
              <a:buNone/>
            </a:pPr>
            <a:r>
              <a:rPr lang="en-US" sz="950" b="1" dirty="0">
                <a:solidFill>
                  <a:srgbClr val="2E8B57"/>
                </a:solidFill>
                <a:latin typeface="Calibri" pitchFamily="34" charset="0"/>
                <a:ea typeface="Calibri" pitchFamily="34" charset="-122"/>
                <a:cs typeface="Calibri" pitchFamily="34" charset="-120"/>
              </a:rPr>
              <a:t>Done</a:t>
            </a:r>
            <a:endParaRPr lang="en-US" sz="950" dirty="0"/>
          </a:p>
        </p:txBody>
      </p:sp>
      <p:sp>
        <p:nvSpPr>
          <p:cNvPr id="26" name="Text 24"/>
          <p:cNvSpPr txBox="1"/>
          <p:nvPr/>
        </p:nvSpPr>
        <p:spPr>
          <a:xfrm>
            <a:off x="1271016" y="2932176"/>
            <a:ext cx="3246120" cy="59283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Admin: areas ranked by priority, adjusted for distance to nearest open site.</a:t>
            </a:r>
            <a:endParaRPr lang="en-US" sz="960" dirty="0"/>
          </a:p>
        </p:txBody>
      </p:sp>
      <p:sp>
        <p:nvSpPr>
          <p:cNvPr id="27" name="Text 25"/>
          <p:cNvSpPr txBox="1"/>
          <p:nvPr/>
        </p:nvSpPr>
        <p:spPr>
          <a:xfrm>
            <a:off x="4645152" y="2913888"/>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28" name="Text 26"/>
          <p:cNvSpPr/>
          <p:nvPr/>
        </p:nvSpPr>
        <p:spPr>
          <a:xfrm>
            <a:off x="4645152" y="3105912"/>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GET /api/risk-areas?region= sorted by priority desc</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Includes nearest open site + distance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Farther-from-help areas score higher</a:t>
            </a:r>
            <a:endParaRPr lang="en-US" sz="860" dirty="0"/>
          </a:p>
        </p:txBody>
      </p:sp>
      <p:sp>
        <p:nvSpPr>
          <p:cNvPr id="29" name="Text 27"/>
          <p:cNvSpPr txBox="1"/>
          <p:nvPr/>
        </p:nvSpPr>
        <p:spPr>
          <a:xfrm>
            <a:off x="8124444" y="2913888"/>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30" name="Text 28"/>
          <p:cNvSpPr/>
          <p:nvPr/>
        </p:nvSpPr>
        <p:spPr>
          <a:xfrm>
            <a:off x="8124444" y="3105912"/>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risk-areas.js route w/ PostGIS KNN join</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applyResourceGap() distance bonus</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Test at varying distances</a:t>
            </a:r>
            <a:endParaRPr lang="en-US" sz="860" dirty="0"/>
          </a:p>
        </p:txBody>
      </p:sp>
      <p:sp>
        <p:nvSpPr>
          <p:cNvPr id="31" name="Shape 29"/>
          <p:cNvSpPr/>
          <p:nvPr/>
        </p:nvSpPr>
        <p:spPr>
          <a:xfrm>
            <a:off x="502920" y="3671316"/>
            <a:ext cx="11155680" cy="739140"/>
          </a:xfrm>
          <a:prstGeom prst="roundRect">
            <a:avLst>
              <a:gd name="adj" fmla="val 11134"/>
            </a:avLst>
          </a:prstGeom>
          <a:solidFill>
            <a:srgbClr val="FFFFFF"/>
          </a:solidFill>
          <a:ln w="12700">
            <a:solidFill>
              <a:srgbClr val="E1E4F0"/>
            </a:solidFill>
            <a:prstDash val="solid"/>
          </a:ln>
        </p:spPr>
      </p:sp>
      <p:sp>
        <p:nvSpPr>
          <p:cNvPr id="32" name="Text 30"/>
          <p:cNvSpPr txBox="1"/>
          <p:nvPr/>
        </p:nvSpPr>
        <p:spPr>
          <a:xfrm>
            <a:off x="630936" y="3744468"/>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SCRUM-15</a:t>
            </a:r>
            <a:endParaRPr lang="en-US" sz="1000" dirty="0"/>
          </a:p>
        </p:txBody>
      </p:sp>
      <p:sp>
        <p:nvSpPr>
          <p:cNvPr id="33" name="Shape 31"/>
          <p:cNvSpPr/>
          <p:nvPr/>
        </p:nvSpPr>
        <p:spPr>
          <a:xfrm>
            <a:off x="630936" y="4000500"/>
            <a:ext cx="612648" cy="201168"/>
          </a:xfrm>
          <a:prstGeom prst="roundRect">
            <a:avLst>
              <a:gd name="adj" fmla="val 50000"/>
            </a:avLst>
          </a:prstGeom>
          <a:solidFill>
            <a:srgbClr val="E4F3EB"/>
          </a:solidFill>
          <a:ln/>
        </p:spPr>
      </p:sp>
      <p:sp>
        <p:nvSpPr>
          <p:cNvPr id="34" name="Text 32"/>
          <p:cNvSpPr txBox="1"/>
          <p:nvPr/>
        </p:nvSpPr>
        <p:spPr>
          <a:xfrm>
            <a:off x="630936" y="4000500"/>
            <a:ext cx="612648" cy="201168"/>
          </a:xfrm>
          <a:prstGeom prst="rect">
            <a:avLst/>
          </a:prstGeom>
          <a:noFill/>
          <a:ln/>
        </p:spPr>
        <p:txBody>
          <a:bodyPr wrap="square" lIns="0" tIns="0" rIns="0" bIns="0" rtlCol="0" anchor="ctr"/>
          <a:lstStyle/>
          <a:p>
            <a:pPr algn="ctr" indent="0" marL="0">
              <a:buNone/>
            </a:pPr>
            <a:r>
              <a:rPr lang="en-US" sz="950" b="1" dirty="0">
                <a:solidFill>
                  <a:srgbClr val="2E8B57"/>
                </a:solidFill>
                <a:latin typeface="Calibri" pitchFamily="34" charset="0"/>
                <a:ea typeface="Calibri" pitchFamily="34" charset="-122"/>
                <a:cs typeface="Calibri" pitchFamily="34" charset="-120"/>
              </a:rPr>
              <a:t>Done</a:t>
            </a:r>
            <a:endParaRPr lang="en-US" sz="950" dirty="0"/>
          </a:p>
        </p:txBody>
      </p:sp>
      <p:sp>
        <p:nvSpPr>
          <p:cNvPr id="35" name="Text 33"/>
          <p:cNvSpPr txBox="1"/>
          <p:nvPr/>
        </p:nvSpPr>
        <p:spPr>
          <a:xfrm>
            <a:off x="1271016" y="3744468"/>
            <a:ext cx="3246120" cy="59283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Admin: "Priority areas" table in the admin portal to act on the ranking.</a:t>
            </a:r>
            <a:endParaRPr lang="en-US" sz="960" dirty="0"/>
          </a:p>
        </p:txBody>
      </p:sp>
      <p:sp>
        <p:nvSpPr>
          <p:cNvPr id="36" name="Text 34"/>
          <p:cNvSpPr txBox="1"/>
          <p:nvPr/>
        </p:nvSpPr>
        <p:spPr>
          <a:xfrm>
            <a:off x="4645152" y="3726180"/>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37" name="Text 35"/>
          <p:cNvSpPr/>
          <p:nvPr/>
        </p:nvSpPr>
        <p:spPr>
          <a:xfrm>
            <a:off x="4645152" y="3918204"/>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Ranked table: rank, area, band, heat index, nearest site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Region filter + Load button populate table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Recompute button updates one row, no reload</a:t>
            </a:r>
            <a:endParaRPr lang="en-US" sz="860" dirty="0"/>
          </a:p>
        </p:txBody>
      </p:sp>
      <p:sp>
        <p:nvSpPr>
          <p:cNvPr id="38" name="Text 36"/>
          <p:cNvSpPr txBox="1"/>
          <p:nvPr/>
        </p:nvSpPr>
        <p:spPr>
          <a:xfrm>
            <a:off x="8124444" y="3726180"/>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39" name="Text 37"/>
          <p:cNvSpPr/>
          <p:nvPr/>
        </p:nvSpPr>
        <p:spPr>
          <a:xfrm>
            <a:off x="8124444" y="3918204"/>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Priority-areas panel/table in admin.html</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loadRiskAreas()/recomputeArea() in admin.js</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priorityBand()/formatMiles() helpers</a:t>
            </a:r>
            <a:endParaRPr lang="en-US" sz="860" dirty="0"/>
          </a:p>
        </p:txBody>
      </p:sp>
      <p:sp>
        <p:nvSpPr>
          <p:cNvPr id="40" name="Shape 38"/>
          <p:cNvSpPr/>
          <p:nvPr/>
        </p:nvSpPr>
        <p:spPr>
          <a:xfrm>
            <a:off x="502920" y="4483608"/>
            <a:ext cx="11155680" cy="739140"/>
          </a:xfrm>
          <a:prstGeom prst="roundRect">
            <a:avLst>
              <a:gd name="adj" fmla="val 11134"/>
            </a:avLst>
          </a:prstGeom>
          <a:solidFill>
            <a:srgbClr val="FFFFFF"/>
          </a:solidFill>
          <a:ln w="12700">
            <a:solidFill>
              <a:srgbClr val="E1E4F0"/>
            </a:solidFill>
            <a:prstDash val="solid"/>
          </a:ln>
        </p:spPr>
      </p:sp>
      <p:sp>
        <p:nvSpPr>
          <p:cNvPr id="41" name="Text 39"/>
          <p:cNvSpPr txBox="1"/>
          <p:nvPr/>
        </p:nvSpPr>
        <p:spPr>
          <a:xfrm>
            <a:off x="630936" y="4556760"/>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SCRUM-16</a:t>
            </a:r>
            <a:endParaRPr lang="en-US" sz="1000" dirty="0"/>
          </a:p>
        </p:txBody>
      </p:sp>
      <p:sp>
        <p:nvSpPr>
          <p:cNvPr id="42" name="Shape 40"/>
          <p:cNvSpPr/>
          <p:nvPr/>
        </p:nvSpPr>
        <p:spPr>
          <a:xfrm>
            <a:off x="630936" y="4812792"/>
            <a:ext cx="612648" cy="201168"/>
          </a:xfrm>
          <a:prstGeom prst="roundRect">
            <a:avLst>
              <a:gd name="adj" fmla="val 50000"/>
            </a:avLst>
          </a:prstGeom>
          <a:solidFill>
            <a:srgbClr val="E4F3EB"/>
          </a:solidFill>
          <a:ln/>
        </p:spPr>
      </p:sp>
      <p:sp>
        <p:nvSpPr>
          <p:cNvPr id="43" name="Text 41"/>
          <p:cNvSpPr txBox="1"/>
          <p:nvPr/>
        </p:nvSpPr>
        <p:spPr>
          <a:xfrm>
            <a:off x="630936" y="4812792"/>
            <a:ext cx="612648" cy="201168"/>
          </a:xfrm>
          <a:prstGeom prst="rect">
            <a:avLst/>
          </a:prstGeom>
          <a:noFill/>
          <a:ln/>
        </p:spPr>
        <p:txBody>
          <a:bodyPr wrap="square" lIns="0" tIns="0" rIns="0" bIns="0" rtlCol="0" anchor="ctr"/>
          <a:lstStyle/>
          <a:p>
            <a:pPr algn="ctr" indent="0" marL="0">
              <a:buNone/>
            </a:pPr>
            <a:r>
              <a:rPr lang="en-US" sz="950" b="1" dirty="0">
                <a:solidFill>
                  <a:srgbClr val="2E8B57"/>
                </a:solidFill>
                <a:latin typeface="Calibri" pitchFamily="34" charset="0"/>
                <a:ea typeface="Calibri" pitchFamily="34" charset="-122"/>
                <a:cs typeface="Calibri" pitchFamily="34" charset="-120"/>
              </a:rPr>
              <a:t>Done</a:t>
            </a:r>
            <a:endParaRPr lang="en-US" sz="950" dirty="0"/>
          </a:p>
        </p:txBody>
      </p:sp>
      <p:sp>
        <p:nvSpPr>
          <p:cNvPr id="44" name="Text 42"/>
          <p:cNvSpPr txBox="1"/>
          <p:nvPr/>
        </p:nvSpPr>
        <p:spPr>
          <a:xfrm>
            <a:off x="1271016" y="4556760"/>
            <a:ext cx="3246120" cy="59283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Resident: priority areas shaded on the map to see where help is most needed.</a:t>
            </a:r>
            <a:endParaRPr lang="en-US" sz="960" dirty="0"/>
          </a:p>
        </p:txBody>
      </p:sp>
      <p:sp>
        <p:nvSpPr>
          <p:cNvPr id="45" name="Text 43"/>
          <p:cNvSpPr txBox="1"/>
          <p:nvPr/>
        </p:nvSpPr>
        <p:spPr>
          <a:xfrm>
            <a:off x="4645152" y="4538472"/>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46" name="Text 44"/>
          <p:cNvSpPr/>
          <p:nvPr/>
        </p:nvSpPr>
        <p:spPr>
          <a:xfrm>
            <a:off x="4645152" y="4730496"/>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"Show priority areas" checkbox toggles overlay</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Circle color scales red→orange→yellow→green by score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Click shows area, score, nearest open site</a:t>
            </a:r>
            <a:endParaRPr lang="en-US" sz="860" dirty="0"/>
          </a:p>
        </p:txBody>
      </p:sp>
      <p:sp>
        <p:nvSpPr>
          <p:cNvPr id="47" name="Text 45"/>
          <p:cNvSpPr txBox="1"/>
          <p:nvPr/>
        </p:nvSpPr>
        <p:spPr>
          <a:xfrm>
            <a:off x="8124444" y="4538472"/>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48" name="Text 46"/>
          <p:cNvSpPr/>
          <p:nvPr/>
        </p:nvSpPr>
        <p:spPr>
          <a:xfrm>
            <a:off x="8124444" y="4730496"/>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riskLayer Leaflet layer + checkbox</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loadRiskAreas()/riskColor() in app.js</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Wire checkbox to layer</a:t>
            </a:r>
            <a:endParaRPr lang="en-US" sz="860" dirty="0"/>
          </a:p>
        </p:txBody>
      </p:sp>
      <p:sp>
        <p:nvSpPr>
          <p:cNvPr id="49" name="Shape 47"/>
          <p:cNvSpPr/>
          <p:nvPr/>
        </p:nvSpPr>
        <p:spPr>
          <a:xfrm>
            <a:off x="502920" y="5295900"/>
            <a:ext cx="11155680" cy="739140"/>
          </a:xfrm>
          <a:prstGeom prst="roundRect">
            <a:avLst>
              <a:gd name="adj" fmla="val 11134"/>
            </a:avLst>
          </a:prstGeom>
          <a:solidFill>
            <a:srgbClr val="FFFFFF"/>
          </a:solidFill>
          <a:ln w="12700">
            <a:solidFill>
              <a:srgbClr val="E1E4F0"/>
            </a:solidFill>
            <a:prstDash val="solid"/>
          </a:ln>
        </p:spPr>
      </p:sp>
      <p:sp>
        <p:nvSpPr>
          <p:cNvPr id="50" name="Text 48"/>
          <p:cNvSpPr txBox="1"/>
          <p:nvPr/>
        </p:nvSpPr>
        <p:spPr>
          <a:xfrm>
            <a:off x="630936" y="5369052"/>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SCRUM-17</a:t>
            </a:r>
            <a:endParaRPr lang="en-US" sz="1000" dirty="0"/>
          </a:p>
        </p:txBody>
      </p:sp>
      <p:sp>
        <p:nvSpPr>
          <p:cNvPr id="51" name="Shape 49"/>
          <p:cNvSpPr/>
          <p:nvPr/>
        </p:nvSpPr>
        <p:spPr>
          <a:xfrm>
            <a:off x="630936" y="5625084"/>
            <a:ext cx="612648" cy="201168"/>
          </a:xfrm>
          <a:prstGeom prst="roundRect">
            <a:avLst>
              <a:gd name="adj" fmla="val 50000"/>
            </a:avLst>
          </a:prstGeom>
          <a:solidFill>
            <a:srgbClr val="E4F3EB"/>
          </a:solidFill>
          <a:ln/>
        </p:spPr>
      </p:sp>
      <p:sp>
        <p:nvSpPr>
          <p:cNvPr id="52" name="Text 50"/>
          <p:cNvSpPr txBox="1"/>
          <p:nvPr/>
        </p:nvSpPr>
        <p:spPr>
          <a:xfrm>
            <a:off x="630936" y="5625084"/>
            <a:ext cx="612648" cy="201168"/>
          </a:xfrm>
          <a:prstGeom prst="rect">
            <a:avLst/>
          </a:prstGeom>
          <a:noFill/>
          <a:ln/>
        </p:spPr>
        <p:txBody>
          <a:bodyPr wrap="square" lIns="0" tIns="0" rIns="0" bIns="0" rtlCol="0" anchor="ctr"/>
          <a:lstStyle/>
          <a:p>
            <a:pPr algn="ctr" indent="0" marL="0">
              <a:buNone/>
            </a:pPr>
            <a:r>
              <a:rPr lang="en-US" sz="950" b="1" dirty="0">
                <a:solidFill>
                  <a:srgbClr val="2E8B57"/>
                </a:solidFill>
                <a:latin typeface="Calibri" pitchFamily="34" charset="0"/>
                <a:ea typeface="Calibri" pitchFamily="34" charset="-122"/>
                <a:cs typeface="Calibri" pitchFamily="34" charset="-120"/>
              </a:rPr>
              <a:t>Done</a:t>
            </a:r>
            <a:endParaRPr lang="en-US" sz="950" dirty="0"/>
          </a:p>
        </p:txBody>
      </p:sp>
      <p:sp>
        <p:nvSpPr>
          <p:cNvPr id="53" name="Text 51"/>
          <p:cNvSpPr txBox="1"/>
          <p:nvPr/>
        </p:nvSpPr>
        <p:spPr>
          <a:xfrm>
            <a:off x="1271016" y="5369052"/>
            <a:ext cx="3246120" cy="59283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Team: scoring methodology documented for grading &amp; future upgrade.</a:t>
            </a:r>
            <a:endParaRPr lang="en-US" sz="960" dirty="0"/>
          </a:p>
        </p:txBody>
      </p:sp>
      <p:sp>
        <p:nvSpPr>
          <p:cNvPr id="54" name="Text 52"/>
          <p:cNvSpPr txBox="1"/>
          <p:nvPr/>
        </p:nvSpPr>
        <p:spPr>
          <a:xfrm>
            <a:off x="4645152" y="5350764"/>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55" name="Text 53"/>
          <p:cNvSpPr/>
          <p:nvPr/>
        </p:nvSpPr>
        <p:spPr>
          <a:xfrm>
            <a:off x="4645152" y="5542788"/>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README explains rule-based approach</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Documents future upgrade path (e.g. ONNX model)</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TOOLS.md lists dependencies</a:t>
            </a:r>
            <a:endParaRPr lang="en-US" sz="860" dirty="0"/>
          </a:p>
        </p:txBody>
      </p:sp>
      <p:sp>
        <p:nvSpPr>
          <p:cNvPr id="56" name="Text 54"/>
          <p:cNvSpPr txBox="1"/>
          <p:nvPr/>
        </p:nvSpPr>
        <p:spPr>
          <a:xfrm>
            <a:off x="8124444" y="5350764"/>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57" name="Text 55"/>
          <p:cNvSpPr/>
          <p:nvPr/>
        </p:nvSpPr>
        <p:spPr>
          <a:xfrm>
            <a:off x="8124444" y="5542788"/>
            <a:ext cx="3351276" cy="41910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Write README "Priority-area matching" section</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Write TOOLS.md AI section</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Cross-link both</a:t>
            </a:r>
            <a:endParaRPr lang="en-US" sz="860" dirty="0"/>
          </a:p>
        </p:txBody>
      </p:sp>
      <p:sp>
        <p:nvSpPr>
          <p:cNvPr id="58" name="Text 56"/>
          <p:cNvSpPr/>
          <p:nvPr/>
        </p:nvSpPr>
        <p:spPr>
          <a:xfrm>
            <a:off x="548640" y="6355080"/>
            <a:ext cx="110642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Full descriptions tracked in Jira (SCRUM-12 → SCRUM-17) — see backlog screenshot on the next slide.</a:t>
            </a:r>
            <a:endParaRPr lang="en-US" sz="950" dirty="0"/>
          </a:p>
        </p:txBody>
      </p:sp>
      <p:sp>
        <p:nvSpPr>
          <p:cNvPr id="59" name="Text 57"/>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60" name="Text 5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4 — EVIDENCE</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Screenshots — Sprint 0 Accomplishments</a:t>
            </a:r>
            <a:endParaRPr lang="en-US" sz="2700" dirty="0"/>
          </a:p>
        </p:txBody>
      </p:sp>
      <p:sp>
        <p:nvSpPr>
          <p:cNvPr id="4" name="Shape 2"/>
          <p:cNvSpPr/>
          <p:nvPr/>
        </p:nvSpPr>
        <p:spPr>
          <a:xfrm>
            <a:off x="493776" y="1179576"/>
            <a:ext cx="5550408" cy="2121408"/>
          </a:xfrm>
          <a:prstGeom prst="roundRect">
            <a:avLst>
              <a:gd name="adj" fmla="val 3879"/>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5" name="Image 0" descr="/root/.claude/uploads/adf370eb-f340-5a92-b171-fa65d773f298/351d95f7-image.png">    </p:cNvPr>
          <p:cNvPicPr>
            <a:picLocks noChangeAspect="1"/>
          </p:cNvPicPr>
          <p:nvPr/>
        </p:nvPicPr>
        <p:blipFill>
          <a:blip r:embed="rId1"/>
          <a:srcRect l="0" r="0" t="0" b="0"/>
          <a:stretch/>
        </p:blipFill>
        <p:spPr>
          <a:xfrm>
            <a:off x="548640" y="1234440"/>
            <a:ext cx="5440680" cy="2011680"/>
          </a:xfrm>
          <a:prstGeom prst="rect">
            <a:avLst/>
          </a:prstGeom>
        </p:spPr>
      </p:pic>
      <p:sp>
        <p:nvSpPr>
          <p:cNvPr id="6" name="Text 3"/>
          <p:cNvSpPr txBox="1"/>
          <p:nvPr/>
        </p:nvSpPr>
        <p:spPr>
          <a:xfrm>
            <a:off x="548640" y="3337560"/>
            <a:ext cx="5440680" cy="29260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Jira board — Sprint 0 (6/6 Done) &amp; Sprint 1 backlog staged</a:t>
            </a:r>
            <a:endParaRPr lang="en-US" sz="950" dirty="0"/>
          </a:p>
        </p:txBody>
      </p:sp>
      <p:sp>
        <p:nvSpPr>
          <p:cNvPr id="7" name="Shape 4"/>
          <p:cNvSpPr/>
          <p:nvPr/>
        </p:nvSpPr>
        <p:spPr>
          <a:xfrm>
            <a:off x="6208776" y="1179576"/>
            <a:ext cx="5550408" cy="2121408"/>
          </a:xfrm>
          <a:prstGeom prst="roundRect">
            <a:avLst>
              <a:gd name="adj" fmla="val 3879"/>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8" name="Image 1" descr="/root/.claude/uploads/adf370eb-f340-5a92-b171-fa65d773f298/90997820-image.png">    </p:cNvPr>
          <p:cNvPicPr>
            <a:picLocks noChangeAspect="1"/>
          </p:cNvPicPr>
          <p:nvPr/>
        </p:nvPicPr>
        <p:blipFill>
          <a:blip r:embed="rId2"/>
          <a:srcRect l="0" r="0" t="0" b="0"/>
          <a:stretch/>
        </p:blipFill>
        <p:spPr>
          <a:xfrm>
            <a:off x="6263640" y="1234440"/>
            <a:ext cx="5440680" cy="2011680"/>
          </a:xfrm>
          <a:prstGeom prst="rect">
            <a:avLst/>
          </a:prstGeom>
        </p:spPr>
      </p:pic>
      <p:sp>
        <p:nvSpPr>
          <p:cNvPr id="9" name="Text 5"/>
          <p:cNvSpPr txBox="1"/>
          <p:nvPr/>
        </p:nvSpPr>
        <p:spPr>
          <a:xfrm>
            <a:off x="6263640" y="3337560"/>
            <a:ext cx="5440680" cy="29260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Backend running — schema/seed applied, risk scores recomputed, API on :4000</a:t>
            </a:r>
            <a:endParaRPr lang="en-US" sz="950" dirty="0"/>
          </a:p>
        </p:txBody>
      </p:sp>
      <p:sp>
        <p:nvSpPr>
          <p:cNvPr id="10" name="Shape 6"/>
          <p:cNvSpPr/>
          <p:nvPr/>
        </p:nvSpPr>
        <p:spPr>
          <a:xfrm>
            <a:off x="493776" y="3849624"/>
            <a:ext cx="5550408" cy="2121408"/>
          </a:xfrm>
          <a:prstGeom prst="roundRect">
            <a:avLst>
              <a:gd name="adj" fmla="val 3879"/>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11" name="Image 2" descr="/tmp/claude-0/-home-claude/adf370eb-f340-5a92-b171-fa65d773f298/scratchpad/deck/assets/map_overlay.jpg">    </p:cNvPr>
          <p:cNvPicPr>
            <a:picLocks noChangeAspect="1"/>
          </p:cNvPicPr>
          <p:nvPr/>
        </p:nvPicPr>
        <p:blipFill>
          <a:blip r:embed="rId3"/>
          <a:srcRect l="0" r="0" t="0" b="0"/>
          <a:stretch/>
        </p:blipFill>
        <p:spPr>
          <a:xfrm>
            <a:off x="548640" y="3904488"/>
            <a:ext cx="5440680" cy="2011680"/>
          </a:xfrm>
          <a:prstGeom prst="rect">
            <a:avLst/>
          </a:prstGeom>
        </p:spPr>
      </p:pic>
      <p:sp>
        <p:nvSpPr>
          <p:cNvPr id="12" name="Text 7"/>
          <p:cNvSpPr txBox="1"/>
          <p:nvPr/>
        </p:nvSpPr>
        <p:spPr>
          <a:xfrm>
            <a:off x="548640" y="6007608"/>
            <a:ext cx="5440680" cy="29260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Live resident map — priority-area overlay shading LA by risk</a:t>
            </a:r>
            <a:endParaRPr lang="en-US" sz="950" dirty="0"/>
          </a:p>
        </p:txBody>
      </p:sp>
      <p:sp>
        <p:nvSpPr>
          <p:cNvPr id="13" name="Shape 8"/>
          <p:cNvSpPr/>
          <p:nvPr/>
        </p:nvSpPr>
        <p:spPr>
          <a:xfrm>
            <a:off x="6208776" y="3849624"/>
            <a:ext cx="5550408" cy="2121408"/>
          </a:xfrm>
          <a:prstGeom prst="roundRect">
            <a:avLst>
              <a:gd name="adj" fmla="val 3879"/>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14" name="Image 3" descr="/tmp/claude-0/-home-claude/adf370eb-f340-5a92-b171-fa65d773f298/scratchpad/deck/assets/admin_priority_table.jpg">    </p:cNvPr>
          <p:cNvPicPr>
            <a:picLocks noChangeAspect="1"/>
          </p:cNvPicPr>
          <p:nvPr/>
        </p:nvPicPr>
        <p:blipFill>
          <a:blip r:embed="rId4"/>
          <a:srcRect l="0" r="0" t="0" b="0"/>
          <a:stretch/>
        </p:blipFill>
        <p:spPr>
          <a:xfrm>
            <a:off x="6263640" y="3904488"/>
            <a:ext cx="5440680" cy="2011680"/>
          </a:xfrm>
          <a:prstGeom prst="rect">
            <a:avLst/>
          </a:prstGeom>
        </p:spPr>
      </p:pic>
      <p:sp>
        <p:nvSpPr>
          <p:cNvPr id="15" name="Text 9"/>
          <p:cNvSpPr txBox="1"/>
          <p:nvPr/>
        </p:nvSpPr>
        <p:spPr>
          <a:xfrm>
            <a:off x="6263640" y="6007608"/>
            <a:ext cx="5440680" cy="292608"/>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Live admin portal — ranked priority-areas table</a:t>
            </a:r>
            <a:endParaRPr lang="en-US" sz="950" dirty="0"/>
          </a:p>
        </p:txBody>
      </p:sp>
      <p:sp>
        <p:nvSpPr>
          <p:cNvPr id="16" name="Text 10"/>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17" name="Text 1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5 — SPRINT REVIEW</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Software Demo</a:t>
            </a:r>
            <a:endParaRPr lang="en-US" sz="2700" dirty="0"/>
          </a:p>
        </p:txBody>
      </p:sp>
      <p:sp>
        <p:nvSpPr>
          <p:cNvPr id="4" name="Text 2"/>
          <p:cNvSpPr/>
          <p:nvPr/>
        </p:nvSpPr>
        <p:spPr>
          <a:xfrm>
            <a:off x="548640" y="1188720"/>
            <a:ext cx="5120640" cy="274320"/>
          </a:xfrm>
          <a:prstGeom prst="rect">
            <a:avLst/>
          </a:prstGeom>
          <a:noFill/>
          <a:ln/>
        </p:spPr>
        <p:txBody>
          <a:bodyPr wrap="square" lIns="0" tIns="0" rIns="0" bIns="0" rtlCol="0" anchor="ctr"/>
          <a:lstStyle/>
          <a:p>
            <a:pPr indent="0" marL="0">
              <a:buNone/>
            </a:pPr>
            <a:r>
              <a:rPr lang="en-US" sz="1250" b="1" dirty="0">
                <a:solidFill>
                  <a:srgbClr val="1E2761"/>
                </a:solidFill>
                <a:latin typeface="Calibri" pitchFamily="34" charset="0"/>
                <a:ea typeface="Calibri" pitchFamily="34" charset="-122"/>
                <a:cs typeface="Calibri" pitchFamily="34" charset="-120"/>
              </a:rPr>
              <a:t>Live-demo script</a:t>
            </a:r>
            <a:endParaRPr lang="en-US" sz="1250" dirty="0"/>
          </a:p>
        </p:txBody>
      </p:sp>
      <p:sp>
        <p:nvSpPr>
          <p:cNvPr id="5" name="Text 3"/>
          <p:cNvSpPr/>
          <p:nvPr/>
        </p:nvSpPr>
        <p:spPr>
          <a:xfrm>
            <a:off x="548640" y="1508760"/>
            <a:ext cx="5120640" cy="2743200"/>
          </a:xfrm>
          <a:prstGeom prst="rect">
            <a:avLst/>
          </a:prstGeom>
          <a:noFill/>
          <a:ln/>
        </p:spPr>
        <p:txBody>
          <a:bodyPr wrap="square" lIns="0" tIns="0" rIns="0" bIns="0" rtlCol="0" anchor="t"/>
          <a:lstStyle/>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Open the resident map (localhost:3000) and point out the search filters.</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Check "Show priority areas" — colored circles appear over LA, shaded red → green by score.</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Click the darkest circle (90011 – South LA) — popup shows area, priority score 55.1, and "no open site nearby."</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Switch to the admin portal (/admin.html) and load the ranked Priority Areas table.</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Click "Recompute" on the top row live, showing the score updates in place — no page reload.</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(Optional) Hit the raw /api/risk-areas JSON to tie the UI back to the acceptance criteria.</a:t>
            </a:r>
            <a:endParaRPr lang="en-US" sz="1080" dirty="0"/>
          </a:p>
        </p:txBody>
      </p:sp>
      <p:sp>
        <p:nvSpPr>
          <p:cNvPr id="6" name="Shape 4"/>
          <p:cNvSpPr/>
          <p:nvPr/>
        </p:nvSpPr>
        <p:spPr>
          <a:xfrm>
            <a:off x="548640" y="4434840"/>
            <a:ext cx="5120640" cy="1554480"/>
          </a:xfrm>
          <a:prstGeom prst="roundRect">
            <a:avLst>
              <a:gd name="adj" fmla="val 5294"/>
            </a:avLst>
          </a:prstGeom>
          <a:solidFill>
            <a:srgbClr val="F4F5FA"/>
          </a:solidFill>
          <a:ln w="12700">
            <a:solidFill>
              <a:srgbClr val="E1E4F0"/>
            </a:solidFill>
            <a:prstDash val="solid"/>
          </a:ln>
        </p:spPr>
      </p:sp>
      <p:sp>
        <p:nvSpPr>
          <p:cNvPr id="7" name="Text 5"/>
          <p:cNvSpPr/>
          <p:nvPr/>
        </p:nvSpPr>
        <p:spPr>
          <a:xfrm>
            <a:off x="777240" y="4572000"/>
            <a:ext cx="4663440" cy="1280160"/>
          </a:xfrm>
          <a:prstGeom prst="rect">
            <a:avLst/>
          </a:prstGeom>
          <a:noFill/>
          <a:ln/>
        </p:spPr>
        <p:txBody>
          <a:bodyPr wrap="square" lIns="0" tIns="0" rIns="0" bIns="0" rtlCol="0" anchor="ctr"/>
          <a:lstStyle/>
          <a:p>
            <a:pPr indent="0" marL="0">
              <a:lnSpc>
                <a:spcPct val="120000"/>
              </a:lnSpc>
              <a:buNone/>
            </a:pPr>
            <a:r>
              <a:rPr lang="en-US" sz="1000" i="1" dirty="0">
                <a:solidFill>
                  <a:srgbClr val="2B2B2B"/>
                </a:solidFill>
                <a:latin typeface="Calibri" pitchFamily="34" charset="0"/>
                <a:ea typeface="Calibri" pitchFamily="34" charset="-122"/>
                <a:cs typeface="Calibri" pitchFamily="34" charset="-120"/>
              </a:rPr>
              <a:t>Why this matters: it's a real, working vertical slice — Postgres/PostGIS scoring, a JSON API, and two live UIs (resident + admin) — not a mockup. Sprint 1 plugs live weather/demographic data into this same pipeline.</a:t>
            </a:r>
            <a:endParaRPr lang="en-US" sz="1000" dirty="0"/>
          </a:p>
        </p:txBody>
      </p:sp>
      <p:sp>
        <p:nvSpPr>
          <p:cNvPr id="8" name="Shape 6"/>
          <p:cNvSpPr/>
          <p:nvPr/>
        </p:nvSpPr>
        <p:spPr>
          <a:xfrm>
            <a:off x="5934456" y="1133856"/>
            <a:ext cx="5733288" cy="2532888"/>
          </a:xfrm>
          <a:prstGeom prst="roundRect">
            <a:avLst>
              <a:gd name="adj" fmla="val 3249"/>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9" name="Image 0" descr="/tmp/claude-0/-home-claude/adf370eb-f340-5a92-b171-fa65d773f298/scratchpad/deck/assets/map_popup.jpg">    </p:cNvPr>
          <p:cNvPicPr>
            <a:picLocks noChangeAspect="1"/>
          </p:cNvPicPr>
          <p:nvPr/>
        </p:nvPicPr>
        <p:blipFill>
          <a:blip r:embed="rId1"/>
          <a:srcRect l="0" r="0" t="0" b="0"/>
          <a:stretch/>
        </p:blipFill>
        <p:spPr>
          <a:xfrm>
            <a:off x="5989320" y="1188720"/>
            <a:ext cx="5623560" cy="2423160"/>
          </a:xfrm>
          <a:prstGeom prst="rect">
            <a:avLst/>
          </a:prstGeom>
        </p:spPr>
      </p:pic>
      <p:sp>
        <p:nvSpPr>
          <p:cNvPr id="10" name="Shape 7"/>
          <p:cNvSpPr/>
          <p:nvPr/>
        </p:nvSpPr>
        <p:spPr>
          <a:xfrm>
            <a:off x="5934456" y="3739896"/>
            <a:ext cx="5733288" cy="2304288"/>
          </a:xfrm>
          <a:prstGeom prst="roundRect">
            <a:avLst>
              <a:gd name="adj" fmla="val 3571"/>
            </a:avLst>
          </a:prstGeom>
          <a:solidFill>
            <a:srgbClr val="FFFFFF"/>
          </a:solidFill>
          <a:ln w="12700">
            <a:solidFill>
              <a:srgbClr val="E1E4F0"/>
            </a:solidFill>
            <a:prstDash val="solid"/>
          </a:ln>
          <a:effectLst>
            <a:outerShdw sx="100000" sy="100000" kx="0" ky="0" algn="bl" rotWithShape="0" blurRad="101600" dist="38100" dir="5400000">
              <a:srgbClr val="1E2761">
                <a:alpha val="18000"/>
              </a:srgbClr>
            </a:outerShdw>
          </a:effectLst>
        </p:spPr>
      </p:sp>
      <p:pic>
        <p:nvPicPr>
          <p:cNvPr id="11" name="Image 1" descr="/tmp/claude-0/-home-claude/adf370eb-f340-5a92-b171-fa65d773f298/scratchpad/deck/assets/admin_recompute.jpg">    </p:cNvPr>
          <p:cNvPicPr>
            <a:picLocks noChangeAspect="1"/>
          </p:cNvPicPr>
          <p:nvPr/>
        </p:nvPicPr>
        <p:blipFill>
          <a:blip r:embed="rId2"/>
          <a:srcRect l="0" r="0" t="0" b="0"/>
          <a:stretch/>
        </p:blipFill>
        <p:spPr>
          <a:xfrm>
            <a:off x="5989320" y="3794760"/>
            <a:ext cx="5623560" cy="2194560"/>
          </a:xfrm>
          <a:prstGeom prst="rect">
            <a:avLst/>
          </a:prstGeom>
        </p:spPr>
      </p:pic>
      <p:sp>
        <p:nvSpPr>
          <p:cNvPr id="12" name="Text 8"/>
          <p:cNvSpPr/>
          <p:nvPr/>
        </p:nvSpPr>
        <p:spPr>
          <a:xfrm>
            <a:off x="5989320" y="3639312"/>
            <a:ext cx="5623560" cy="22860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Priority-area popup on the live map</a:t>
            </a:r>
            <a:endParaRPr lang="en-US" sz="950" dirty="0"/>
          </a:p>
        </p:txBody>
      </p:sp>
      <p:sp>
        <p:nvSpPr>
          <p:cNvPr id="13" name="Text 9"/>
          <p:cNvSpPr/>
          <p:nvPr/>
        </p:nvSpPr>
        <p:spPr>
          <a:xfrm>
            <a:off x="5989320" y="6016752"/>
            <a:ext cx="5623560" cy="22860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Recompute in action on the admin table</a:t>
            </a:r>
            <a:endParaRPr lang="en-US" sz="950" dirty="0"/>
          </a:p>
        </p:txBody>
      </p:sp>
      <p:sp>
        <p:nvSpPr>
          <p:cNvPr id="14" name="Text 10"/>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15" name="Text 1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6 — SUCCESS &amp; CHALLENGES (DRAFT FOR TEAM REVIEW)</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Sprint Retrospective</a:t>
            </a:r>
            <a:endParaRPr lang="en-US" sz="2700" dirty="0"/>
          </a:p>
        </p:txBody>
      </p:sp>
      <p:sp>
        <p:nvSpPr>
          <p:cNvPr id="4" name="Shape 2"/>
          <p:cNvSpPr/>
          <p:nvPr/>
        </p:nvSpPr>
        <p:spPr>
          <a:xfrm>
            <a:off x="548640" y="1371600"/>
            <a:ext cx="5440680" cy="4663440"/>
          </a:xfrm>
          <a:prstGeom prst="roundRect">
            <a:avLst>
              <a:gd name="adj" fmla="val 1765"/>
            </a:avLst>
          </a:prstGeom>
          <a:solidFill>
            <a:srgbClr val="E4F3EB"/>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Text 3"/>
          <p:cNvSpPr/>
          <p:nvPr/>
        </p:nvSpPr>
        <p:spPr>
          <a:xfrm>
            <a:off x="777240" y="1554480"/>
            <a:ext cx="4983480" cy="320040"/>
          </a:xfrm>
          <a:prstGeom prst="rect">
            <a:avLst/>
          </a:prstGeom>
          <a:noFill/>
          <a:ln/>
        </p:spPr>
        <p:txBody>
          <a:bodyPr wrap="square" lIns="0" tIns="0" rIns="0" bIns="0" rtlCol="0" anchor="ctr"/>
          <a:lstStyle/>
          <a:p>
            <a:pPr indent="0" marL="0">
              <a:buNone/>
            </a:pPr>
            <a:r>
              <a:rPr lang="en-US" sz="1400" b="1" dirty="0">
                <a:solidFill>
                  <a:srgbClr val="2E8B57"/>
                </a:solidFill>
                <a:latin typeface="Calibri" pitchFamily="34" charset="0"/>
                <a:ea typeface="Calibri" pitchFamily="34" charset="-122"/>
                <a:cs typeface="Calibri" pitchFamily="34" charset="-120"/>
              </a:rPr>
              <a:t>✓  What went well</a:t>
            </a:r>
            <a:endParaRPr lang="en-US" sz="1400" dirty="0"/>
          </a:p>
        </p:txBody>
      </p:sp>
      <p:sp>
        <p:nvSpPr>
          <p:cNvPr id="6" name="Text 4"/>
          <p:cNvSpPr/>
          <p:nvPr/>
        </p:nvSpPr>
        <p:spPr>
          <a:xfrm>
            <a:off x="777240" y="1965960"/>
            <a:ext cx="4983480" cy="3931920"/>
          </a:xfrm>
          <a:prstGeom prst="rect">
            <a:avLst/>
          </a:prstGeom>
          <a:noFill/>
          <a:ln/>
        </p:spPr>
        <p:txBody>
          <a:bodyPr wrap="square" lIns="0" tIns="0" rIns="0" bIns="0" rtlCol="0" anchor="t"/>
          <a:lstStyle/>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All 6 Sprint 0 stories reached Done in Jira — a complete vertical slice, DB schema through UI.</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Real, verified data end-to-end: scoring runs on seeded areas and the same numbers show up in the API, admin table, and map overlay.</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Methodology is documented (README/TOOLS.md), so the rule-based score is explainable and gradable, not a black box.</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Clean foundation for Sprint 1 — weather/demographic services can plug into the existing recompute job without reworking the schema or scoring function.</a:t>
            </a:r>
            <a:endParaRPr lang="en-US" sz="1080" dirty="0"/>
          </a:p>
        </p:txBody>
      </p:sp>
      <p:sp>
        <p:nvSpPr>
          <p:cNvPr id="7" name="Shape 5"/>
          <p:cNvSpPr/>
          <p:nvPr/>
        </p:nvSpPr>
        <p:spPr>
          <a:xfrm>
            <a:off x="6263640" y="1371600"/>
            <a:ext cx="5440680" cy="4663440"/>
          </a:xfrm>
          <a:prstGeom prst="roundRect">
            <a:avLst>
              <a:gd name="adj" fmla="val 1765"/>
            </a:avLst>
          </a:prstGeom>
          <a:solidFill>
            <a:srgbClr val="FDE8E4"/>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8" name="Text 6"/>
          <p:cNvSpPr/>
          <p:nvPr/>
        </p:nvSpPr>
        <p:spPr>
          <a:xfrm>
            <a:off x="6492240" y="1554480"/>
            <a:ext cx="4983480" cy="320040"/>
          </a:xfrm>
          <a:prstGeom prst="rect">
            <a:avLst/>
          </a:prstGeom>
          <a:noFill/>
          <a:ln/>
        </p:spPr>
        <p:txBody>
          <a:bodyPr wrap="square" lIns="0" tIns="0" rIns="0" bIns="0" rtlCol="0" anchor="ctr"/>
          <a:lstStyle/>
          <a:p>
            <a:pPr indent="0" marL="0">
              <a:buNone/>
            </a:pPr>
            <a:r>
              <a:rPr lang="en-US" sz="1400" b="1" dirty="0">
                <a:solidFill>
                  <a:srgbClr val="E8543A"/>
                </a:solidFill>
                <a:latin typeface="Calibri" pitchFamily="34" charset="0"/>
                <a:ea typeface="Calibri" pitchFamily="34" charset="-122"/>
                <a:cs typeface="Calibri" pitchFamily="34" charset="-120"/>
              </a:rPr>
              <a:t>△  What didn't / gaps</a:t>
            </a:r>
            <a:endParaRPr lang="en-US" sz="1400" dirty="0"/>
          </a:p>
        </p:txBody>
      </p:sp>
      <p:sp>
        <p:nvSpPr>
          <p:cNvPr id="9" name="Text 7"/>
          <p:cNvSpPr/>
          <p:nvPr/>
        </p:nvSpPr>
        <p:spPr>
          <a:xfrm>
            <a:off x="6492240" y="1965960"/>
            <a:ext cx="4983480" cy="3931920"/>
          </a:xfrm>
          <a:prstGeom prst="rect">
            <a:avLst/>
          </a:prstGeom>
          <a:noFill/>
          <a:ln/>
        </p:spPr>
        <p:txBody>
          <a:bodyPr wrap="square" lIns="0" tIns="0" rIns="0" bIns="0" rtlCol="0" anchor="t"/>
          <a:lstStyle/>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No cooling/water "site" records were ever seeded, so the resident site-search view still returns empty — only the priority-area overlay has real data to show.</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heat_index_f and the demographic %s are hand-seeded, static values today — exactly the gap Sprint 1 closes with live NWS/Census data.</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Seed data produced duplicate rows for each area (5 areas, 10 rows) — a small cleanup item, not a scoring bug.</a:t>
            </a:r>
            <a:endParaRPr lang="en-US" sz="1080" dirty="0"/>
          </a:p>
          <a:p>
            <a:pPr marL="152400" indent="-152400">
              <a:lnSpc>
                <a:spcPct val="108000"/>
              </a:lnSpc>
              <a:buSzPct val="100000"/>
              <a:buChar char="•"/>
            </a:pPr>
            <a:r>
              <a:rPr lang="en-US" sz="1080" dirty="0">
                <a:solidFill>
                  <a:srgbClr val="2B2B2B"/>
                </a:solidFill>
                <a:latin typeface="Calibri" pitchFamily="34" charset="0"/>
                <a:ea typeface="Calibri" pitchFamily="34" charset="-122"/>
                <a:cs typeface="Calibri" pitchFamily="34" charset="-120"/>
              </a:rPr>
              <a:t>Admin routes have no authentication yet (flagged directly in the app's own UI) — acceptable for Sprint 0 scope, but should stay tracked.</a:t>
            </a:r>
            <a:endParaRPr lang="en-US" sz="1080" dirty="0"/>
          </a:p>
        </p:txBody>
      </p:sp>
      <p:sp>
        <p:nvSpPr>
          <p:cNvPr id="10" name="Text 8"/>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11" name="Text 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7 — MOVED BACK TO BACKLOG / INTO SPRINT 1</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Sprint 0 Carryover</a:t>
            </a:r>
            <a:endParaRPr lang="en-US" sz="2700" dirty="0"/>
          </a:p>
        </p:txBody>
      </p:sp>
      <p:sp>
        <p:nvSpPr>
          <p:cNvPr id="4" name="Shape 2"/>
          <p:cNvSpPr/>
          <p:nvPr/>
        </p:nvSpPr>
        <p:spPr>
          <a:xfrm>
            <a:off x="1737360" y="2103120"/>
            <a:ext cx="8686800" cy="2651760"/>
          </a:xfrm>
          <a:prstGeom prst="roundRect">
            <a:avLst>
              <a:gd name="adj" fmla="val 3103"/>
            </a:avLst>
          </a:prstGeom>
          <a:solidFill>
            <a:srgbClr val="E4F3EB"/>
          </a:solidFill>
          <a:ln w="12700">
            <a:solidFill>
              <a:srgbClr val="E1E4F0"/>
            </a:solidFill>
            <a:prstDash val="solid"/>
          </a:ln>
          <a:effectLst>
            <a:outerShdw sx="100000" sy="100000" kx="0" ky="0" algn="bl" rotWithShape="0" blurRad="101600" dist="38100" dir="5400000">
              <a:srgbClr val="1E2761">
                <a:alpha val="18000"/>
              </a:srgbClr>
            </a:outerShdw>
          </a:effectLst>
        </p:spPr>
      </p:sp>
      <p:sp>
        <p:nvSpPr>
          <p:cNvPr id="5" name="Shape 3"/>
          <p:cNvSpPr/>
          <p:nvPr/>
        </p:nvSpPr>
        <p:spPr>
          <a:xfrm>
            <a:off x="2011680" y="2423160"/>
            <a:ext cx="640080" cy="640080"/>
          </a:xfrm>
          <a:prstGeom prst="ellipse">
            <a:avLst/>
          </a:prstGeom>
          <a:solidFill>
            <a:srgbClr val="2E8B57"/>
          </a:solidFill>
          <a:ln/>
          <a:effectLst>
            <a:outerShdw sx="100000" sy="100000" kx="0" ky="0" algn="bl" rotWithShape="0" blurRad="101600" dist="38100" dir="5400000">
              <a:srgbClr val="1E2761">
                <a:alpha val="18000"/>
              </a:srgbClr>
            </a:outerShdw>
          </a:effectLst>
        </p:spPr>
      </p:sp>
      <p:sp>
        <p:nvSpPr>
          <p:cNvPr id="6" name="Text 4"/>
          <p:cNvSpPr txBox="1"/>
          <p:nvPr/>
        </p:nvSpPr>
        <p:spPr>
          <a:xfrm>
            <a:off x="2011680" y="2423160"/>
            <a:ext cx="64008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2834640" y="2377440"/>
            <a:ext cx="7315200" cy="45720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None — all 6 Sprint 0 stories are Done.</a:t>
            </a:r>
            <a:endParaRPr lang="en-US" sz="2000" dirty="0"/>
          </a:p>
        </p:txBody>
      </p:sp>
      <p:sp>
        <p:nvSpPr>
          <p:cNvPr id="8" name="Text 6"/>
          <p:cNvSpPr/>
          <p:nvPr/>
        </p:nvSpPr>
        <p:spPr>
          <a:xfrm>
            <a:off x="2834640" y="2880360"/>
            <a:ext cx="7315200" cy="155448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alibri" pitchFamily="34" charset="0"/>
                <a:ea typeface="Calibri" pitchFamily="34" charset="-122"/>
                <a:cs typeface="Calibri" pitchFamily="34" charset="-120"/>
              </a:rPr>
              <a:t>SCRUM-12 through SCRUM-17 (the AI Priority Matching epic) were completed in full — nothing from this sprint needs to move back to the Product Backlog or roll into Sprint 1. Sprint 1 below is entirely new work from the Live Weather and Demographic Integration epics.</a:t>
            </a:r>
            <a:endParaRPr lang="en-US" sz="1200" dirty="0"/>
          </a:p>
        </p:txBody>
      </p:sp>
      <p:sp>
        <p:nvSpPr>
          <p:cNvPr id="9" name="Text 7"/>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10" name="Text 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CLOSING THE SPRINT 0 GAP FLAGGED IN THE RETRO</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Site Directory — Pilot Region Update</a:t>
            </a:r>
            <a:endParaRPr lang="en-US" sz="2700" dirty="0"/>
          </a:p>
        </p:txBody>
      </p:sp>
      <p:sp>
        <p:nvSpPr>
          <p:cNvPr id="4" name="Shape 2"/>
          <p:cNvSpPr/>
          <p:nvPr/>
        </p:nvSpPr>
        <p:spPr>
          <a:xfrm>
            <a:off x="548640" y="1188720"/>
            <a:ext cx="11064240" cy="777240"/>
          </a:xfrm>
          <a:prstGeom prst="roundRect">
            <a:avLst>
              <a:gd name="adj" fmla="val 10588"/>
            </a:avLst>
          </a:prstGeom>
          <a:solidFill>
            <a:srgbClr val="FDE8E4"/>
          </a:solidFill>
          <a:ln w="12700">
            <a:solidFill>
              <a:srgbClr val="E1E4F0"/>
            </a:solidFill>
            <a:prstDash val="solid"/>
          </a:ln>
        </p:spPr>
      </p:sp>
      <p:sp>
        <p:nvSpPr>
          <p:cNvPr id="5" name="Text 3"/>
          <p:cNvSpPr/>
          <p:nvPr/>
        </p:nvSpPr>
        <p:spPr>
          <a:xfrm>
            <a:off x="777240" y="1280160"/>
            <a:ext cx="1828800" cy="228600"/>
          </a:xfrm>
          <a:prstGeom prst="rect">
            <a:avLst/>
          </a:prstGeom>
          <a:noFill/>
          <a:ln/>
        </p:spPr>
        <p:txBody>
          <a:bodyPr wrap="square" lIns="0" tIns="0" rIns="0" bIns="0" rtlCol="0" anchor="ctr"/>
          <a:lstStyle/>
          <a:p>
            <a:pPr indent="0" marL="0">
              <a:buNone/>
            </a:pPr>
            <a:r>
              <a:rPr lang="en-US" sz="900" b="1" spc="100" kern="0" dirty="0">
                <a:solidFill>
                  <a:srgbClr val="E8543A"/>
                </a:solidFill>
                <a:latin typeface="Calibri" pitchFamily="34" charset="0"/>
                <a:ea typeface="Calibri" pitchFamily="34" charset="-122"/>
                <a:cs typeface="Calibri" pitchFamily="34" charset="-120"/>
              </a:rPr>
              <a:t>RETRO GAP</a:t>
            </a:r>
            <a:endParaRPr lang="en-US" sz="900" dirty="0"/>
          </a:p>
        </p:txBody>
      </p:sp>
      <p:sp>
        <p:nvSpPr>
          <p:cNvPr id="6" name="Text 4"/>
          <p:cNvSpPr/>
          <p:nvPr/>
        </p:nvSpPr>
        <p:spPr>
          <a:xfrm>
            <a:off x="777240" y="1517904"/>
            <a:ext cx="10607040" cy="384048"/>
          </a:xfrm>
          <a:prstGeom prst="rect">
            <a:avLst/>
          </a:prstGeom>
          <a:noFill/>
          <a:ln/>
        </p:spPr>
        <p:txBody>
          <a:bodyPr wrap="square" lIns="0" tIns="0" rIns="0" bIns="0" rtlCol="0" anchor="ctr"/>
          <a:lstStyle/>
          <a:p>
            <a:pPr indent="0" marL="0">
              <a:buNone/>
            </a:pPr>
            <a:r>
              <a:rPr lang="en-US" sz="1100" i="1" dirty="0">
                <a:solidFill>
                  <a:srgbClr val="2B2B2B"/>
                </a:solidFill>
                <a:latin typeface="Calibri" pitchFamily="34" charset="0"/>
                <a:ea typeface="Calibri" pitchFamily="34" charset="-122"/>
                <a:cs typeface="Calibri" pitchFamily="34" charset="-120"/>
              </a:rPr>
              <a:t>“No cooling/water site records were ever seeded — the resident site-search view returned empty.”</a:t>
            </a:r>
            <a:endParaRPr lang="en-US" sz="1100" dirty="0"/>
          </a:p>
        </p:txBody>
      </p:sp>
      <p:sp>
        <p:nvSpPr>
          <p:cNvPr id="7" name="Shape 5"/>
          <p:cNvSpPr/>
          <p:nvPr/>
        </p:nvSpPr>
        <p:spPr>
          <a:xfrm>
            <a:off x="548640" y="2103120"/>
            <a:ext cx="11064240" cy="777240"/>
          </a:xfrm>
          <a:prstGeom prst="roundRect">
            <a:avLst>
              <a:gd name="adj" fmla="val 10588"/>
            </a:avLst>
          </a:prstGeom>
          <a:solidFill>
            <a:srgbClr val="E4F3EB"/>
          </a:solidFill>
          <a:ln w="12700">
            <a:solidFill>
              <a:srgbClr val="E1E4F0"/>
            </a:solidFill>
            <a:prstDash val="solid"/>
          </a:ln>
        </p:spPr>
      </p:sp>
      <p:sp>
        <p:nvSpPr>
          <p:cNvPr id="8" name="Text 6"/>
          <p:cNvSpPr/>
          <p:nvPr/>
        </p:nvSpPr>
        <p:spPr>
          <a:xfrm>
            <a:off x="777240" y="2194560"/>
            <a:ext cx="3657600" cy="228600"/>
          </a:xfrm>
          <a:prstGeom prst="rect">
            <a:avLst/>
          </a:prstGeom>
          <a:noFill/>
          <a:ln/>
        </p:spPr>
        <p:txBody>
          <a:bodyPr wrap="square" lIns="0" tIns="0" rIns="0" bIns="0" rtlCol="0" anchor="ctr"/>
          <a:lstStyle/>
          <a:p>
            <a:pPr indent="0" marL="0">
              <a:buNone/>
            </a:pPr>
            <a:r>
              <a:rPr lang="en-US" sz="900" b="1" spc="100" kern="0" dirty="0">
                <a:solidFill>
                  <a:srgbClr val="2E8B57"/>
                </a:solidFill>
                <a:latin typeface="Calibri" pitchFamily="34" charset="0"/>
                <a:ea typeface="Calibri" pitchFamily="34" charset="-122"/>
                <a:cs typeface="Calibri" pitchFamily="34" charset="-120"/>
              </a:rPr>
              <a:t>FIXED — SCRUM-27 (IN REVIEW)</a:t>
            </a:r>
            <a:endParaRPr lang="en-US" sz="900" dirty="0"/>
          </a:p>
        </p:txBody>
      </p:sp>
      <p:sp>
        <p:nvSpPr>
          <p:cNvPr id="9" name="Text 7"/>
          <p:cNvSpPr/>
          <p:nvPr/>
        </p:nvSpPr>
        <p:spPr>
          <a:xfrm>
            <a:off x="777240" y="2432304"/>
            <a:ext cx="10607040" cy="384048"/>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11 real, publicly documented relief sites seeded across the Texas pilot region.</a:t>
            </a:r>
            <a:endParaRPr lang="en-US" sz="1100" dirty="0"/>
          </a:p>
        </p:txBody>
      </p:sp>
      <p:sp>
        <p:nvSpPr>
          <p:cNvPr id="10" name="Text 8"/>
          <p:cNvSpPr/>
          <p:nvPr/>
        </p:nvSpPr>
        <p:spPr>
          <a:xfrm>
            <a:off x="548640" y="3154680"/>
            <a:ext cx="6492240" cy="2743200"/>
          </a:xfrm>
          <a:prstGeom prst="rect">
            <a:avLst/>
          </a:prstGeom>
          <a:noFill/>
          <a:ln/>
        </p:spPr>
        <p:txBody>
          <a:bodyPr wrap="square" lIns="0" tIns="0" rIns="0" bIns="0" rtlCol="0" anchor="t"/>
          <a:lstStyle/>
          <a:p>
            <a:pPr marL="152400" indent="-152400">
              <a:lnSpc>
                <a:spcPct val="108000"/>
              </a:lnSpc>
              <a:buSzPct val="100000"/>
              <a:buChar char="•"/>
            </a:pPr>
            <a:r>
              <a:rPr lang="en-US" sz="1050" dirty="0">
                <a:solidFill>
                  <a:srgbClr val="2B2B2B"/>
                </a:solidFill>
                <a:latin typeface="Calibri" pitchFamily="34" charset="0"/>
                <a:ea typeface="Calibri" pitchFamily="34" charset="-122"/>
                <a:cs typeface="Calibri" pitchFamily="34" charset="-120"/>
              </a:rPr>
              <a:t>Sites are real, verified locations — public library branches serving as official cooling centers, city recreation centers, and parks — checked against each city's library/parks department site and the Census Bureau geocoder.</a:t>
            </a:r>
            <a:endParaRPr lang="en-US" sz="1050" dirty="0"/>
          </a:p>
          <a:p>
            <a:pPr marL="152400" indent="-152400">
              <a:lnSpc>
                <a:spcPct val="108000"/>
              </a:lnSpc>
              <a:buSzPct val="100000"/>
              <a:buChar char="•"/>
            </a:pPr>
            <a:r>
              <a:rPr lang="en-US" sz="1050" dirty="0">
                <a:solidFill>
                  <a:srgbClr val="2B2B2B"/>
                </a:solidFill>
                <a:latin typeface="Calibri" pitchFamily="34" charset="0"/>
                <a:ea typeface="Calibri" pitchFamily="34" charset="-122"/>
                <a:cs typeface="Calibri" pitchFamily="34" charset="-120"/>
              </a:rPr>
              <a:t>Pilot region moved from the original Los Angeles placeholder to statewide Texas, matching the team's own location (Houston) for real-world accuracy.</a:t>
            </a:r>
            <a:endParaRPr lang="en-US" sz="1050" dirty="0"/>
          </a:p>
          <a:p>
            <a:pPr marL="152400" indent="-152400">
              <a:lnSpc>
                <a:spcPct val="108000"/>
              </a:lnSpc>
              <a:buSzPct val="100000"/>
              <a:buChar char="•"/>
            </a:pPr>
            <a:r>
              <a:rPr lang="en-US" sz="1050" dirty="0">
                <a:solidFill>
                  <a:srgbClr val="2B2B2B"/>
                </a:solidFill>
                <a:latin typeface="Calibri" pitchFamily="34" charset="0"/>
                <a:ea typeface="Calibri" pitchFamily="34" charset="-122"/>
                <a:cs typeface="Calibri" pitchFamily="34" charset="-120"/>
              </a:rPr>
              <a:t>Site types map to the existing schema: cooling_center, water_station, shade, splash_pad. Community/rec centers are seeded as cooling_center — no separate type exists in the DB's CHECK constraint.</a:t>
            </a:r>
            <a:endParaRPr lang="en-US" sz="1050" dirty="0"/>
          </a:p>
          <a:p>
            <a:pPr marL="152400" indent="-152400">
              <a:lnSpc>
                <a:spcPct val="108000"/>
              </a:lnSpc>
              <a:buSzPct val="100000"/>
              <a:buChar char="•"/>
            </a:pPr>
            <a:r>
              <a:rPr lang="en-US" sz="1050" dirty="0">
                <a:solidFill>
                  <a:srgbClr val="2B2B2B"/>
                </a:solidFill>
                <a:latin typeface="Calibri" pitchFamily="34" charset="0"/>
                <a:ea typeface="Calibri" pitchFamily="34" charset="-122"/>
                <a:cs typeface="Calibri" pitchFamily="34" charset="-120"/>
              </a:rPr>
              <a:t>Status is deliberately seeded as “unknown” — real open/closed status comes from an org admin via the app's own “Update Site Open/Closed Status” flow, not from us guessing it.</a:t>
            </a:r>
            <a:endParaRPr lang="en-US" sz="1050" dirty="0"/>
          </a:p>
        </p:txBody>
      </p:sp>
      <p:sp>
        <p:nvSpPr>
          <p:cNvPr id="11" name="Text 9"/>
          <p:cNvSpPr/>
          <p:nvPr/>
        </p:nvSpPr>
        <p:spPr>
          <a:xfrm>
            <a:off x="7315200" y="3154680"/>
            <a:ext cx="4297680" cy="228600"/>
          </a:xfrm>
          <a:prstGeom prst="rect">
            <a:avLst/>
          </a:prstGeom>
          <a:noFill/>
          <a:ln/>
        </p:spPr>
        <p:txBody>
          <a:bodyPr wrap="square" lIns="0" tIns="0" rIns="0" bIns="0" rtlCol="0" anchor="ctr"/>
          <a:lstStyle/>
          <a:p>
            <a:pPr indent="0" marL="0">
              <a:buNone/>
            </a:pPr>
            <a:r>
              <a:rPr lang="en-US" sz="900" b="1" spc="100" kern="0" dirty="0">
                <a:solidFill>
                  <a:srgbClr val="1E2761"/>
                </a:solidFill>
                <a:latin typeface="Calibri" pitchFamily="34" charset="0"/>
                <a:ea typeface="Calibri" pitchFamily="34" charset="-122"/>
                <a:cs typeface="Calibri" pitchFamily="34" charset="-120"/>
              </a:rPr>
              <a:t>SITES BY CITY</a:t>
            </a:r>
            <a:endParaRPr lang="en-US" sz="900" dirty="0"/>
          </a:p>
        </p:txBody>
      </p:sp>
      <p:sp>
        <p:nvSpPr>
          <p:cNvPr id="12" name="Shape 10"/>
          <p:cNvSpPr/>
          <p:nvPr/>
        </p:nvSpPr>
        <p:spPr>
          <a:xfrm>
            <a:off x="7315200" y="3456432"/>
            <a:ext cx="4297680" cy="329184"/>
          </a:xfrm>
          <a:prstGeom prst="roundRect">
            <a:avLst>
              <a:gd name="adj" fmla="val 25000"/>
            </a:avLst>
          </a:prstGeom>
          <a:solidFill>
            <a:srgbClr val="F4F5FA"/>
          </a:solidFill>
          <a:ln w="12700">
            <a:solidFill>
              <a:srgbClr val="E1E4F0"/>
            </a:solidFill>
            <a:prstDash val="solid"/>
          </a:ln>
        </p:spPr>
      </p:sp>
      <p:sp>
        <p:nvSpPr>
          <p:cNvPr id="13" name="Text 11"/>
          <p:cNvSpPr/>
          <p:nvPr/>
        </p:nvSpPr>
        <p:spPr>
          <a:xfrm>
            <a:off x="7498080" y="3456432"/>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Houston</a:t>
            </a:r>
            <a:endParaRPr lang="en-US" sz="1050" dirty="0"/>
          </a:p>
        </p:txBody>
      </p:sp>
      <p:sp>
        <p:nvSpPr>
          <p:cNvPr id="14" name="Shape 12"/>
          <p:cNvSpPr/>
          <p:nvPr/>
        </p:nvSpPr>
        <p:spPr>
          <a:xfrm>
            <a:off x="10652760" y="3493008"/>
            <a:ext cx="822960" cy="256032"/>
          </a:xfrm>
          <a:prstGeom prst="roundRect">
            <a:avLst>
              <a:gd name="adj" fmla="val 50000"/>
            </a:avLst>
          </a:prstGeom>
          <a:solidFill>
            <a:srgbClr val="FFFFFF"/>
          </a:solidFill>
          <a:ln/>
        </p:spPr>
      </p:sp>
      <p:sp>
        <p:nvSpPr>
          <p:cNvPr id="15" name="Text 13"/>
          <p:cNvSpPr txBox="1"/>
          <p:nvPr/>
        </p:nvSpPr>
        <p:spPr>
          <a:xfrm>
            <a:off x="10652760" y="3493008"/>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4 sites</a:t>
            </a:r>
            <a:endParaRPr lang="en-US" sz="950" dirty="0"/>
          </a:p>
        </p:txBody>
      </p:sp>
      <p:sp>
        <p:nvSpPr>
          <p:cNvPr id="16" name="Shape 14"/>
          <p:cNvSpPr/>
          <p:nvPr/>
        </p:nvSpPr>
        <p:spPr>
          <a:xfrm>
            <a:off x="7315200" y="3858768"/>
            <a:ext cx="4297680" cy="329184"/>
          </a:xfrm>
          <a:prstGeom prst="roundRect">
            <a:avLst>
              <a:gd name="adj" fmla="val 25000"/>
            </a:avLst>
          </a:prstGeom>
          <a:solidFill>
            <a:srgbClr val="F4F5FA"/>
          </a:solidFill>
          <a:ln w="12700">
            <a:solidFill>
              <a:srgbClr val="E1E4F0"/>
            </a:solidFill>
            <a:prstDash val="solid"/>
          </a:ln>
        </p:spPr>
      </p:sp>
      <p:sp>
        <p:nvSpPr>
          <p:cNvPr id="17" name="Text 15"/>
          <p:cNvSpPr/>
          <p:nvPr/>
        </p:nvSpPr>
        <p:spPr>
          <a:xfrm>
            <a:off x="7498080" y="3858768"/>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Dallas</a:t>
            </a:r>
            <a:endParaRPr lang="en-US" sz="1050" dirty="0"/>
          </a:p>
        </p:txBody>
      </p:sp>
      <p:sp>
        <p:nvSpPr>
          <p:cNvPr id="18" name="Shape 16"/>
          <p:cNvSpPr/>
          <p:nvPr/>
        </p:nvSpPr>
        <p:spPr>
          <a:xfrm>
            <a:off x="10652760" y="3895344"/>
            <a:ext cx="822960" cy="256032"/>
          </a:xfrm>
          <a:prstGeom prst="roundRect">
            <a:avLst>
              <a:gd name="adj" fmla="val 50000"/>
            </a:avLst>
          </a:prstGeom>
          <a:solidFill>
            <a:srgbClr val="FFFFFF"/>
          </a:solidFill>
          <a:ln/>
        </p:spPr>
      </p:sp>
      <p:sp>
        <p:nvSpPr>
          <p:cNvPr id="19" name="Text 17"/>
          <p:cNvSpPr txBox="1"/>
          <p:nvPr/>
        </p:nvSpPr>
        <p:spPr>
          <a:xfrm>
            <a:off x="10652760" y="3895344"/>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2 sites</a:t>
            </a:r>
            <a:endParaRPr lang="en-US" sz="950" dirty="0"/>
          </a:p>
        </p:txBody>
      </p:sp>
      <p:sp>
        <p:nvSpPr>
          <p:cNvPr id="20" name="Shape 18"/>
          <p:cNvSpPr/>
          <p:nvPr/>
        </p:nvSpPr>
        <p:spPr>
          <a:xfrm>
            <a:off x="7315200" y="4261104"/>
            <a:ext cx="4297680" cy="329184"/>
          </a:xfrm>
          <a:prstGeom prst="roundRect">
            <a:avLst>
              <a:gd name="adj" fmla="val 25000"/>
            </a:avLst>
          </a:prstGeom>
          <a:solidFill>
            <a:srgbClr val="F4F5FA"/>
          </a:solidFill>
          <a:ln w="12700">
            <a:solidFill>
              <a:srgbClr val="E1E4F0"/>
            </a:solidFill>
            <a:prstDash val="solid"/>
          </a:ln>
        </p:spPr>
      </p:sp>
      <p:sp>
        <p:nvSpPr>
          <p:cNvPr id="21" name="Text 19"/>
          <p:cNvSpPr/>
          <p:nvPr/>
        </p:nvSpPr>
        <p:spPr>
          <a:xfrm>
            <a:off x="7498080" y="4261104"/>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Fort Worth</a:t>
            </a:r>
            <a:endParaRPr lang="en-US" sz="1050" dirty="0"/>
          </a:p>
        </p:txBody>
      </p:sp>
      <p:sp>
        <p:nvSpPr>
          <p:cNvPr id="22" name="Shape 20"/>
          <p:cNvSpPr/>
          <p:nvPr/>
        </p:nvSpPr>
        <p:spPr>
          <a:xfrm>
            <a:off x="10652760" y="4297680"/>
            <a:ext cx="822960" cy="256032"/>
          </a:xfrm>
          <a:prstGeom prst="roundRect">
            <a:avLst>
              <a:gd name="adj" fmla="val 50000"/>
            </a:avLst>
          </a:prstGeom>
          <a:solidFill>
            <a:srgbClr val="FFFFFF"/>
          </a:solidFill>
          <a:ln/>
        </p:spPr>
      </p:sp>
      <p:sp>
        <p:nvSpPr>
          <p:cNvPr id="23" name="Text 21"/>
          <p:cNvSpPr txBox="1"/>
          <p:nvPr/>
        </p:nvSpPr>
        <p:spPr>
          <a:xfrm>
            <a:off x="10652760" y="4297680"/>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1 site</a:t>
            </a:r>
            <a:endParaRPr lang="en-US" sz="950" dirty="0"/>
          </a:p>
        </p:txBody>
      </p:sp>
      <p:sp>
        <p:nvSpPr>
          <p:cNvPr id="24" name="Shape 22"/>
          <p:cNvSpPr/>
          <p:nvPr/>
        </p:nvSpPr>
        <p:spPr>
          <a:xfrm>
            <a:off x="7315200" y="4663440"/>
            <a:ext cx="4297680" cy="329184"/>
          </a:xfrm>
          <a:prstGeom prst="roundRect">
            <a:avLst>
              <a:gd name="adj" fmla="val 25000"/>
            </a:avLst>
          </a:prstGeom>
          <a:solidFill>
            <a:srgbClr val="F4F5FA"/>
          </a:solidFill>
          <a:ln w="12700">
            <a:solidFill>
              <a:srgbClr val="E1E4F0"/>
            </a:solidFill>
            <a:prstDash val="solid"/>
          </a:ln>
        </p:spPr>
      </p:sp>
      <p:sp>
        <p:nvSpPr>
          <p:cNvPr id="25" name="Text 23"/>
          <p:cNvSpPr/>
          <p:nvPr/>
        </p:nvSpPr>
        <p:spPr>
          <a:xfrm>
            <a:off x="7498080" y="4663440"/>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Austin</a:t>
            </a:r>
            <a:endParaRPr lang="en-US" sz="1050" dirty="0"/>
          </a:p>
        </p:txBody>
      </p:sp>
      <p:sp>
        <p:nvSpPr>
          <p:cNvPr id="26" name="Shape 24"/>
          <p:cNvSpPr/>
          <p:nvPr/>
        </p:nvSpPr>
        <p:spPr>
          <a:xfrm>
            <a:off x="10652760" y="4700016"/>
            <a:ext cx="822960" cy="256032"/>
          </a:xfrm>
          <a:prstGeom prst="roundRect">
            <a:avLst>
              <a:gd name="adj" fmla="val 50000"/>
            </a:avLst>
          </a:prstGeom>
          <a:solidFill>
            <a:srgbClr val="FFFFFF"/>
          </a:solidFill>
          <a:ln/>
        </p:spPr>
      </p:sp>
      <p:sp>
        <p:nvSpPr>
          <p:cNvPr id="27" name="Text 25"/>
          <p:cNvSpPr txBox="1"/>
          <p:nvPr/>
        </p:nvSpPr>
        <p:spPr>
          <a:xfrm>
            <a:off x="10652760" y="4700016"/>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2 sites</a:t>
            </a:r>
            <a:endParaRPr lang="en-US" sz="950" dirty="0"/>
          </a:p>
        </p:txBody>
      </p:sp>
      <p:sp>
        <p:nvSpPr>
          <p:cNvPr id="28" name="Shape 26"/>
          <p:cNvSpPr/>
          <p:nvPr/>
        </p:nvSpPr>
        <p:spPr>
          <a:xfrm>
            <a:off x="7315200" y="5065776"/>
            <a:ext cx="4297680" cy="329184"/>
          </a:xfrm>
          <a:prstGeom prst="roundRect">
            <a:avLst>
              <a:gd name="adj" fmla="val 25000"/>
            </a:avLst>
          </a:prstGeom>
          <a:solidFill>
            <a:srgbClr val="F4F5FA"/>
          </a:solidFill>
          <a:ln w="12700">
            <a:solidFill>
              <a:srgbClr val="E1E4F0"/>
            </a:solidFill>
            <a:prstDash val="solid"/>
          </a:ln>
        </p:spPr>
      </p:sp>
      <p:sp>
        <p:nvSpPr>
          <p:cNvPr id="29" name="Text 27"/>
          <p:cNvSpPr/>
          <p:nvPr/>
        </p:nvSpPr>
        <p:spPr>
          <a:xfrm>
            <a:off x="7498080" y="5065776"/>
            <a:ext cx="2743200" cy="329184"/>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San Antonio</a:t>
            </a:r>
            <a:endParaRPr lang="en-US" sz="1050" dirty="0"/>
          </a:p>
        </p:txBody>
      </p:sp>
      <p:sp>
        <p:nvSpPr>
          <p:cNvPr id="30" name="Shape 28"/>
          <p:cNvSpPr/>
          <p:nvPr/>
        </p:nvSpPr>
        <p:spPr>
          <a:xfrm>
            <a:off x="10652760" y="5102352"/>
            <a:ext cx="822960" cy="256032"/>
          </a:xfrm>
          <a:prstGeom prst="roundRect">
            <a:avLst>
              <a:gd name="adj" fmla="val 50000"/>
            </a:avLst>
          </a:prstGeom>
          <a:solidFill>
            <a:srgbClr val="FFFFFF"/>
          </a:solidFill>
          <a:ln/>
        </p:spPr>
      </p:sp>
      <p:sp>
        <p:nvSpPr>
          <p:cNvPr id="31" name="Text 29"/>
          <p:cNvSpPr txBox="1"/>
          <p:nvPr/>
        </p:nvSpPr>
        <p:spPr>
          <a:xfrm>
            <a:off x="10652760" y="5102352"/>
            <a:ext cx="82296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2 sites</a:t>
            </a:r>
            <a:endParaRPr lang="en-US" sz="950" dirty="0"/>
          </a:p>
        </p:txBody>
      </p:sp>
      <p:sp>
        <p:nvSpPr>
          <p:cNvPr id="32" name="Text 30"/>
          <p:cNvSpPr/>
          <p:nvPr/>
        </p:nvSpPr>
        <p:spPr>
          <a:xfrm>
            <a:off x="548640" y="5989320"/>
            <a:ext cx="11064240" cy="457200"/>
          </a:xfrm>
          <a:prstGeom prst="rect">
            <a:avLst/>
          </a:prstGeom>
          <a:noFill/>
          <a:ln/>
        </p:spPr>
        <p:txBody>
          <a:bodyPr wrap="square" lIns="0" tIns="0" rIns="0" bIns="0" rtlCol="0" anchor="ctr"/>
          <a:lstStyle/>
          <a:p>
            <a:pPr indent="0" marL="0">
              <a:lnSpc>
                <a:spcPct val="115000"/>
              </a:lnSpc>
              <a:buNone/>
            </a:pPr>
            <a:r>
              <a:rPr lang="en-US" sz="950" i="1" dirty="0">
                <a:solidFill>
                  <a:srgbClr val="6B7280"/>
                </a:solidFill>
                <a:latin typeface="Calibri" pitchFamily="34" charset="0"/>
                <a:ea typeface="Calibri" pitchFamily="34" charset="-122"/>
                <a:cs typeface="Calibri" pitchFamily="34" charset="-120"/>
              </a:rPr>
              <a:t>Pending: local seed run (seed_areas.sql + seed_sites.sql) and PR merge into develop — map/admin screenshots elsewhere in this deck still show the prior Los Angeles demo data until that's done.</a:t>
            </a:r>
            <a:endParaRPr lang="en-US" sz="950" dirty="0"/>
          </a:p>
        </p:txBody>
      </p:sp>
      <p:sp>
        <p:nvSpPr>
          <p:cNvPr id="33" name="Text 31"/>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34" name="Text 32"/>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BALANCED BY STORY POINTS &amp; SCRUM ROLE</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Sprint 1 — Team Assignments</a:t>
            </a:r>
            <a:endParaRPr lang="en-US" sz="2700" dirty="0"/>
          </a:p>
        </p:txBody>
      </p:sp>
      <p:sp>
        <p:nvSpPr>
          <p:cNvPr id="4" name="Text 2"/>
          <p:cNvSpPr/>
          <p:nvPr/>
        </p:nvSpPr>
        <p:spPr>
          <a:xfrm>
            <a:off x="1417320" y="1280160"/>
            <a:ext cx="274320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ASSIGNEE</a:t>
            </a:r>
            <a:endParaRPr lang="en-US" sz="900" dirty="0"/>
          </a:p>
        </p:txBody>
      </p:sp>
      <p:sp>
        <p:nvSpPr>
          <p:cNvPr id="5" name="Text 3"/>
          <p:cNvSpPr/>
          <p:nvPr/>
        </p:nvSpPr>
        <p:spPr>
          <a:xfrm>
            <a:off x="4206240" y="1280160"/>
            <a:ext cx="164592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ROLE</a:t>
            </a:r>
            <a:endParaRPr lang="en-US" sz="900" dirty="0"/>
          </a:p>
        </p:txBody>
      </p:sp>
      <p:sp>
        <p:nvSpPr>
          <p:cNvPr id="6" name="Text 4"/>
          <p:cNvSpPr/>
          <p:nvPr/>
        </p:nvSpPr>
        <p:spPr>
          <a:xfrm>
            <a:off x="5852160" y="1280160"/>
            <a:ext cx="91440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POINTS</a:t>
            </a:r>
            <a:endParaRPr lang="en-US" sz="900" dirty="0"/>
          </a:p>
        </p:txBody>
      </p:sp>
      <p:sp>
        <p:nvSpPr>
          <p:cNvPr id="7" name="Text 5"/>
          <p:cNvSpPr/>
          <p:nvPr/>
        </p:nvSpPr>
        <p:spPr>
          <a:xfrm>
            <a:off x="6858000" y="1280160"/>
            <a:ext cx="4754880" cy="228600"/>
          </a:xfrm>
          <a:prstGeom prst="rect">
            <a:avLst/>
          </a:prstGeom>
          <a:noFill/>
          <a:ln/>
        </p:spPr>
        <p:txBody>
          <a:bodyPr wrap="square" lIns="0" tIns="0" rIns="0" bIns="0" rtlCol="0" anchor="ctr"/>
          <a:lstStyle/>
          <a:p>
            <a:pPr indent="0" marL="0">
              <a:buNone/>
            </a:pPr>
            <a:r>
              <a:rPr lang="en-US" sz="900" b="1" spc="100" kern="0" dirty="0">
                <a:solidFill>
                  <a:srgbClr val="6B7280"/>
                </a:solidFill>
                <a:latin typeface="Calibri" pitchFamily="34" charset="0"/>
                <a:ea typeface="Calibri" pitchFamily="34" charset="-122"/>
                <a:cs typeface="Calibri" pitchFamily="34" charset="-120"/>
              </a:rPr>
              <a:t>STORIES</a:t>
            </a:r>
            <a:endParaRPr lang="en-US" sz="900" dirty="0"/>
          </a:p>
        </p:txBody>
      </p:sp>
      <p:sp>
        <p:nvSpPr>
          <p:cNvPr id="8" name="Shape 6"/>
          <p:cNvSpPr/>
          <p:nvPr/>
        </p:nvSpPr>
        <p:spPr>
          <a:xfrm>
            <a:off x="548640" y="1600200"/>
            <a:ext cx="11064240" cy="621792"/>
          </a:xfrm>
          <a:prstGeom prst="roundRect">
            <a:avLst>
              <a:gd name="adj" fmla="val 13235"/>
            </a:avLst>
          </a:prstGeom>
          <a:solidFill>
            <a:srgbClr val="FFFFFF"/>
          </a:solidFill>
          <a:ln w="12700">
            <a:solidFill>
              <a:srgbClr val="E1E4F0"/>
            </a:solidFill>
            <a:prstDash val="solid"/>
          </a:ln>
        </p:spPr>
      </p:sp>
      <p:sp>
        <p:nvSpPr>
          <p:cNvPr id="9" name="Shape 7"/>
          <p:cNvSpPr/>
          <p:nvPr/>
        </p:nvSpPr>
        <p:spPr>
          <a:xfrm>
            <a:off x="777240" y="1709928"/>
            <a:ext cx="402336" cy="402336"/>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10" name="Text 8"/>
          <p:cNvSpPr txBox="1"/>
          <p:nvPr/>
        </p:nvSpPr>
        <p:spPr>
          <a:xfrm>
            <a:off x="777240" y="170992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JH</a:t>
            </a:r>
            <a:endParaRPr lang="en-US" sz="1200" dirty="0"/>
          </a:p>
        </p:txBody>
      </p:sp>
      <p:sp>
        <p:nvSpPr>
          <p:cNvPr id="11" name="Text 9"/>
          <p:cNvSpPr/>
          <p:nvPr/>
        </p:nvSpPr>
        <p:spPr>
          <a:xfrm>
            <a:off x="1417320" y="1600200"/>
            <a:ext cx="2743200" cy="62179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James Hawkins</a:t>
            </a:r>
            <a:endParaRPr lang="en-US" sz="1150" dirty="0"/>
          </a:p>
        </p:txBody>
      </p:sp>
      <p:sp>
        <p:nvSpPr>
          <p:cNvPr id="12" name="Text 10"/>
          <p:cNvSpPr/>
          <p:nvPr/>
        </p:nvSpPr>
        <p:spPr>
          <a:xfrm>
            <a:off x="4206240" y="1600200"/>
            <a:ext cx="1645920" cy="621792"/>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Engineer</a:t>
            </a:r>
            <a:endParaRPr lang="en-US" sz="1050" dirty="0"/>
          </a:p>
        </p:txBody>
      </p:sp>
      <p:sp>
        <p:nvSpPr>
          <p:cNvPr id="13" name="Shape 11"/>
          <p:cNvSpPr/>
          <p:nvPr/>
        </p:nvSpPr>
        <p:spPr>
          <a:xfrm>
            <a:off x="5852160" y="1783080"/>
            <a:ext cx="731520" cy="256032"/>
          </a:xfrm>
          <a:prstGeom prst="roundRect">
            <a:avLst>
              <a:gd name="adj" fmla="val 50000"/>
            </a:avLst>
          </a:prstGeom>
          <a:solidFill>
            <a:srgbClr val="F4F5FA"/>
          </a:solidFill>
          <a:ln/>
        </p:spPr>
      </p:sp>
      <p:sp>
        <p:nvSpPr>
          <p:cNvPr id="14" name="Text 12"/>
          <p:cNvSpPr txBox="1"/>
          <p:nvPr/>
        </p:nvSpPr>
        <p:spPr>
          <a:xfrm>
            <a:off x="5852160" y="1783080"/>
            <a:ext cx="73152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12 pts</a:t>
            </a:r>
            <a:endParaRPr lang="en-US" sz="950" dirty="0"/>
          </a:p>
        </p:txBody>
      </p:sp>
      <p:sp>
        <p:nvSpPr>
          <p:cNvPr id="15" name="Text 13"/>
          <p:cNvSpPr/>
          <p:nvPr/>
        </p:nvSpPr>
        <p:spPr>
          <a:xfrm>
            <a:off x="6858000" y="1600200"/>
            <a:ext cx="4754880" cy="621792"/>
          </a:xfrm>
          <a:prstGeom prst="rect">
            <a:avLst/>
          </a:prstGeom>
          <a:noFill/>
          <a:ln/>
        </p:spPr>
        <p:txBody>
          <a:bodyPr wrap="square" lIns="0" tIns="0" rIns="0" bIns="0" rtlCol="0" anchor="ctr"/>
          <a:lstStyle/>
          <a:p>
            <a:pPr indent="0" marL="0">
              <a:lnSpc>
                <a:spcPct val="110000"/>
              </a:lnSpc>
              <a:buNone/>
            </a:pPr>
            <a:r>
              <a:rPr lang="en-US" sz="980" dirty="0">
                <a:solidFill>
                  <a:srgbClr val="2B2B2B"/>
                </a:solidFill>
                <a:latin typeface="Calibri" pitchFamily="34" charset="0"/>
                <a:ea typeface="Calibri" pitchFamily="34" charset="-122"/>
                <a:cs typeface="Calibri" pitchFamily="34" charset="-120"/>
              </a:rPr>
              <a:t>SCRUM-18–22 — Demographic Integration (full epic)</a:t>
            </a:r>
            <a:endParaRPr lang="en-US" sz="980" dirty="0"/>
          </a:p>
        </p:txBody>
      </p:sp>
      <p:sp>
        <p:nvSpPr>
          <p:cNvPr id="16" name="Shape 14"/>
          <p:cNvSpPr/>
          <p:nvPr/>
        </p:nvSpPr>
        <p:spPr>
          <a:xfrm>
            <a:off x="548640" y="2313432"/>
            <a:ext cx="11064240" cy="621792"/>
          </a:xfrm>
          <a:prstGeom prst="roundRect">
            <a:avLst>
              <a:gd name="adj" fmla="val 13235"/>
            </a:avLst>
          </a:prstGeom>
          <a:solidFill>
            <a:srgbClr val="FFFFFF"/>
          </a:solidFill>
          <a:ln w="12700">
            <a:solidFill>
              <a:srgbClr val="E1E4F0"/>
            </a:solidFill>
            <a:prstDash val="solid"/>
          </a:ln>
        </p:spPr>
      </p:sp>
      <p:sp>
        <p:nvSpPr>
          <p:cNvPr id="17" name="Shape 15"/>
          <p:cNvSpPr/>
          <p:nvPr/>
        </p:nvSpPr>
        <p:spPr>
          <a:xfrm>
            <a:off x="777240" y="2423160"/>
            <a:ext cx="402336" cy="402336"/>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18" name="Text 16"/>
          <p:cNvSpPr txBox="1"/>
          <p:nvPr/>
        </p:nvSpPr>
        <p:spPr>
          <a:xfrm>
            <a:off x="777240" y="242316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RT</a:t>
            </a:r>
            <a:endParaRPr lang="en-US" sz="1200" dirty="0"/>
          </a:p>
        </p:txBody>
      </p:sp>
      <p:sp>
        <p:nvSpPr>
          <p:cNvPr id="19" name="Text 17"/>
          <p:cNvSpPr/>
          <p:nvPr/>
        </p:nvSpPr>
        <p:spPr>
          <a:xfrm>
            <a:off x="1417320" y="2313432"/>
            <a:ext cx="2743200" cy="62179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Ryan Tucker</a:t>
            </a:r>
            <a:endParaRPr lang="en-US" sz="1150" dirty="0"/>
          </a:p>
        </p:txBody>
      </p:sp>
      <p:sp>
        <p:nvSpPr>
          <p:cNvPr id="20" name="Text 18"/>
          <p:cNvSpPr/>
          <p:nvPr/>
        </p:nvSpPr>
        <p:spPr>
          <a:xfrm>
            <a:off x="4206240" y="2313432"/>
            <a:ext cx="1645920" cy="621792"/>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Developer</a:t>
            </a:r>
            <a:endParaRPr lang="en-US" sz="1050" dirty="0"/>
          </a:p>
        </p:txBody>
      </p:sp>
      <p:sp>
        <p:nvSpPr>
          <p:cNvPr id="21" name="Shape 19"/>
          <p:cNvSpPr/>
          <p:nvPr/>
        </p:nvSpPr>
        <p:spPr>
          <a:xfrm>
            <a:off x="5852160" y="2496312"/>
            <a:ext cx="731520" cy="256032"/>
          </a:xfrm>
          <a:prstGeom prst="roundRect">
            <a:avLst>
              <a:gd name="adj" fmla="val 50000"/>
            </a:avLst>
          </a:prstGeom>
          <a:solidFill>
            <a:srgbClr val="F4F5FA"/>
          </a:solidFill>
          <a:ln/>
        </p:spPr>
      </p:sp>
      <p:sp>
        <p:nvSpPr>
          <p:cNvPr id="22" name="Text 20"/>
          <p:cNvSpPr txBox="1"/>
          <p:nvPr/>
        </p:nvSpPr>
        <p:spPr>
          <a:xfrm>
            <a:off x="5852160" y="2496312"/>
            <a:ext cx="73152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5 pts</a:t>
            </a:r>
            <a:endParaRPr lang="en-US" sz="950" dirty="0"/>
          </a:p>
        </p:txBody>
      </p:sp>
      <p:sp>
        <p:nvSpPr>
          <p:cNvPr id="23" name="Text 21"/>
          <p:cNvSpPr/>
          <p:nvPr/>
        </p:nvSpPr>
        <p:spPr>
          <a:xfrm>
            <a:off x="6858000" y="2313432"/>
            <a:ext cx="4754880" cy="621792"/>
          </a:xfrm>
          <a:prstGeom prst="rect">
            <a:avLst/>
          </a:prstGeom>
          <a:noFill/>
          <a:ln/>
        </p:spPr>
        <p:txBody>
          <a:bodyPr wrap="square" lIns="0" tIns="0" rIns="0" bIns="0" rtlCol="0" anchor="ctr"/>
          <a:lstStyle/>
          <a:p>
            <a:pPr indent="0" marL="0">
              <a:lnSpc>
                <a:spcPct val="110000"/>
              </a:lnSpc>
              <a:buNone/>
            </a:pPr>
            <a:r>
              <a:rPr lang="en-US" sz="980" dirty="0">
                <a:solidFill>
                  <a:srgbClr val="2B2B2B"/>
                </a:solidFill>
                <a:latin typeface="Calibri" pitchFamily="34" charset="0"/>
                <a:ea typeface="Calibri" pitchFamily="34" charset="-122"/>
                <a:cs typeface="Calibri" pitchFamily="34" charset="-120"/>
              </a:rPr>
              <a:t>SCRUM-23 — Weather API module</a:t>
            </a:r>
            <a:endParaRPr lang="en-US" sz="980" dirty="0"/>
          </a:p>
        </p:txBody>
      </p:sp>
      <p:sp>
        <p:nvSpPr>
          <p:cNvPr id="24" name="Shape 22"/>
          <p:cNvSpPr/>
          <p:nvPr/>
        </p:nvSpPr>
        <p:spPr>
          <a:xfrm>
            <a:off x="548640" y="3026664"/>
            <a:ext cx="11064240" cy="621792"/>
          </a:xfrm>
          <a:prstGeom prst="roundRect">
            <a:avLst>
              <a:gd name="adj" fmla="val 13235"/>
            </a:avLst>
          </a:prstGeom>
          <a:solidFill>
            <a:srgbClr val="FFFFFF"/>
          </a:solidFill>
          <a:ln w="12700">
            <a:solidFill>
              <a:srgbClr val="E1E4F0"/>
            </a:solidFill>
            <a:prstDash val="solid"/>
          </a:ln>
        </p:spPr>
      </p:sp>
      <p:sp>
        <p:nvSpPr>
          <p:cNvPr id="25" name="Shape 23"/>
          <p:cNvSpPr/>
          <p:nvPr/>
        </p:nvSpPr>
        <p:spPr>
          <a:xfrm>
            <a:off x="777240" y="3136392"/>
            <a:ext cx="402336" cy="402336"/>
          </a:xfrm>
          <a:prstGeom prst="ellipse">
            <a:avLst/>
          </a:prstGeom>
          <a:solidFill>
            <a:srgbClr val="C98A2E"/>
          </a:solidFill>
          <a:ln/>
          <a:effectLst>
            <a:outerShdw sx="100000" sy="100000" kx="0" ky="0" algn="bl" rotWithShape="0" blurRad="101600" dist="38100" dir="5400000">
              <a:srgbClr val="1E2761">
                <a:alpha val="18000"/>
              </a:srgbClr>
            </a:outerShdw>
          </a:effectLst>
        </p:spPr>
      </p:sp>
      <p:sp>
        <p:nvSpPr>
          <p:cNvPr id="26" name="Text 24"/>
          <p:cNvSpPr txBox="1"/>
          <p:nvPr/>
        </p:nvSpPr>
        <p:spPr>
          <a:xfrm>
            <a:off x="777240" y="313639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TW</a:t>
            </a:r>
            <a:endParaRPr lang="en-US" sz="1200" dirty="0"/>
          </a:p>
        </p:txBody>
      </p:sp>
      <p:sp>
        <p:nvSpPr>
          <p:cNvPr id="27" name="Text 25"/>
          <p:cNvSpPr/>
          <p:nvPr/>
        </p:nvSpPr>
        <p:spPr>
          <a:xfrm>
            <a:off x="1417320" y="3026664"/>
            <a:ext cx="2743200" cy="62179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Teyana Williams</a:t>
            </a:r>
            <a:endParaRPr lang="en-US" sz="1150" dirty="0"/>
          </a:p>
        </p:txBody>
      </p:sp>
      <p:sp>
        <p:nvSpPr>
          <p:cNvPr id="28" name="Text 26"/>
          <p:cNvSpPr/>
          <p:nvPr/>
        </p:nvSpPr>
        <p:spPr>
          <a:xfrm>
            <a:off x="4206240" y="3026664"/>
            <a:ext cx="1645920" cy="621792"/>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Developer</a:t>
            </a:r>
            <a:endParaRPr lang="en-US" sz="1050" dirty="0"/>
          </a:p>
        </p:txBody>
      </p:sp>
      <p:sp>
        <p:nvSpPr>
          <p:cNvPr id="29" name="Shape 27"/>
          <p:cNvSpPr/>
          <p:nvPr/>
        </p:nvSpPr>
        <p:spPr>
          <a:xfrm>
            <a:off x="5852160" y="3209544"/>
            <a:ext cx="731520" cy="256032"/>
          </a:xfrm>
          <a:prstGeom prst="roundRect">
            <a:avLst>
              <a:gd name="adj" fmla="val 50000"/>
            </a:avLst>
          </a:prstGeom>
          <a:solidFill>
            <a:srgbClr val="F4F5FA"/>
          </a:solidFill>
          <a:ln/>
        </p:spPr>
      </p:sp>
      <p:sp>
        <p:nvSpPr>
          <p:cNvPr id="30" name="Text 28"/>
          <p:cNvSpPr txBox="1"/>
          <p:nvPr/>
        </p:nvSpPr>
        <p:spPr>
          <a:xfrm>
            <a:off x="5852160" y="3209544"/>
            <a:ext cx="73152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4 pts</a:t>
            </a:r>
            <a:endParaRPr lang="en-US" sz="950" dirty="0"/>
          </a:p>
        </p:txBody>
      </p:sp>
      <p:sp>
        <p:nvSpPr>
          <p:cNvPr id="31" name="Text 29"/>
          <p:cNvSpPr/>
          <p:nvPr/>
        </p:nvSpPr>
        <p:spPr>
          <a:xfrm>
            <a:off x="6858000" y="3026664"/>
            <a:ext cx="4754880" cy="621792"/>
          </a:xfrm>
          <a:prstGeom prst="rect">
            <a:avLst/>
          </a:prstGeom>
          <a:noFill/>
          <a:ln/>
        </p:spPr>
        <p:txBody>
          <a:bodyPr wrap="square" lIns="0" tIns="0" rIns="0" bIns="0" rtlCol="0" anchor="ctr"/>
          <a:lstStyle/>
          <a:p>
            <a:pPr indent="0" marL="0">
              <a:lnSpc>
                <a:spcPct val="110000"/>
              </a:lnSpc>
              <a:buNone/>
            </a:pPr>
            <a:r>
              <a:rPr lang="en-US" sz="980" dirty="0">
                <a:solidFill>
                  <a:srgbClr val="2B2B2B"/>
                </a:solidFill>
                <a:latin typeface="Calibri" pitchFamily="34" charset="0"/>
                <a:ea typeface="Calibri" pitchFamily="34" charset="-122"/>
                <a:cs typeface="Calibri" pitchFamily="34" charset="-120"/>
              </a:rPr>
              <a:t>SCRUM-25, SCRUM-26 — Weather fallback + cross-cutting recompute</a:t>
            </a:r>
            <a:endParaRPr lang="en-US" sz="980" dirty="0"/>
          </a:p>
        </p:txBody>
      </p:sp>
      <p:sp>
        <p:nvSpPr>
          <p:cNvPr id="32" name="Shape 30"/>
          <p:cNvSpPr/>
          <p:nvPr/>
        </p:nvSpPr>
        <p:spPr>
          <a:xfrm>
            <a:off x="548640" y="3739896"/>
            <a:ext cx="11064240" cy="621792"/>
          </a:xfrm>
          <a:prstGeom prst="roundRect">
            <a:avLst>
              <a:gd name="adj" fmla="val 13235"/>
            </a:avLst>
          </a:prstGeom>
          <a:solidFill>
            <a:srgbClr val="FFFFFF"/>
          </a:solidFill>
          <a:ln w="12700">
            <a:solidFill>
              <a:srgbClr val="E1E4F0"/>
            </a:solidFill>
            <a:prstDash val="solid"/>
          </a:ln>
        </p:spPr>
      </p:sp>
      <p:sp>
        <p:nvSpPr>
          <p:cNvPr id="33" name="Shape 31"/>
          <p:cNvSpPr/>
          <p:nvPr/>
        </p:nvSpPr>
        <p:spPr>
          <a:xfrm>
            <a:off x="777240" y="3849624"/>
            <a:ext cx="402336" cy="402336"/>
          </a:xfrm>
          <a:prstGeom prst="ellipse">
            <a:avLst/>
          </a:prstGeom>
          <a:solidFill>
            <a:srgbClr val="2E8B57"/>
          </a:solidFill>
          <a:ln/>
          <a:effectLst>
            <a:outerShdw sx="100000" sy="100000" kx="0" ky="0" algn="bl" rotWithShape="0" blurRad="101600" dist="38100" dir="5400000">
              <a:srgbClr val="1E2761">
                <a:alpha val="18000"/>
              </a:srgbClr>
            </a:outerShdw>
          </a:effectLst>
        </p:spPr>
      </p:sp>
      <p:sp>
        <p:nvSpPr>
          <p:cNvPr id="34" name="Text 32"/>
          <p:cNvSpPr txBox="1"/>
          <p:nvPr/>
        </p:nvSpPr>
        <p:spPr>
          <a:xfrm>
            <a:off x="777240" y="384962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DL</a:t>
            </a:r>
            <a:endParaRPr lang="en-US" sz="1200" dirty="0"/>
          </a:p>
        </p:txBody>
      </p:sp>
      <p:sp>
        <p:nvSpPr>
          <p:cNvPr id="35" name="Text 33"/>
          <p:cNvSpPr/>
          <p:nvPr/>
        </p:nvSpPr>
        <p:spPr>
          <a:xfrm>
            <a:off x="1417320" y="3739896"/>
            <a:ext cx="2743200" cy="621792"/>
          </a:xfrm>
          <a:prstGeom prst="rect">
            <a:avLst/>
          </a:prstGeom>
          <a:noFill/>
          <a:ln/>
        </p:spPr>
        <p:txBody>
          <a:bodyPr wrap="square" lIns="0" tIns="0" rIns="0" bIns="0" rtlCol="0" anchor="ctr"/>
          <a:lstStyle/>
          <a:p>
            <a:pPr indent="0" marL="0">
              <a:buNone/>
            </a:pPr>
            <a:r>
              <a:rPr lang="en-US" sz="1150" b="1" dirty="0">
                <a:solidFill>
                  <a:srgbClr val="1E2761"/>
                </a:solidFill>
                <a:latin typeface="Calibri" pitchFamily="34" charset="0"/>
                <a:ea typeface="Calibri" pitchFamily="34" charset="-122"/>
                <a:cs typeface="Calibri" pitchFamily="34" charset="-120"/>
              </a:rPr>
              <a:t>D'Andre League (dleague)</a:t>
            </a:r>
            <a:endParaRPr lang="en-US" sz="1150" dirty="0"/>
          </a:p>
        </p:txBody>
      </p:sp>
      <p:sp>
        <p:nvSpPr>
          <p:cNvPr id="36" name="Text 34"/>
          <p:cNvSpPr/>
          <p:nvPr/>
        </p:nvSpPr>
        <p:spPr>
          <a:xfrm>
            <a:off x="4206240" y="3739896"/>
            <a:ext cx="1645920" cy="621792"/>
          </a:xfrm>
          <a:prstGeom prst="rect">
            <a:avLst/>
          </a:prstGeom>
          <a:noFill/>
          <a:ln/>
        </p:spPr>
        <p:txBody>
          <a:bodyPr wrap="square" lIns="0" tIns="0" rIns="0" bIns="0" rtlCol="0" anchor="ctr"/>
          <a:lstStyle/>
          <a:p>
            <a:pPr indent="0" marL="0">
              <a:buNone/>
            </a:pPr>
            <a:r>
              <a:rPr lang="en-US" sz="1050" dirty="0">
                <a:solidFill>
                  <a:srgbClr val="2B2B2B"/>
                </a:solidFill>
                <a:latin typeface="Calibri" pitchFamily="34" charset="0"/>
                <a:ea typeface="Calibri" pitchFamily="34" charset="-122"/>
                <a:cs typeface="Calibri" pitchFamily="34" charset="-120"/>
              </a:rPr>
              <a:t>Scrum Master</a:t>
            </a:r>
            <a:endParaRPr lang="en-US" sz="1050" dirty="0"/>
          </a:p>
        </p:txBody>
      </p:sp>
      <p:sp>
        <p:nvSpPr>
          <p:cNvPr id="37" name="Shape 35"/>
          <p:cNvSpPr/>
          <p:nvPr/>
        </p:nvSpPr>
        <p:spPr>
          <a:xfrm>
            <a:off x="5852160" y="3922776"/>
            <a:ext cx="731520" cy="256032"/>
          </a:xfrm>
          <a:prstGeom prst="roundRect">
            <a:avLst>
              <a:gd name="adj" fmla="val 50000"/>
            </a:avLst>
          </a:prstGeom>
          <a:solidFill>
            <a:srgbClr val="F4F5FA"/>
          </a:solidFill>
          <a:ln/>
        </p:spPr>
      </p:sp>
      <p:sp>
        <p:nvSpPr>
          <p:cNvPr id="38" name="Text 36"/>
          <p:cNvSpPr txBox="1"/>
          <p:nvPr/>
        </p:nvSpPr>
        <p:spPr>
          <a:xfrm>
            <a:off x="5852160" y="3922776"/>
            <a:ext cx="731520" cy="256032"/>
          </a:xfrm>
          <a:prstGeom prst="rect">
            <a:avLst/>
          </a:prstGeom>
          <a:noFill/>
          <a:ln/>
        </p:spPr>
        <p:txBody>
          <a:bodyPr wrap="square" lIns="0" tIns="0" rIns="0" bIns="0" rtlCol="0" anchor="ctr"/>
          <a:lstStyle/>
          <a:p>
            <a:pPr algn="ctr" indent="0" marL="0">
              <a:buNone/>
            </a:pPr>
            <a:r>
              <a:rPr lang="en-US" sz="950" b="1" dirty="0">
                <a:solidFill>
                  <a:srgbClr val="1E2761"/>
                </a:solidFill>
                <a:latin typeface="Calibri" pitchFamily="34" charset="0"/>
                <a:ea typeface="Calibri" pitchFamily="34" charset="-122"/>
                <a:cs typeface="Calibri" pitchFamily="34" charset="-120"/>
              </a:rPr>
              <a:t>2 pts</a:t>
            </a:r>
            <a:endParaRPr lang="en-US" sz="950" dirty="0"/>
          </a:p>
        </p:txBody>
      </p:sp>
      <p:sp>
        <p:nvSpPr>
          <p:cNvPr id="39" name="Text 37"/>
          <p:cNvSpPr/>
          <p:nvPr/>
        </p:nvSpPr>
        <p:spPr>
          <a:xfrm>
            <a:off x="6858000" y="3739896"/>
            <a:ext cx="4754880" cy="621792"/>
          </a:xfrm>
          <a:prstGeom prst="rect">
            <a:avLst/>
          </a:prstGeom>
          <a:noFill/>
          <a:ln/>
        </p:spPr>
        <p:txBody>
          <a:bodyPr wrap="square" lIns="0" tIns="0" rIns="0" bIns="0" rtlCol="0" anchor="ctr"/>
          <a:lstStyle/>
          <a:p>
            <a:pPr indent="0" marL="0">
              <a:lnSpc>
                <a:spcPct val="110000"/>
              </a:lnSpc>
              <a:buNone/>
            </a:pPr>
            <a:r>
              <a:rPr lang="en-US" sz="980" dirty="0">
                <a:solidFill>
                  <a:srgbClr val="2B2B2B"/>
                </a:solidFill>
                <a:latin typeface="Calibri" pitchFamily="34" charset="0"/>
                <a:ea typeface="Calibri" pitchFamily="34" charset="-122"/>
                <a:cs typeface="Calibri" pitchFamily="34" charset="-120"/>
              </a:rPr>
              <a:t>SCRUM-24 — Weather response caching</a:t>
            </a:r>
            <a:endParaRPr lang="en-US" sz="980" dirty="0"/>
          </a:p>
        </p:txBody>
      </p:sp>
      <p:sp>
        <p:nvSpPr>
          <p:cNvPr id="40" name="Shape 38"/>
          <p:cNvSpPr/>
          <p:nvPr/>
        </p:nvSpPr>
        <p:spPr>
          <a:xfrm>
            <a:off x="548640" y="4590288"/>
            <a:ext cx="11064240" cy="1719072"/>
          </a:xfrm>
          <a:prstGeom prst="roundRect">
            <a:avLst>
              <a:gd name="adj" fmla="val 4787"/>
            </a:avLst>
          </a:prstGeom>
          <a:solidFill>
            <a:srgbClr val="F4F5FA"/>
          </a:solidFill>
          <a:ln w="12700">
            <a:solidFill>
              <a:srgbClr val="E1E4F0"/>
            </a:solidFill>
            <a:prstDash val="solid"/>
          </a:ln>
        </p:spPr>
      </p:sp>
      <p:sp>
        <p:nvSpPr>
          <p:cNvPr id="41" name="Text 39"/>
          <p:cNvSpPr/>
          <p:nvPr/>
        </p:nvSpPr>
        <p:spPr>
          <a:xfrm>
            <a:off x="777240" y="4700016"/>
            <a:ext cx="10607040" cy="1536192"/>
          </a:xfrm>
          <a:prstGeom prst="rect">
            <a:avLst/>
          </a:prstGeom>
          <a:noFill/>
          <a:ln/>
        </p:spPr>
        <p:txBody>
          <a:bodyPr wrap="square" lIns="0" tIns="0" rIns="0" bIns="0" rtlCol="0" anchor="t"/>
          <a:lstStyle/>
          <a:p>
            <a:pPr marL="152400" indent="-152400">
              <a:lnSpc>
                <a:spcPct val="108000"/>
              </a:lnSpc>
              <a:buSzPct val="100000"/>
              <a:buChar char="•"/>
            </a:pPr>
            <a:r>
              <a:rPr lang="en-US" sz="1000" dirty="0">
                <a:solidFill>
                  <a:srgbClr val="2B2B2B"/>
                </a:solidFill>
                <a:latin typeface="Calibri" pitchFamily="34" charset="0"/>
                <a:ea typeface="Calibri" pitchFamily="34" charset="-122"/>
                <a:cs typeface="Calibri" pitchFamily="34" charset="-120"/>
              </a:rPr>
              <a:t>Scrum Master (dleague) intentionally carries the lightest load — his primary Sprint 1 responsibility is facilitation, unblocking, and sprint ceremonies, not reflected in story points.</a:t>
            </a:r>
            <a:endParaRPr lang="en-US" sz="1000" dirty="0"/>
          </a:p>
          <a:p>
            <a:pPr marL="152400" indent="-152400">
              <a:lnSpc>
                <a:spcPct val="108000"/>
              </a:lnSpc>
              <a:buSzPct val="100000"/>
              <a:buChar char="•"/>
            </a:pPr>
            <a:r>
              <a:rPr lang="en-US" sz="1000" dirty="0">
                <a:solidFill>
                  <a:srgbClr val="2B2B2B"/>
                </a:solidFill>
                <a:latin typeface="Calibri" pitchFamily="34" charset="0"/>
                <a:ea typeface="Calibri" pitchFamily="34" charset="-122"/>
                <a:cs typeface="Calibri" pitchFamily="34" charset="-120"/>
              </a:rPr>
              <a:t>James (engineer) owns the entire Demographic Integration epic solo for continuity — one person's context across all 5 related stories avoids merge conflicts within the epic.</a:t>
            </a:r>
            <a:endParaRPr lang="en-US" sz="1000" dirty="0"/>
          </a:p>
          <a:p>
            <a:pPr marL="152400" indent="-152400">
              <a:lnSpc>
                <a:spcPct val="108000"/>
              </a:lnSpc>
              <a:buSzPct val="100000"/>
              <a:buChar char="•"/>
            </a:pPr>
            <a:r>
              <a:rPr lang="en-US" sz="1000" dirty="0">
                <a:solidFill>
                  <a:srgbClr val="2B2B2B"/>
                </a:solidFill>
                <a:latin typeface="Calibri" pitchFamily="34" charset="0"/>
                <a:ea typeface="Calibri" pitchFamily="34" charset="-122"/>
                <a:cs typeface="Calibri" pitchFamily="34" charset="-120"/>
              </a:rPr>
              <a:t>Ryan and Teyana split the Live Weather epic plus the cross-cutting recompute story, balanced within 1 point of each other (5 vs. 4).</a:t>
            </a:r>
            <a:endParaRPr lang="en-US" sz="1000" dirty="0"/>
          </a:p>
          <a:p>
            <a:pPr marL="152400" indent="-152400">
              <a:lnSpc>
                <a:spcPct val="108000"/>
              </a:lnSpc>
              <a:buSzPct val="100000"/>
              <a:buChar char="•"/>
            </a:pPr>
            <a:r>
              <a:rPr lang="en-US" sz="1000" dirty="0">
                <a:solidFill>
                  <a:srgbClr val="2B2B2B"/>
                </a:solidFill>
                <a:latin typeface="Calibri" pitchFamily="34" charset="0"/>
                <a:ea typeface="Calibri" pitchFamily="34" charset="-122"/>
                <a:cs typeface="Calibri" pitchFamily="34" charset="-120"/>
              </a:rPr>
              <a:t>SCRUM-26 depends on both epics finishing — if the larger Demographic epic runs long, the team may reassign it at standup.</a:t>
            </a:r>
            <a:endParaRPr lang="en-US" sz="1000" dirty="0"/>
          </a:p>
        </p:txBody>
      </p:sp>
      <p:sp>
        <p:nvSpPr>
          <p:cNvPr id="42" name="Text 40"/>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43" name="Text 41"/>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8 — STORIES, AC &amp; DEV TASKS (1 OF 2)</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Sprint 1 Planning — Demographic Integration</a:t>
            </a:r>
            <a:endParaRPr lang="en-US" sz="2700" dirty="0"/>
          </a:p>
        </p:txBody>
      </p:sp>
      <p:sp>
        <p:nvSpPr>
          <p:cNvPr id="4" name="Shape 2"/>
          <p:cNvSpPr/>
          <p:nvPr/>
        </p:nvSpPr>
        <p:spPr>
          <a:xfrm>
            <a:off x="502920" y="1234440"/>
            <a:ext cx="11155680" cy="886968"/>
          </a:xfrm>
          <a:prstGeom prst="roundRect">
            <a:avLst>
              <a:gd name="adj" fmla="val 9278"/>
            </a:avLst>
          </a:prstGeom>
          <a:solidFill>
            <a:srgbClr val="FFFFFF"/>
          </a:solidFill>
          <a:ln w="12700">
            <a:solidFill>
              <a:srgbClr val="E1E4F0"/>
            </a:solidFill>
            <a:prstDash val="solid"/>
          </a:ln>
        </p:spPr>
      </p:sp>
      <p:sp>
        <p:nvSpPr>
          <p:cNvPr id="5" name="Text 3"/>
          <p:cNvSpPr txBox="1"/>
          <p:nvPr/>
        </p:nvSpPr>
        <p:spPr>
          <a:xfrm>
            <a:off x="630936" y="1307592"/>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SCRUM-18</a:t>
            </a:r>
            <a:endParaRPr lang="en-US" sz="1000" dirty="0"/>
          </a:p>
        </p:txBody>
      </p:sp>
      <p:sp>
        <p:nvSpPr>
          <p:cNvPr id="6" name="Shape 4"/>
          <p:cNvSpPr/>
          <p:nvPr/>
        </p:nvSpPr>
        <p:spPr>
          <a:xfrm>
            <a:off x="630936" y="1563624"/>
            <a:ext cx="612648" cy="201168"/>
          </a:xfrm>
          <a:prstGeom prst="roundRect">
            <a:avLst>
              <a:gd name="adj" fmla="val 50000"/>
            </a:avLst>
          </a:prstGeom>
          <a:solidFill>
            <a:srgbClr val="FBF0DC"/>
          </a:solidFill>
          <a:ln/>
        </p:spPr>
      </p:sp>
      <p:sp>
        <p:nvSpPr>
          <p:cNvPr id="7" name="Text 5"/>
          <p:cNvSpPr txBox="1"/>
          <p:nvPr/>
        </p:nvSpPr>
        <p:spPr>
          <a:xfrm>
            <a:off x="630936" y="1563624"/>
            <a:ext cx="612648" cy="201168"/>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To Do</a:t>
            </a:r>
            <a:endParaRPr lang="en-US" sz="950" dirty="0"/>
          </a:p>
        </p:txBody>
      </p:sp>
      <p:sp>
        <p:nvSpPr>
          <p:cNvPr id="8" name="Shape 6"/>
          <p:cNvSpPr/>
          <p:nvPr/>
        </p:nvSpPr>
        <p:spPr>
          <a:xfrm>
            <a:off x="777240" y="1801368"/>
            <a:ext cx="274320" cy="27432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9" name="Text 7"/>
          <p:cNvSpPr txBox="1"/>
          <p:nvPr/>
        </p:nvSpPr>
        <p:spPr>
          <a:xfrm>
            <a:off x="777240" y="18013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JH</a:t>
            </a:r>
            <a:endParaRPr lang="en-US" sz="1200" dirty="0"/>
          </a:p>
        </p:txBody>
      </p:sp>
      <p:sp>
        <p:nvSpPr>
          <p:cNvPr id="10" name="Text 8"/>
          <p:cNvSpPr txBox="1"/>
          <p:nvPr/>
        </p:nvSpPr>
        <p:spPr>
          <a:xfrm>
            <a:off x="1271016" y="1307592"/>
            <a:ext cx="3246120" cy="740664"/>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Census Geocoder integration resolving an area's lat/lon to its census tract.</a:t>
            </a:r>
            <a:endParaRPr lang="en-US" sz="960" dirty="0"/>
          </a:p>
        </p:txBody>
      </p:sp>
      <p:sp>
        <p:nvSpPr>
          <p:cNvPr id="11" name="Text 9"/>
          <p:cNvSpPr txBox="1"/>
          <p:nvPr/>
        </p:nvSpPr>
        <p:spPr>
          <a:xfrm>
            <a:off x="4645152" y="1289304"/>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12" name="Text 10"/>
          <p:cNvSpPr/>
          <p:nvPr/>
        </p:nvSpPr>
        <p:spPr>
          <a:xfrm>
            <a:off x="4645152" y="148132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Correct census tract ID returned/stored for an area's centroid</a:t>
            </a:r>
            <a:endParaRPr lang="en-US" sz="860" dirty="0"/>
          </a:p>
        </p:txBody>
      </p:sp>
      <p:sp>
        <p:nvSpPr>
          <p:cNvPr id="13" name="Text 11"/>
          <p:cNvSpPr txBox="1"/>
          <p:nvPr/>
        </p:nvSpPr>
        <p:spPr>
          <a:xfrm>
            <a:off x="8124444" y="1289304"/>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14" name="Text 12"/>
          <p:cNvSpPr/>
          <p:nvPr/>
        </p:nvSpPr>
        <p:spPr>
          <a:xfrm>
            <a:off x="8124444" y="148132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geocodeToTract(lat,lon) in new demographicsService.js</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Add census_tract_id column to areas</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Wire into recomputeAllRiskScores.js</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Handle timeout/no-match gracefully</a:t>
            </a:r>
            <a:endParaRPr lang="en-US" sz="860" dirty="0"/>
          </a:p>
        </p:txBody>
      </p:sp>
      <p:sp>
        <p:nvSpPr>
          <p:cNvPr id="15" name="Shape 13"/>
          <p:cNvSpPr/>
          <p:nvPr/>
        </p:nvSpPr>
        <p:spPr>
          <a:xfrm>
            <a:off x="502920" y="2194560"/>
            <a:ext cx="11155680" cy="886968"/>
          </a:xfrm>
          <a:prstGeom prst="roundRect">
            <a:avLst>
              <a:gd name="adj" fmla="val 9278"/>
            </a:avLst>
          </a:prstGeom>
          <a:solidFill>
            <a:srgbClr val="FFFFFF"/>
          </a:solidFill>
          <a:ln w="12700">
            <a:solidFill>
              <a:srgbClr val="E1E4F0"/>
            </a:solidFill>
            <a:prstDash val="solid"/>
          </a:ln>
        </p:spPr>
      </p:sp>
      <p:sp>
        <p:nvSpPr>
          <p:cNvPr id="16" name="Text 14"/>
          <p:cNvSpPr txBox="1"/>
          <p:nvPr/>
        </p:nvSpPr>
        <p:spPr>
          <a:xfrm>
            <a:off x="630936" y="2267712"/>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SCRUM-19</a:t>
            </a:r>
            <a:endParaRPr lang="en-US" sz="1000" dirty="0"/>
          </a:p>
        </p:txBody>
      </p:sp>
      <p:sp>
        <p:nvSpPr>
          <p:cNvPr id="17" name="Shape 15"/>
          <p:cNvSpPr/>
          <p:nvPr/>
        </p:nvSpPr>
        <p:spPr>
          <a:xfrm>
            <a:off x="630936" y="2523744"/>
            <a:ext cx="612648" cy="201168"/>
          </a:xfrm>
          <a:prstGeom prst="roundRect">
            <a:avLst>
              <a:gd name="adj" fmla="val 50000"/>
            </a:avLst>
          </a:prstGeom>
          <a:solidFill>
            <a:srgbClr val="FBF0DC"/>
          </a:solidFill>
          <a:ln/>
        </p:spPr>
      </p:sp>
      <p:sp>
        <p:nvSpPr>
          <p:cNvPr id="18" name="Text 16"/>
          <p:cNvSpPr txBox="1"/>
          <p:nvPr/>
        </p:nvSpPr>
        <p:spPr>
          <a:xfrm>
            <a:off x="630936" y="2523744"/>
            <a:ext cx="612648" cy="201168"/>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To Do</a:t>
            </a:r>
            <a:endParaRPr lang="en-US" sz="950" dirty="0"/>
          </a:p>
        </p:txBody>
      </p:sp>
      <p:sp>
        <p:nvSpPr>
          <p:cNvPr id="19" name="Shape 17"/>
          <p:cNvSpPr/>
          <p:nvPr/>
        </p:nvSpPr>
        <p:spPr>
          <a:xfrm>
            <a:off x="777240" y="2761488"/>
            <a:ext cx="274320" cy="27432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20" name="Text 18"/>
          <p:cNvSpPr txBox="1"/>
          <p:nvPr/>
        </p:nvSpPr>
        <p:spPr>
          <a:xfrm>
            <a:off x="777240" y="276148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JH</a:t>
            </a:r>
            <a:endParaRPr lang="en-US" sz="1200" dirty="0"/>
          </a:p>
        </p:txBody>
      </p:sp>
      <p:sp>
        <p:nvSpPr>
          <p:cNvPr id="21" name="Text 19"/>
          <p:cNvSpPr txBox="1"/>
          <p:nvPr/>
        </p:nvSpPr>
        <p:spPr>
          <a:xfrm>
            <a:off x="1271016" y="2267712"/>
            <a:ext cx="3246120" cy="740664"/>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ACS API calls pulling pct_elderly / pct_low_income for a resolved tract.</a:t>
            </a:r>
            <a:endParaRPr lang="en-US" sz="960" dirty="0"/>
          </a:p>
        </p:txBody>
      </p:sp>
      <p:sp>
        <p:nvSpPr>
          <p:cNvPr id="22" name="Text 20"/>
          <p:cNvSpPr txBox="1"/>
          <p:nvPr/>
        </p:nvSpPr>
        <p:spPr>
          <a:xfrm>
            <a:off x="4645152" y="2249424"/>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23" name="Text 21"/>
          <p:cNvSpPr/>
          <p:nvPr/>
        </p:nvSpPr>
        <p:spPr>
          <a:xfrm>
            <a:off x="4645152" y="244144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Returns pct_elderly/pct_low_income for a tract from ACS B01001/S1701</a:t>
            </a:r>
            <a:endParaRPr lang="en-US" sz="860" dirty="0"/>
          </a:p>
        </p:txBody>
      </p:sp>
      <p:sp>
        <p:nvSpPr>
          <p:cNvPr id="24" name="Text 22"/>
          <p:cNvSpPr txBox="1"/>
          <p:nvPr/>
        </p:nvSpPr>
        <p:spPr>
          <a:xfrm>
            <a:off x="8124444" y="2249424"/>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25" name="Text 23"/>
          <p:cNvSpPr/>
          <p:nvPr/>
        </p:nvSpPr>
        <p:spPr>
          <a:xfrm>
            <a:off x="8124444" y="244144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Implement fetchAcsDemographics(tractId)</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Parse B01001 (age) / S1701 (poverty)</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Update areas fields in recompute job</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Unit tests w/ mocked ACS response</a:t>
            </a:r>
            <a:endParaRPr lang="en-US" sz="860" dirty="0"/>
          </a:p>
        </p:txBody>
      </p:sp>
      <p:sp>
        <p:nvSpPr>
          <p:cNvPr id="26" name="Shape 24"/>
          <p:cNvSpPr/>
          <p:nvPr/>
        </p:nvSpPr>
        <p:spPr>
          <a:xfrm>
            <a:off x="502920" y="3154680"/>
            <a:ext cx="11155680" cy="886968"/>
          </a:xfrm>
          <a:prstGeom prst="roundRect">
            <a:avLst>
              <a:gd name="adj" fmla="val 9278"/>
            </a:avLst>
          </a:prstGeom>
          <a:solidFill>
            <a:srgbClr val="FFFFFF"/>
          </a:solidFill>
          <a:ln w="12700">
            <a:solidFill>
              <a:srgbClr val="E1E4F0"/>
            </a:solidFill>
            <a:prstDash val="solid"/>
          </a:ln>
        </p:spPr>
      </p:sp>
      <p:sp>
        <p:nvSpPr>
          <p:cNvPr id="27" name="Text 25"/>
          <p:cNvSpPr txBox="1"/>
          <p:nvPr/>
        </p:nvSpPr>
        <p:spPr>
          <a:xfrm>
            <a:off x="630936" y="3227832"/>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SCRUM-20</a:t>
            </a:r>
            <a:endParaRPr lang="en-US" sz="1000" dirty="0"/>
          </a:p>
        </p:txBody>
      </p:sp>
      <p:sp>
        <p:nvSpPr>
          <p:cNvPr id="28" name="Shape 26"/>
          <p:cNvSpPr/>
          <p:nvPr/>
        </p:nvSpPr>
        <p:spPr>
          <a:xfrm>
            <a:off x="630936" y="3483864"/>
            <a:ext cx="612648" cy="201168"/>
          </a:xfrm>
          <a:prstGeom prst="roundRect">
            <a:avLst>
              <a:gd name="adj" fmla="val 50000"/>
            </a:avLst>
          </a:prstGeom>
          <a:solidFill>
            <a:srgbClr val="FBF0DC"/>
          </a:solidFill>
          <a:ln/>
        </p:spPr>
      </p:sp>
      <p:sp>
        <p:nvSpPr>
          <p:cNvPr id="29" name="Text 27"/>
          <p:cNvSpPr txBox="1"/>
          <p:nvPr/>
        </p:nvSpPr>
        <p:spPr>
          <a:xfrm>
            <a:off x="630936" y="3483864"/>
            <a:ext cx="612648" cy="201168"/>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To Do</a:t>
            </a:r>
            <a:endParaRPr lang="en-US" sz="950" dirty="0"/>
          </a:p>
        </p:txBody>
      </p:sp>
      <p:sp>
        <p:nvSpPr>
          <p:cNvPr id="30" name="Shape 28"/>
          <p:cNvSpPr/>
          <p:nvPr/>
        </p:nvSpPr>
        <p:spPr>
          <a:xfrm>
            <a:off x="777240" y="3721608"/>
            <a:ext cx="274320" cy="27432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31" name="Text 29"/>
          <p:cNvSpPr txBox="1"/>
          <p:nvPr/>
        </p:nvSpPr>
        <p:spPr>
          <a:xfrm>
            <a:off x="777240" y="37216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JH</a:t>
            </a:r>
            <a:endParaRPr lang="en-US" sz="1200" dirty="0"/>
          </a:p>
        </p:txBody>
      </p:sp>
      <p:sp>
        <p:nvSpPr>
          <p:cNvPr id="32" name="Text 30"/>
          <p:cNvSpPr txBox="1"/>
          <p:nvPr/>
        </p:nvSpPr>
        <p:spPr>
          <a:xfrm>
            <a:off x="1271016" y="3227832"/>
            <a:ext cx="3246120" cy="740664"/>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tract/demographic lookups cached with a long TTL.</a:t>
            </a:r>
            <a:endParaRPr lang="en-US" sz="960" dirty="0"/>
          </a:p>
        </p:txBody>
      </p:sp>
      <p:sp>
        <p:nvSpPr>
          <p:cNvPr id="33" name="Text 31"/>
          <p:cNvSpPr txBox="1"/>
          <p:nvPr/>
        </p:nvSpPr>
        <p:spPr>
          <a:xfrm>
            <a:off x="4645152" y="3209544"/>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34" name="Text 32"/>
          <p:cNvSpPr/>
          <p:nvPr/>
        </p:nvSpPr>
        <p:spPr>
          <a:xfrm>
            <a:off x="4645152" y="340156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Tract ID + ACS figures reused from cache within TTL</a:t>
            </a:r>
            <a:endParaRPr lang="en-US" sz="860" dirty="0"/>
          </a:p>
        </p:txBody>
      </p:sp>
      <p:sp>
        <p:nvSpPr>
          <p:cNvPr id="35" name="Text 33"/>
          <p:cNvSpPr txBox="1"/>
          <p:nvPr/>
        </p:nvSpPr>
        <p:spPr>
          <a:xfrm>
            <a:off x="8124444" y="3209544"/>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36" name="Text 34"/>
          <p:cNvSpPr/>
          <p:nvPr/>
        </p:nvSpPr>
        <p:spPr>
          <a:xfrm>
            <a:off x="8124444" y="340156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Cache layer (Map or table) keyed by area/tract, ~90-day TTL</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Wire into geocode/fetch functions</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Cache-bypass flag for testing</a:t>
            </a:r>
            <a:endParaRPr lang="en-US" sz="860" dirty="0"/>
          </a:p>
        </p:txBody>
      </p:sp>
      <p:sp>
        <p:nvSpPr>
          <p:cNvPr id="37" name="Shape 35"/>
          <p:cNvSpPr/>
          <p:nvPr/>
        </p:nvSpPr>
        <p:spPr>
          <a:xfrm>
            <a:off x="502920" y="4114800"/>
            <a:ext cx="11155680" cy="886968"/>
          </a:xfrm>
          <a:prstGeom prst="roundRect">
            <a:avLst>
              <a:gd name="adj" fmla="val 9278"/>
            </a:avLst>
          </a:prstGeom>
          <a:solidFill>
            <a:srgbClr val="FFFFFF"/>
          </a:solidFill>
          <a:ln w="12700">
            <a:solidFill>
              <a:srgbClr val="E1E4F0"/>
            </a:solidFill>
            <a:prstDash val="solid"/>
          </a:ln>
        </p:spPr>
      </p:sp>
      <p:sp>
        <p:nvSpPr>
          <p:cNvPr id="38" name="Text 36"/>
          <p:cNvSpPr txBox="1"/>
          <p:nvPr/>
        </p:nvSpPr>
        <p:spPr>
          <a:xfrm>
            <a:off x="630936" y="4187952"/>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SCRUM-21</a:t>
            </a:r>
            <a:endParaRPr lang="en-US" sz="1000" dirty="0"/>
          </a:p>
        </p:txBody>
      </p:sp>
      <p:sp>
        <p:nvSpPr>
          <p:cNvPr id="39" name="Shape 37"/>
          <p:cNvSpPr/>
          <p:nvPr/>
        </p:nvSpPr>
        <p:spPr>
          <a:xfrm>
            <a:off x="630936" y="4443984"/>
            <a:ext cx="612648" cy="201168"/>
          </a:xfrm>
          <a:prstGeom prst="roundRect">
            <a:avLst>
              <a:gd name="adj" fmla="val 50000"/>
            </a:avLst>
          </a:prstGeom>
          <a:solidFill>
            <a:srgbClr val="FBF0DC"/>
          </a:solidFill>
          <a:ln/>
        </p:spPr>
      </p:sp>
      <p:sp>
        <p:nvSpPr>
          <p:cNvPr id="40" name="Text 38"/>
          <p:cNvSpPr txBox="1"/>
          <p:nvPr/>
        </p:nvSpPr>
        <p:spPr>
          <a:xfrm>
            <a:off x="630936" y="4443984"/>
            <a:ext cx="612648" cy="201168"/>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To Do</a:t>
            </a:r>
            <a:endParaRPr lang="en-US" sz="950" dirty="0"/>
          </a:p>
        </p:txBody>
      </p:sp>
      <p:sp>
        <p:nvSpPr>
          <p:cNvPr id="41" name="Shape 39"/>
          <p:cNvSpPr/>
          <p:nvPr/>
        </p:nvSpPr>
        <p:spPr>
          <a:xfrm>
            <a:off x="777240" y="4681728"/>
            <a:ext cx="274320" cy="27432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42" name="Text 40"/>
          <p:cNvSpPr txBox="1"/>
          <p:nvPr/>
        </p:nvSpPr>
        <p:spPr>
          <a:xfrm>
            <a:off x="777240" y="46817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JH</a:t>
            </a:r>
            <a:endParaRPr lang="en-US" sz="1200" dirty="0"/>
          </a:p>
        </p:txBody>
      </p:sp>
      <p:sp>
        <p:nvSpPr>
          <p:cNvPr id="43" name="Text 41"/>
          <p:cNvSpPr txBox="1"/>
          <p:nvPr/>
        </p:nvSpPr>
        <p:spPr>
          <a:xfrm>
            <a:off x="1271016" y="4187952"/>
            <a:ext cx="3246120" cy="740664"/>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fallback to last-known-good demographic values when Census APIs are down.</a:t>
            </a:r>
            <a:endParaRPr lang="en-US" sz="960" dirty="0"/>
          </a:p>
        </p:txBody>
      </p:sp>
      <p:sp>
        <p:nvSpPr>
          <p:cNvPr id="44" name="Text 42"/>
          <p:cNvSpPr txBox="1"/>
          <p:nvPr/>
        </p:nvSpPr>
        <p:spPr>
          <a:xfrm>
            <a:off x="4645152" y="4169664"/>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45" name="Text 43"/>
          <p:cNvSpPr/>
          <p:nvPr/>
        </p:nvSpPr>
        <p:spPr>
          <a:xfrm>
            <a:off x="4645152" y="436168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On fetch failure, area keeps previous values and logs the failure</a:t>
            </a:r>
            <a:endParaRPr lang="en-US" sz="860" dirty="0"/>
          </a:p>
        </p:txBody>
      </p:sp>
      <p:sp>
        <p:nvSpPr>
          <p:cNvPr id="46" name="Text 44"/>
          <p:cNvSpPr txBox="1"/>
          <p:nvPr/>
        </p:nvSpPr>
        <p:spPr>
          <a:xfrm>
            <a:off x="8124444" y="4169664"/>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47" name="Text 45"/>
          <p:cNvSpPr/>
          <p:nvPr/>
        </p:nvSpPr>
        <p:spPr>
          <a:xfrm>
            <a:off x="8124444" y="436168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Wrap demographicsService calls in try/catch</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Retain existing pct_elderly/pct_low_income on failure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One area's failure doesn't abort the batch</a:t>
            </a:r>
            <a:endParaRPr lang="en-US" sz="860" dirty="0"/>
          </a:p>
        </p:txBody>
      </p:sp>
      <p:sp>
        <p:nvSpPr>
          <p:cNvPr id="48" name="Shape 46"/>
          <p:cNvSpPr/>
          <p:nvPr/>
        </p:nvSpPr>
        <p:spPr>
          <a:xfrm>
            <a:off x="502920" y="5074920"/>
            <a:ext cx="11155680" cy="886968"/>
          </a:xfrm>
          <a:prstGeom prst="roundRect">
            <a:avLst>
              <a:gd name="adj" fmla="val 9278"/>
            </a:avLst>
          </a:prstGeom>
          <a:solidFill>
            <a:srgbClr val="FFFFFF"/>
          </a:solidFill>
          <a:ln w="12700">
            <a:solidFill>
              <a:srgbClr val="E1E4F0"/>
            </a:solidFill>
            <a:prstDash val="solid"/>
          </a:ln>
        </p:spPr>
      </p:sp>
      <p:sp>
        <p:nvSpPr>
          <p:cNvPr id="49" name="Text 47"/>
          <p:cNvSpPr txBox="1"/>
          <p:nvPr/>
        </p:nvSpPr>
        <p:spPr>
          <a:xfrm>
            <a:off x="630936" y="5148072"/>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SCRUM-22</a:t>
            </a:r>
            <a:endParaRPr lang="en-US" sz="1000" dirty="0"/>
          </a:p>
        </p:txBody>
      </p:sp>
      <p:sp>
        <p:nvSpPr>
          <p:cNvPr id="50" name="Shape 48"/>
          <p:cNvSpPr/>
          <p:nvPr/>
        </p:nvSpPr>
        <p:spPr>
          <a:xfrm>
            <a:off x="630936" y="5404104"/>
            <a:ext cx="612648" cy="201168"/>
          </a:xfrm>
          <a:prstGeom prst="roundRect">
            <a:avLst>
              <a:gd name="adj" fmla="val 50000"/>
            </a:avLst>
          </a:prstGeom>
          <a:solidFill>
            <a:srgbClr val="FBF0DC"/>
          </a:solidFill>
          <a:ln/>
        </p:spPr>
      </p:sp>
      <p:sp>
        <p:nvSpPr>
          <p:cNvPr id="51" name="Text 49"/>
          <p:cNvSpPr txBox="1"/>
          <p:nvPr/>
        </p:nvSpPr>
        <p:spPr>
          <a:xfrm>
            <a:off x="630936" y="5404104"/>
            <a:ext cx="612648" cy="201168"/>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To Do</a:t>
            </a:r>
            <a:endParaRPr lang="en-US" sz="950" dirty="0"/>
          </a:p>
        </p:txBody>
      </p:sp>
      <p:sp>
        <p:nvSpPr>
          <p:cNvPr id="52" name="Shape 50"/>
          <p:cNvSpPr/>
          <p:nvPr/>
        </p:nvSpPr>
        <p:spPr>
          <a:xfrm>
            <a:off x="777240" y="5641848"/>
            <a:ext cx="274320" cy="274320"/>
          </a:xfrm>
          <a:prstGeom prst="ellipse">
            <a:avLst/>
          </a:prstGeom>
          <a:solidFill>
            <a:srgbClr val="1E2761"/>
          </a:solidFill>
          <a:ln/>
          <a:effectLst>
            <a:outerShdw sx="100000" sy="100000" kx="0" ky="0" algn="bl" rotWithShape="0" blurRad="101600" dist="38100" dir="5400000">
              <a:srgbClr val="1E2761">
                <a:alpha val="18000"/>
              </a:srgbClr>
            </a:outerShdw>
          </a:effectLst>
        </p:spPr>
      </p:sp>
      <p:sp>
        <p:nvSpPr>
          <p:cNvPr id="53" name="Text 51"/>
          <p:cNvSpPr txBox="1"/>
          <p:nvPr/>
        </p:nvSpPr>
        <p:spPr>
          <a:xfrm>
            <a:off x="777240" y="564184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JH</a:t>
            </a:r>
            <a:endParaRPr lang="en-US" sz="1200" dirty="0"/>
          </a:p>
        </p:txBody>
      </p:sp>
      <p:sp>
        <p:nvSpPr>
          <p:cNvPr id="54" name="Text 52"/>
          <p:cNvSpPr txBox="1"/>
          <p:nvPr/>
        </p:nvSpPr>
        <p:spPr>
          <a:xfrm>
            <a:off x="1271016" y="5148072"/>
            <a:ext cx="3246120" cy="740664"/>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Team: honest, documented plan for pct_no_ac (no free live API at tract level).</a:t>
            </a:r>
            <a:endParaRPr lang="en-US" sz="960" dirty="0"/>
          </a:p>
        </p:txBody>
      </p:sp>
      <p:sp>
        <p:nvSpPr>
          <p:cNvPr id="55" name="Text 53"/>
          <p:cNvSpPr txBox="1"/>
          <p:nvPr/>
        </p:nvSpPr>
        <p:spPr>
          <a:xfrm>
            <a:off x="4645152" y="5129784"/>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56" name="Text 54"/>
          <p:cNvSpPr/>
          <p:nvPr/>
        </p:nvSpPr>
        <p:spPr>
          <a:xfrm>
            <a:off x="4645152" y="532180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Doc explains chosen approach + refresh cadence</a:t>
            </a:r>
            <a:endParaRPr lang="en-US" sz="860" dirty="0"/>
          </a:p>
        </p:txBody>
      </p:sp>
      <p:sp>
        <p:nvSpPr>
          <p:cNvPr id="57" name="Text 55"/>
          <p:cNvSpPr txBox="1"/>
          <p:nvPr/>
        </p:nvSpPr>
        <p:spPr>
          <a:xfrm>
            <a:off x="8124444" y="5129784"/>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58" name="Text 56"/>
          <p:cNvSpPr/>
          <p:nvPr/>
        </p:nvSpPr>
        <p:spPr>
          <a:xfrm>
            <a:off x="8124444" y="5321808"/>
            <a:ext cx="3351276" cy="566928"/>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Research CDC Heat &amp; Health Index Information System</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Write README/TOOLS.md section</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Document manual-entry/ownership if no live source</a:t>
            </a:r>
            <a:endParaRPr lang="en-US" sz="860" dirty="0"/>
          </a:p>
        </p:txBody>
      </p:sp>
      <p:sp>
        <p:nvSpPr>
          <p:cNvPr id="59" name="Text 57"/>
          <p:cNvSpPr/>
          <p:nvPr/>
        </p:nvSpPr>
        <p:spPr>
          <a:xfrm>
            <a:off x="548640" y="6355080"/>
            <a:ext cx="110642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Owned end-to-end by James Hawkins (JH) — one person's context across all 5 related stories avoids merge conflicts within the epic.</a:t>
            </a:r>
            <a:endParaRPr lang="en-US" sz="950" dirty="0"/>
          </a:p>
        </p:txBody>
      </p:sp>
      <p:sp>
        <p:nvSpPr>
          <p:cNvPr id="60" name="Text 58"/>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61" name="Text 59"/>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0607040" cy="274320"/>
          </a:xfrm>
          <a:prstGeom prst="rect">
            <a:avLst/>
          </a:prstGeom>
          <a:noFill/>
          <a:ln/>
        </p:spPr>
        <p:txBody>
          <a:bodyPr wrap="square" lIns="0" tIns="0" rIns="0" bIns="0" rtlCol="0" anchor="ctr"/>
          <a:lstStyle/>
          <a:p>
            <a:pPr indent="0" marL="0">
              <a:buNone/>
            </a:pPr>
            <a:r>
              <a:rPr lang="en-US" sz="1250" b="1" spc="200" kern="0" dirty="0">
                <a:solidFill>
                  <a:srgbClr val="E8543A"/>
                </a:solidFill>
                <a:latin typeface="Calibri" pitchFamily="34" charset="0"/>
                <a:ea typeface="Calibri" pitchFamily="34" charset="-122"/>
                <a:cs typeface="Calibri" pitchFamily="34" charset="-120"/>
              </a:rPr>
              <a:t>8 — STORIES, AC &amp; DEV TASKS (2 OF 2)</a:t>
            </a:r>
            <a:endParaRPr lang="en-US" sz="1250" dirty="0"/>
          </a:p>
        </p:txBody>
      </p:sp>
      <p:sp>
        <p:nvSpPr>
          <p:cNvPr id="3" name="Text 1"/>
          <p:cNvSpPr txBox="1"/>
          <p:nvPr/>
        </p:nvSpPr>
        <p:spPr>
          <a:xfrm>
            <a:off x="548640" y="566928"/>
            <a:ext cx="1106424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Sprint 1 Planning — Live Weather Integration</a:t>
            </a:r>
            <a:endParaRPr lang="en-US" sz="2700" dirty="0"/>
          </a:p>
        </p:txBody>
      </p:sp>
      <p:sp>
        <p:nvSpPr>
          <p:cNvPr id="4" name="Shape 2"/>
          <p:cNvSpPr/>
          <p:nvPr/>
        </p:nvSpPr>
        <p:spPr>
          <a:xfrm>
            <a:off x="502920" y="1234440"/>
            <a:ext cx="11155680" cy="1108710"/>
          </a:xfrm>
          <a:prstGeom prst="roundRect">
            <a:avLst>
              <a:gd name="adj" fmla="val 7423"/>
            </a:avLst>
          </a:prstGeom>
          <a:solidFill>
            <a:srgbClr val="FFFFFF"/>
          </a:solidFill>
          <a:ln w="12700">
            <a:solidFill>
              <a:srgbClr val="E1E4F0"/>
            </a:solidFill>
            <a:prstDash val="solid"/>
          </a:ln>
        </p:spPr>
      </p:sp>
      <p:sp>
        <p:nvSpPr>
          <p:cNvPr id="5" name="Text 3"/>
          <p:cNvSpPr txBox="1"/>
          <p:nvPr/>
        </p:nvSpPr>
        <p:spPr>
          <a:xfrm>
            <a:off x="630936" y="1307592"/>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SCRUM-23</a:t>
            </a:r>
            <a:endParaRPr lang="en-US" sz="1000" dirty="0"/>
          </a:p>
        </p:txBody>
      </p:sp>
      <p:sp>
        <p:nvSpPr>
          <p:cNvPr id="6" name="Shape 4"/>
          <p:cNvSpPr/>
          <p:nvPr/>
        </p:nvSpPr>
        <p:spPr>
          <a:xfrm>
            <a:off x="630936" y="1563624"/>
            <a:ext cx="612648" cy="201168"/>
          </a:xfrm>
          <a:prstGeom prst="roundRect">
            <a:avLst>
              <a:gd name="adj" fmla="val 50000"/>
            </a:avLst>
          </a:prstGeom>
          <a:solidFill>
            <a:srgbClr val="FBF0DC"/>
          </a:solidFill>
          <a:ln/>
        </p:spPr>
      </p:sp>
      <p:sp>
        <p:nvSpPr>
          <p:cNvPr id="7" name="Text 5"/>
          <p:cNvSpPr txBox="1"/>
          <p:nvPr/>
        </p:nvSpPr>
        <p:spPr>
          <a:xfrm>
            <a:off x="630936" y="1563624"/>
            <a:ext cx="612648" cy="201168"/>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To Do</a:t>
            </a:r>
            <a:endParaRPr lang="en-US" sz="950" dirty="0"/>
          </a:p>
        </p:txBody>
      </p:sp>
      <p:sp>
        <p:nvSpPr>
          <p:cNvPr id="8" name="Shape 6"/>
          <p:cNvSpPr/>
          <p:nvPr/>
        </p:nvSpPr>
        <p:spPr>
          <a:xfrm>
            <a:off x="777240" y="1801368"/>
            <a:ext cx="274320" cy="274320"/>
          </a:xfrm>
          <a:prstGeom prst="ellipse">
            <a:avLst/>
          </a:prstGeom>
          <a:solidFill>
            <a:srgbClr val="E8543A"/>
          </a:solidFill>
          <a:ln/>
          <a:effectLst>
            <a:outerShdw sx="100000" sy="100000" kx="0" ky="0" algn="bl" rotWithShape="0" blurRad="101600" dist="38100" dir="5400000">
              <a:srgbClr val="1E2761">
                <a:alpha val="18000"/>
              </a:srgbClr>
            </a:outerShdw>
          </a:effectLst>
        </p:spPr>
      </p:sp>
      <p:sp>
        <p:nvSpPr>
          <p:cNvPr id="9" name="Text 7"/>
          <p:cNvSpPr txBox="1"/>
          <p:nvPr/>
        </p:nvSpPr>
        <p:spPr>
          <a:xfrm>
            <a:off x="777240" y="180136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RT</a:t>
            </a:r>
            <a:endParaRPr lang="en-US" sz="1200" dirty="0"/>
          </a:p>
        </p:txBody>
      </p:sp>
      <p:sp>
        <p:nvSpPr>
          <p:cNvPr id="10" name="Text 8"/>
          <p:cNvSpPr txBox="1"/>
          <p:nvPr/>
        </p:nvSpPr>
        <p:spPr>
          <a:xfrm>
            <a:off x="1271016" y="1307592"/>
            <a:ext cx="3246120" cy="96240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weather service module — heat index from NWS, Open-Meteo fallback.</a:t>
            </a:r>
            <a:endParaRPr lang="en-US" sz="960" dirty="0"/>
          </a:p>
        </p:txBody>
      </p:sp>
      <p:sp>
        <p:nvSpPr>
          <p:cNvPr id="11" name="Text 9"/>
          <p:cNvSpPr txBox="1"/>
          <p:nvPr/>
        </p:nvSpPr>
        <p:spPr>
          <a:xfrm>
            <a:off x="4645152" y="1289304"/>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12" name="Text 10"/>
          <p:cNvSpPr/>
          <p:nvPr/>
        </p:nvSpPr>
        <p:spPr>
          <a:xfrm>
            <a:off x="4645152" y="1481328"/>
            <a:ext cx="3351276" cy="78867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Returns heat index for lat/lon; tries NWS two-step lookup, falls back to Open-Meteo</a:t>
            </a:r>
            <a:endParaRPr lang="en-US" sz="860" dirty="0"/>
          </a:p>
        </p:txBody>
      </p:sp>
      <p:sp>
        <p:nvSpPr>
          <p:cNvPr id="13" name="Text 11"/>
          <p:cNvSpPr txBox="1"/>
          <p:nvPr/>
        </p:nvSpPr>
        <p:spPr>
          <a:xfrm>
            <a:off x="8124444" y="1289304"/>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14" name="Text 12"/>
          <p:cNvSpPr/>
          <p:nvPr/>
        </p:nvSpPr>
        <p:spPr>
          <a:xfrm>
            <a:off x="8124444" y="1481328"/>
            <a:ext cx="3351276" cy="78867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Implement getHeatIndex(lat,lon)</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NWS /points/{lat},{lon} → forecast</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Fallback to Open-Meteo on failure/timeout</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Send NWS_USER_AGENT_EMAIL header</a:t>
            </a:r>
            <a:endParaRPr lang="en-US" sz="860" dirty="0"/>
          </a:p>
        </p:txBody>
      </p:sp>
      <p:sp>
        <p:nvSpPr>
          <p:cNvPr id="15" name="Shape 13"/>
          <p:cNvSpPr/>
          <p:nvPr/>
        </p:nvSpPr>
        <p:spPr>
          <a:xfrm>
            <a:off x="502920" y="2416302"/>
            <a:ext cx="11155680" cy="1108710"/>
          </a:xfrm>
          <a:prstGeom prst="roundRect">
            <a:avLst>
              <a:gd name="adj" fmla="val 7423"/>
            </a:avLst>
          </a:prstGeom>
          <a:solidFill>
            <a:srgbClr val="FFFFFF"/>
          </a:solidFill>
          <a:ln w="12700">
            <a:solidFill>
              <a:srgbClr val="E1E4F0"/>
            </a:solidFill>
            <a:prstDash val="solid"/>
          </a:ln>
        </p:spPr>
      </p:sp>
      <p:sp>
        <p:nvSpPr>
          <p:cNvPr id="16" name="Text 14"/>
          <p:cNvSpPr txBox="1"/>
          <p:nvPr/>
        </p:nvSpPr>
        <p:spPr>
          <a:xfrm>
            <a:off x="630936" y="2489454"/>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SCRUM-24</a:t>
            </a:r>
            <a:endParaRPr lang="en-US" sz="1000" dirty="0"/>
          </a:p>
        </p:txBody>
      </p:sp>
      <p:sp>
        <p:nvSpPr>
          <p:cNvPr id="17" name="Shape 15"/>
          <p:cNvSpPr/>
          <p:nvPr/>
        </p:nvSpPr>
        <p:spPr>
          <a:xfrm>
            <a:off x="630936" y="2745486"/>
            <a:ext cx="612648" cy="201168"/>
          </a:xfrm>
          <a:prstGeom prst="roundRect">
            <a:avLst>
              <a:gd name="adj" fmla="val 50000"/>
            </a:avLst>
          </a:prstGeom>
          <a:solidFill>
            <a:srgbClr val="FBF0DC"/>
          </a:solidFill>
          <a:ln/>
        </p:spPr>
      </p:sp>
      <p:sp>
        <p:nvSpPr>
          <p:cNvPr id="18" name="Text 16"/>
          <p:cNvSpPr txBox="1"/>
          <p:nvPr/>
        </p:nvSpPr>
        <p:spPr>
          <a:xfrm>
            <a:off x="630936" y="2745486"/>
            <a:ext cx="612648" cy="201168"/>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To Do</a:t>
            </a:r>
            <a:endParaRPr lang="en-US" sz="950" dirty="0"/>
          </a:p>
        </p:txBody>
      </p:sp>
      <p:sp>
        <p:nvSpPr>
          <p:cNvPr id="19" name="Shape 17"/>
          <p:cNvSpPr/>
          <p:nvPr/>
        </p:nvSpPr>
        <p:spPr>
          <a:xfrm>
            <a:off x="777240" y="2983230"/>
            <a:ext cx="274320" cy="274320"/>
          </a:xfrm>
          <a:prstGeom prst="ellipse">
            <a:avLst/>
          </a:prstGeom>
          <a:solidFill>
            <a:srgbClr val="2E8B57"/>
          </a:solidFill>
          <a:ln/>
          <a:effectLst>
            <a:outerShdw sx="100000" sy="100000" kx="0" ky="0" algn="bl" rotWithShape="0" blurRad="101600" dist="38100" dir="5400000">
              <a:srgbClr val="1E2761">
                <a:alpha val="18000"/>
              </a:srgbClr>
            </a:outerShdw>
          </a:effectLst>
        </p:spPr>
      </p:sp>
      <p:sp>
        <p:nvSpPr>
          <p:cNvPr id="20" name="Text 18"/>
          <p:cNvSpPr txBox="1"/>
          <p:nvPr/>
        </p:nvSpPr>
        <p:spPr>
          <a:xfrm>
            <a:off x="777240" y="298323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DL</a:t>
            </a:r>
            <a:endParaRPr lang="en-US" sz="1200" dirty="0"/>
          </a:p>
        </p:txBody>
      </p:sp>
      <p:sp>
        <p:nvSpPr>
          <p:cNvPr id="21" name="Text 19"/>
          <p:cNvSpPr txBox="1"/>
          <p:nvPr/>
        </p:nvSpPr>
        <p:spPr>
          <a:xfrm>
            <a:off x="1271016" y="2489454"/>
            <a:ext cx="3246120" cy="96240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weather responses cached (~30–60 min TTL).</a:t>
            </a:r>
            <a:endParaRPr lang="en-US" sz="960" dirty="0"/>
          </a:p>
        </p:txBody>
      </p:sp>
      <p:sp>
        <p:nvSpPr>
          <p:cNvPr id="22" name="Text 20"/>
          <p:cNvSpPr txBox="1"/>
          <p:nvPr/>
        </p:nvSpPr>
        <p:spPr>
          <a:xfrm>
            <a:off x="4645152" y="2471166"/>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23" name="Text 21"/>
          <p:cNvSpPr/>
          <p:nvPr/>
        </p:nvSpPr>
        <p:spPr>
          <a:xfrm>
            <a:off x="4645152" y="2663190"/>
            <a:ext cx="3351276" cy="78867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Repeated calls within TTL reuse cached value</a:t>
            </a:r>
            <a:endParaRPr lang="en-US" sz="860" dirty="0"/>
          </a:p>
        </p:txBody>
      </p:sp>
      <p:sp>
        <p:nvSpPr>
          <p:cNvPr id="24" name="Text 22"/>
          <p:cNvSpPr txBox="1"/>
          <p:nvPr/>
        </p:nvSpPr>
        <p:spPr>
          <a:xfrm>
            <a:off x="8124444" y="2471166"/>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25" name="Text 23"/>
          <p:cNvSpPr/>
          <p:nvPr/>
        </p:nvSpPr>
        <p:spPr>
          <a:xfrm>
            <a:off x="8124444" y="2663190"/>
            <a:ext cx="3351276" cy="78867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Cache keyed by area/lat-lon, 30–60 min TTL</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Wire getHeatIndex() to check/populate cache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Tunable TTL config constant</a:t>
            </a:r>
            <a:endParaRPr lang="en-US" sz="860" dirty="0"/>
          </a:p>
        </p:txBody>
      </p:sp>
      <p:sp>
        <p:nvSpPr>
          <p:cNvPr id="26" name="Shape 24"/>
          <p:cNvSpPr/>
          <p:nvPr/>
        </p:nvSpPr>
        <p:spPr>
          <a:xfrm>
            <a:off x="502920" y="3598164"/>
            <a:ext cx="11155680" cy="1108710"/>
          </a:xfrm>
          <a:prstGeom prst="roundRect">
            <a:avLst>
              <a:gd name="adj" fmla="val 7423"/>
            </a:avLst>
          </a:prstGeom>
          <a:solidFill>
            <a:srgbClr val="FFFFFF"/>
          </a:solidFill>
          <a:ln w="12700">
            <a:solidFill>
              <a:srgbClr val="E1E4F0"/>
            </a:solidFill>
            <a:prstDash val="solid"/>
          </a:ln>
        </p:spPr>
      </p:sp>
      <p:sp>
        <p:nvSpPr>
          <p:cNvPr id="27" name="Text 25"/>
          <p:cNvSpPr txBox="1"/>
          <p:nvPr/>
        </p:nvSpPr>
        <p:spPr>
          <a:xfrm>
            <a:off x="630936" y="3671316"/>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SCRUM-25</a:t>
            </a:r>
            <a:endParaRPr lang="en-US" sz="1000" dirty="0"/>
          </a:p>
        </p:txBody>
      </p:sp>
      <p:sp>
        <p:nvSpPr>
          <p:cNvPr id="28" name="Shape 26"/>
          <p:cNvSpPr/>
          <p:nvPr/>
        </p:nvSpPr>
        <p:spPr>
          <a:xfrm>
            <a:off x="630936" y="3927348"/>
            <a:ext cx="612648" cy="201168"/>
          </a:xfrm>
          <a:prstGeom prst="roundRect">
            <a:avLst>
              <a:gd name="adj" fmla="val 50000"/>
            </a:avLst>
          </a:prstGeom>
          <a:solidFill>
            <a:srgbClr val="FBF0DC"/>
          </a:solidFill>
          <a:ln/>
        </p:spPr>
      </p:sp>
      <p:sp>
        <p:nvSpPr>
          <p:cNvPr id="29" name="Text 27"/>
          <p:cNvSpPr txBox="1"/>
          <p:nvPr/>
        </p:nvSpPr>
        <p:spPr>
          <a:xfrm>
            <a:off x="630936" y="3927348"/>
            <a:ext cx="612648" cy="201168"/>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To Do</a:t>
            </a:r>
            <a:endParaRPr lang="en-US" sz="950" dirty="0"/>
          </a:p>
        </p:txBody>
      </p:sp>
      <p:sp>
        <p:nvSpPr>
          <p:cNvPr id="30" name="Shape 28"/>
          <p:cNvSpPr/>
          <p:nvPr/>
        </p:nvSpPr>
        <p:spPr>
          <a:xfrm>
            <a:off x="777240" y="4165092"/>
            <a:ext cx="274320" cy="274320"/>
          </a:xfrm>
          <a:prstGeom prst="ellipse">
            <a:avLst/>
          </a:prstGeom>
          <a:solidFill>
            <a:srgbClr val="C98A2E"/>
          </a:solidFill>
          <a:ln/>
          <a:effectLst>
            <a:outerShdw sx="100000" sy="100000" kx="0" ky="0" algn="bl" rotWithShape="0" blurRad="101600" dist="38100" dir="5400000">
              <a:srgbClr val="1E2761">
                <a:alpha val="18000"/>
              </a:srgbClr>
            </a:outerShdw>
          </a:effectLst>
        </p:spPr>
      </p:sp>
      <p:sp>
        <p:nvSpPr>
          <p:cNvPr id="31" name="Text 29"/>
          <p:cNvSpPr txBox="1"/>
          <p:nvPr/>
        </p:nvSpPr>
        <p:spPr>
          <a:xfrm>
            <a:off x="777240" y="4165092"/>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TW</a:t>
            </a:r>
            <a:endParaRPr lang="en-US" sz="1200" dirty="0"/>
          </a:p>
        </p:txBody>
      </p:sp>
      <p:sp>
        <p:nvSpPr>
          <p:cNvPr id="32" name="Text 30"/>
          <p:cNvSpPr txBox="1"/>
          <p:nvPr/>
        </p:nvSpPr>
        <p:spPr>
          <a:xfrm>
            <a:off x="1271016" y="3671316"/>
            <a:ext cx="3246120" cy="96240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fallback to last-known-good heat_index_f when weather API is down.</a:t>
            </a:r>
            <a:endParaRPr lang="en-US" sz="960" dirty="0"/>
          </a:p>
        </p:txBody>
      </p:sp>
      <p:sp>
        <p:nvSpPr>
          <p:cNvPr id="33" name="Text 31"/>
          <p:cNvSpPr txBox="1"/>
          <p:nvPr/>
        </p:nvSpPr>
        <p:spPr>
          <a:xfrm>
            <a:off x="4645152" y="3653028"/>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34" name="Text 32"/>
          <p:cNvSpPr/>
          <p:nvPr/>
        </p:nvSpPr>
        <p:spPr>
          <a:xfrm>
            <a:off x="4645152" y="3845052"/>
            <a:ext cx="3351276" cy="78867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On fetch failure, area keeps previous heat_index_f and logs the failure</a:t>
            </a:r>
            <a:endParaRPr lang="en-US" sz="860" dirty="0"/>
          </a:p>
        </p:txBody>
      </p:sp>
      <p:sp>
        <p:nvSpPr>
          <p:cNvPr id="35" name="Text 33"/>
          <p:cNvSpPr txBox="1"/>
          <p:nvPr/>
        </p:nvSpPr>
        <p:spPr>
          <a:xfrm>
            <a:off x="8124444" y="3653028"/>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36" name="Text 34"/>
          <p:cNvSpPr/>
          <p:nvPr/>
        </p:nvSpPr>
        <p:spPr>
          <a:xfrm>
            <a:off x="8124444" y="3845052"/>
            <a:ext cx="3351276" cy="78867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Wrap weatherService calls in try/catch</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Retain existing heat_index_f on failure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Batch continues past one failure</a:t>
            </a:r>
            <a:endParaRPr lang="en-US" sz="860" dirty="0"/>
          </a:p>
        </p:txBody>
      </p:sp>
      <p:sp>
        <p:nvSpPr>
          <p:cNvPr id="37" name="Shape 35"/>
          <p:cNvSpPr/>
          <p:nvPr/>
        </p:nvSpPr>
        <p:spPr>
          <a:xfrm>
            <a:off x="502920" y="4780026"/>
            <a:ext cx="11155680" cy="1108710"/>
          </a:xfrm>
          <a:prstGeom prst="roundRect">
            <a:avLst>
              <a:gd name="adj" fmla="val 7423"/>
            </a:avLst>
          </a:prstGeom>
          <a:solidFill>
            <a:srgbClr val="FFFFFF"/>
          </a:solidFill>
          <a:ln w="12700">
            <a:solidFill>
              <a:srgbClr val="E1E4F0"/>
            </a:solidFill>
            <a:prstDash val="solid"/>
          </a:ln>
        </p:spPr>
      </p:sp>
      <p:sp>
        <p:nvSpPr>
          <p:cNvPr id="38" name="Text 36"/>
          <p:cNvSpPr txBox="1"/>
          <p:nvPr/>
        </p:nvSpPr>
        <p:spPr>
          <a:xfrm>
            <a:off x="630936" y="4853178"/>
            <a:ext cx="566928" cy="237744"/>
          </a:xfrm>
          <a:prstGeom prst="rect">
            <a:avLst/>
          </a:prstGeom>
          <a:noFill/>
          <a:ln/>
        </p:spPr>
        <p:txBody>
          <a:bodyPr wrap="square" lIns="0" tIns="0" rIns="0" bIns="0" rtlCol="0" anchor="ctr"/>
          <a:lstStyle/>
          <a:p>
            <a:pPr indent="0" marL="0">
              <a:buNone/>
            </a:pPr>
            <a:r>
              <a:rPr lang="en-US" sz="1000" b="1" dirty="0">
                <a:solidFill>
                  <a:srgbClr val="1E2761"/>
                </a:solidFill>
                <a:latin typeface="Calibri" pitchFamily="34" charset="0"/>
                <a:ea typeface="Calibri" pitchFamily="34" charset="-122"/>
                <a:cs typeface="Calibri" pitchFamily="34" charset="-120"/>
              </a:rPr>
              <a:t>SCRUM-26</a:t>
            </a:r>
            <a:endParaRPr lang="en-US" sz="1000" dirty="0"/>
          </a:p>
        </p:txBody>
      </p:sp>
      <p:sp>
        <p:nvSpPr>
          <p:cNvPr id="39" name="Shape 37"/>
          <p:cNvSpPr/>
          <p:nvPr/>
        </p:nvSpPr>
        <p:spPr>
          <a:xfrm>
            <a:off x="630936" y="5109210"/>
            <a:ext cx="612648" cy="201168"/>
          </a:xfrm>
          <a:prstGeom prst="roundRect">
            <a:avLst>
              <a:gd name="adj" fmla="val 50000"/>
            </a:avLst>
          </a:prstGeom>
          <a:solidFill>
            <a:srgbClr val="FBF0DC"/>
          </a:solidFill>
          <a:ln/>
        </p:spPr>
      </p:sp>
      <p:sp>
        <p:nvSpPr>
          <p:cNvPr id="40" name="Text 38"/>
          <p:cNvSpPr txBox="1"/>
          <p:nvPr/>
        </p:nvSpPr>
        <p:spPr>
          <a:xfrm>
            <a:off x="630936" y="5109210"/>
            <a:ext cx="612648" cy="201168"/>
          </a:xfrm>
          <a:prstGeom prst="rect">
            <a:avLst/>
          </a:prstGeom>
          <a:noFill/>
          <a:ln/>
        </p:spPr>
        <p:txBody>
          <a:bodyPr wrap="square" lIns="0" tIns="0" rIns="0" bIns="0" rtlCol="0" anchor="ctr"/>
          <a:lstStyle/>
          <a:p>
            <a:pPr algn="ctr" indent="0" marL="0">
              <a:buNone/>
            </a:pPr>
            <a:r>
              <a:rPr lang="en-US" sz="950" b="1" dirty="0">
                <a:solidFill>
                  <a:srgbClr val="C98A2E"/>
                </a:solidFill>
                <a:latin typeface="Calibri" pitchFamily="34" charset="0"/>
                <a:ea typeface="Calibri" pitchFamily="34" charset="-122"/>
                <a:cs typeface="Calibri" pitchFamily="34" charset="-120"/>
              </a:rPr>
              <a:t>To Do</a:t>
            </a:r>
            <a:endParaRPr lang="en-US" sz="950" dirty="0"/>
          </a:p>
        </p:txBody>
      </p:sp>
      <p:sp>
        <p:nvSpPr>
          <p:cNvPr id="41" name="Shape 39"/>
          <p:cNvSpPr/>
          <p:nvPr/>
        </p:nvSpPr>
        <p:spPr>
          <a:xfrm>
            <a:off x="777240" y="5346954"/>
            <a:ext cx="274320" cy="274320"/>
          </a:xfrm>
          <a:prstGeom prst="ellipse">
            <a:avLst/>
          </a:prstGeom>
          <a:solidFill>
            <a:srgbClr val="C98A2E"/>
          </a:solidFill>
          <a:ln/>
          <a:effectLst>
            <a:outerShdw sx="100000" sy="100000" kx="0" ky="0" algn="bl" rotWithShape="0" blurRad="101600" dist="38100" dir="5400000">
              <a:srgbClr val="1E2761">
                <a:alpha val="18000"/>
              </a:srgbClr>
            </a:outerShdw>
          </a:effectLst>
        </p:spPr>
      </p:sp>
      <p:sp>
        <p:nvSpPr>
          <p:cNvPr id="42" name="Text 40"/>
          <p:cNvSpPr txBox="1"/>
          <p:nvPr/>
        </p:nvSpPr>
        <p:spPr>
          <a:xfrm>
            <a:off x="777240" y="534695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TW</a:t>
            </a:r>
            <a:endParaRPr lang="en-US" sz="1200" dirty="0"/>
          </a:p>
        </p:txBody>
      </p:sp>
      <p:sp>
        <p:nvSpPr>
          <p:cNvPr id="43" name="Text 41"/>
          <p:cNvSpPr txBox="1"/>
          <p:nvPr/>
        </p:nvSpPr>
        <p:spPr>
          <a:xfrm>
            <a:off x="1271016" y="4853178"/>
            <a:ext cx="3246120" cy="962406"/>
          </a:xfrm>
          <a:prstGeom prst="rect">
            <a:avLst/>
          </a:prstGeom>
          <a:noFill/>
          <a:ln/>
        </p:spPr>
        <p:txBody>
          <a:bodyPr wrap="square" lIns="0" tIns="0" rIns="0" bIns="0" rtlCol="0" anchor="t"/>
          <a:lstStyle/>
          <a:p>
            <a:pPr indent="0" marL="0">
              <a:lnSpc>
                <a:spcPct val="105000"/>
              </a:lnSpc>
              <a:buNone/>
            </a:pPr>
            <a:r>
              <a:rPr lang="en-US" sz="960" dirty="0">
                <a:solidFill>
                  <a:srgbClr val="2B2B2B"/>
                </a:solidFill>
                <a:latin typeface="Calibri" pitchFamily="34" charset="0"/>
                <a:ea typeface="Calibri" pitchFamily="34" charset="-122"/>
                <a:cs typeface="Calibri" pitchFamily="34" charset="-120"/>
              </a:rPr>
              <a:t>Dev (cross-cutting): recompute job pulls live weather + demographic data before scoring.</a:t>
            </a:r>
            <a:endParaRPr lang="en-US" sz="960" dirty="0"/>
          </a:p>
        </p:txBody>
      </p:sp>
      <p:sp>
        <p:nvSpPr>
          <p:cNvPr id="44" name="Text 42"/>
          <p:cNvSpPr txBox="1"/>
          <p:nvPr/>
        </p:nvSpPr>
        <p:spPr>
          <a:xfrm>
            <a:off x="4645152" y="4834890"/>
            <a:ext cx="3351276" cy="164592"/>
          </a:xfrm>
          <a:prstGeom prst="rect">
            <a:avLst/>
          </a:prstGeom>
          <a:noFill/>
          <a:ln/>
        </p:spPr>
        <p:txBody>
          <a:bodyPr wrap="square" lIns="0" tIns="0" rIns="0" bIns="0" rtlCol="0" anchor="ctr"/>
          <a:lstStyle/>
          <a:p>
            <a:pPr indent="0" marL="0">
              <a:buNone/>
            </a:pPr>
            <a:r>
              <a:rPr lang="en-US" sz="750" b="1" spc="50" kern="0" dirty="0">
                <a:solidFill>
                  <a:srgbClr val="E8543A"/>
                </a:solidFill>
                <a:latin typeface="Calibri" pitchFamily="34" charset="0"/>
                <a:ea typeface="Calibri" pitchFamily="34" charset="-122"/>
                <a:cs typeface="Calibri" pitchFamily="34" charset="-120"/>
              </a:rPr>
              <a:t>ACCEPTANCE CRITERIA</a:t>
            </a:r>
            <a:endParaRPr lang="en-US" sz="750" dirty="0"/>
          </a:p>
        </p:txBody>
      </p:sp>
      <p:sp>
        <p:nvSpPr>
          <p:cNvPr id="45" name="Text 43"/>
          <p:cNvSpPr/>
          <p:nvPr/>
        </p:nvSpPr>
        <p:spPr>
          <a:xfrm>
            <a:off x="4645152" y="5026914"/>
            <a:ext cx="3351276" cy="78867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Both services called per area; one area's failure doesn't abort the batch</a:t>
            </a:r>
            <a:endParaRPr lang="en-US" sz="860" dirty="0"/>
          </a:p>
        </p:txBody>
      </p:sp>
      <p:sp>
        <p:nvSpPr>
          <p:cNvPr id="46" name="Text 44"/>
          <p:cNvSpPr txBox="1"/>
          <p:nvPr/>
        </p:nvSpPr>
        <p:spPr>
          <a:xfrm>
            <a:off x="8124444" y="4834890"/>
            <a:ext cx="3351276" cy="164592"/>
          </a:xfrm>
          <a:prstGeom prst="rect">
            <a:avLst/>
          </a:prstGeom>
          <a:noFill/>
          <a:ln/>
        </p:spPr>
        <p:txBody>
          <a:bodyPr wrap="square" lIns="0" tIns="0" rIns="0" bIns="0" rtlCol="0" anchor="ctr"/>
          <a:lstStyle/>
          <a:p>
            <a:pPr indent="0" marL="0">
              <a:buNone/>
            </a:pPr>
            <a:r>
              <a:rPr lang="en-US" sz="750" b="1" spc="50" kern="0" dirty="0">
                <a:solidFill>
                  <a:srgbClr val="1E2761"/>
                </a:solidFill>
                <a:latin typeface="Calibri" pitchFamily="34" charset="0"/>
                <a:ea typeface="Calibri" pitchFamily="34" charset="-122"/>
                <a:cs typeface="Calibri" pitchFamily="34" charset="-120"/>
              </a:rPr>
              <a:t>DEV TASKS</a:t>
            </a:r>
            <a:endParaRPr lang="en-US" sz="750" dirty="0"/>
          </a:p>
        </p:txBody>
      </p:sp>
      <p:sp>
        <p:nvSpPr>
          <p:cNvPr id="47" name="Text 45"/>
          <p:cNvSpPr/>
          <p:nvPr/>
        </p:nvSpPr>
        <p:spPr>
          <a:xfrm>
            <a:off x="8124444" y="5026914"/>
            <a:ext cx="3351276" cy="788670"/>
          </a:xfrm>
          <a:prstGeom prst="rect">
            <a:avLst/>
          </a:prstGeom>
          <a:noFill/>
          <a:ln/>
        </p:spPr>
        <p:txBody>
          <a:bodyPr wrap="square" lIns="0" tIns="0" rIns="0" bIns="0" rtlCol="0" anchor="t"/>
          <a:lstStyle/>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Call weatherService + demographicsService per area before computeVulnerabilityScore()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Persist updated fields alongside new risk_score</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Try/catch per area</a:t>
            </a:r>
            <a:endParaRPr lang="en-US" sz="860" dirty="0"/>
          </a:p>
          <a:p>
            <a:pPr marL="152400" indent="-152400">
              <a:lnSpc>
                <a:spcPct val="108000"/>
              </a:lnSpc>
              <a:buSzPct val="100000"/>
              <a:buChar char="•"/>
            </a:pPr>
            <a:r>
              <a:rPr lang="en-US" sz="860" dirty="0">
                <a:solidFill>
                  <a:srgbClr val="2B2B2B"/>
                </a:solidFill>
                <a:latin typeface="Calibri" pitchFamily="34" charset="0"/>
                <a:ea typeface="Calibri" pitchFamily="34" charset="-122"/>
                <a:cs typeface="Calibri" pitchFamily="34" charset="-120"/>
              </a:rPr>
              <a:t>Summary log line (processed/succeeded/failed)</a:t>
            </a:r>
            <a:endParaRPr lang="en-US" sz="860" dirty="0"/>
          </a:p>
        </p:txBody>
      </p:sp>
      <p:sp>
        <p:nvSpPr>
          <p:cNvPr id="48" name="Text 46"/>
          <p:cNvSpPr/>
          <p:nvPr/>
        </p:nvSpPr>
        <p:spPr>
          <a:xfrm>
            <a:off x="548640" y="6355080"/>
            <a:ext cx="11064240" cy="274320"/>
          </a:xfrm>
          <a:prstGeom prst="rect">
            <a:avLst/>
          </a:prstGeom>
          <a:noFill/>
          <a:ln/>
        </p:spPr>
        <p:txBody>
          <a:bodyPr wrap="square" lIns="0" tIns="0" rIns="0" bIns="0" rtlCol="0" anchor="ctr"/>
          <a:lstStyle/>
          <a:p>
            <a:pPr indent="0" marL="0">
              <a:buNone/>
            </a:pPr>
            <a:r>
              <a:rPr lang="en-US" sz="950" i="1" dirty="0">
                <a:solidFill>
                  <a:srgbClr val="6B7280"/>
                </a:solidFill>
                <a:latin typeface="Calibri" pitchFamily="34" charset="0"/>
                <a:ea typeface="Calibri" pitchFamily="34" charset="-122"/>
                <a:cs typeface="Calibri" pitchFamily="34" charset="-120"/>
              </a:rPr>
              <a:t>SCRUM-26 is cross-cutting (Teyana) — it ties the Weather and Demographic epics together in one recompute pass.</a:t>
            </a:r>
            <a:endParaRPr lang="en-US" sz="950" dirty="0"/>
          </a:p>
        </p:txBody>
      </p:sp>
      <p:sp>
        <p:nvSpPr>
          <p:cNvPr id="49" name="Text 47"/>
          <p:cNvSpPr/>
          <p:nvPr/>
        </p:nvSpPr>
        <p:spPr>
          <a:xfrm>
            <a:off x="457200" y="6473952"/>
            <a:ext cx="91440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Heat Relief Network  •  Team 5 — Sprint 0 Presentation  •  CINS 5388</a:t>
            </a:r>
            <a:endParaRPr lang="en-US" sz="900" dirty="0"/>
          </a:p>
        </p:txBody>
      </p:sp>
      <p:sp>
        <p:nvSpPr>
          <p:cNvPr id="50" name="Text 48"/>
          <p:cNvSpPr/>
          <p:nvPr/>
        </p:nvSpPr>
        <p:spPr>
          <a:xfrm>
            <a:off x="11247120" y="6473952"/>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61520" cy="128016"/>
          </a:xfrm>
          <a:prstGeom prst="rect">
            <a:avLst/>
          </a:prstGeom>
          <a:solidFill>
            <a:srgbClr val="E8543A"/>
          </a:solidFill>
          <a:ln/>
        </p:spPr>
      </p:sp>
      <p:sp>
        <p:nvSpPr>
          <p:cNvPr id="3" name="Text 1"/>
          <p:cNvSpPr txBox="1"/>
          <p:nvPr/>
        </p:nvSpPr>
        <p:spPr>
          <a:xfrm>
            <a:off x="822960" y="2651760"/>
            <a:ext cx="1051560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4" name="Text 2"/>
          <p:cNvSpPr txBox="1"/>
          <p:nvPr/>
        </p:nvSpPr>
        <p:spPr>
          <a:xfrm>
            <a:off x="822960" y="3429000"/>
            <a:ext cx="10515600" cy="548640"/>
          </a:xfrm>
          <a:prstGeom prst="rect">
            <a:avLst/>
          </a:prstGeom>
          <a:noFill/>
          <a:ln/>
        </p:spPr>
        <p:txBody>
          <a:bodyPr wrap="square" lIns="0" tIns="0" rIns="0" bIns="0" rtlCol="0" anchor="ctr"/>
          <a:lstStyle/>
          <a:p>
            <a:pPr indent="0" marL="0">
              <a:buNone/>
            </a:pPr>
            <a:r>
              <a:rPr lang="en-US" sz="1800" dirty="0">
                <a:solidFill>
                  <a:srgbClr val="C9CCE8"/>
                </a:solidFill>
                <a:latin typeface="Calibri" pitchFamily="34" charset="0"/>
                <a:ea typeface="Calibri" pitchFamily="34" charset="-122"/>
                <a:cs typeface="Calibri" pitchFamily="34" charset="-120"/>
              </a:rPr>
              <a:t>Questions?</a:t>
            </a:r>
            <a:endParaRPr lang="en-US" sz="1800" dirty="0"/>
          </a:p>
        </p:txBody>
      </p:sp>
      <p:sp>
        <p:nvSpPr>
          <p:cNvPr id="5" name="Text 3"/>
          <p:cNvSpPr txBox="1"/>
          <p:nvPr/>
        </p:nvSpPr>
        <p:spPr>
          <a:xfrm>
            <a:off x="822960" y="6309360"/>
            <a:ext cx="10515600" cy="320040"/>
          </a:xfrm>
          <a:prstGeom prst="rect">
            <a:avLst/>
          </a:prstGeom>
          <a:noFill/>
          <a:ln/>
        </p:spPr>
        <p:txBody>
          <a:bodyPr wrap="square" lIns="0" tIns="0" rIns="0" bIns="0" rtlCol="0" anchor="ctr"/>
          <a:lstStyle/>
          <a:p>
            <a:pPr indent="0" marL="0">
              <a:buNone/>
            </a:pPr>
            <a:r>
              <a:rPr lang="en-US" sz="1100" dirty="0">
                <a:solidFill>
                  <a:srgbClr val="9AA0C7"/>
                </a:solidFill>
                <a:latin typeface="Calibri" pitchFamily="34" charset="0"/>
                <a:ea typeface="Calibri" pitchFamily="34" charset="-122"/>
                <a:cs typeface="Calibri" pitchFamily="34" charset="-120"/>
              </a:rPr>
              <a:t>Heat Relief Network — Team 5   •   Sprint 0 Presentation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2026-09-15T21:27:43Z</dcterms:created>
  <dcterms:modified xsi:type="dcterms:W3CDTF">2026-09-15T21:27:43Z</dcterms:modified>
</cp:coreProperties>
</file>