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858000" cy="6858000"/>
          </a:xfrm>
          <a:prstGeom prst="ellipse">
            <a:avLst/>
          </a:prstGeom>
          <a:solidFill>
            <a:srgbClr val="E8543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669280" cy="5669280"/>
          </a:xfrm>
          <a:prstGeom prst="ellipse">
            <a:avLst/>
          </a:prstGeom>
          <a:solidFill>
            <a:srgbClr val="C98A2E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PRAIRIE VIEW A&amp;M UNIVERSITY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 RELIEF NETWORK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Community Platform for Cooling Centers &amp; Heat Safety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252C6B"/>
          </a:solidFill>
          <a:ln w="12700">
            <a:solidFill>
              <a:srgbClr val="3A42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CINS 5338 / 5388 — Software Project Management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5394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Team 5  •  Checkpoint Presentation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151790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21408"/>
            <a:ext cx="365760" cy="36576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08483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Vision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88336"/>
            <a:ext cx="365760" cy="3657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651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Benefits of the System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255264"/>
            <a:ext cx="365760" cy="36576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21868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65760" cy="3657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378561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Stack Works Together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389120"/>
            <a:ext cx="365760" cy="36576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435254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Environments / Tools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" y="4956048"/>
            <a:ext cx="365760" cy="3657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491947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0080" y="5522976"/>
            <a:ext cx="365760" cy="36576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0080" y="5522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70432" y="5486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309360" y="1554480"/>
            <a:ext cx="365760" cy="3657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3093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39712" y="151790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309360" y="2121408"/>
            <a:ext cx="365760" cy="36576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30936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39712" y="208483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309360" y="2688336"/>
            <a:ext cx="365760" cy="3657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30936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39712" y="2651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Product Backlog in Jira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309360" y="3255264"/>
            <a:ext cx="365760" cy="36576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309360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39712" y="321868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Selected for Sprint 1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6309360" y="3822192"/>
            <a:ext cx="365760" cy="3657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30936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839712" y="378561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Directory — Pilot Region Update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6309360" y="4389120"/>
            <a:ext cx="365760" cy="36576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30936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839712" y="435254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Team Assignments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6309360" y="4956048"/>
            <a:ext cx="365760" cy="3657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630936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839712" y="491947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of Story 1 – 6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6309360" y="5522976"/>
            <a:ext cx="365760" cy="36576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6309360" y="5522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839712" y="5486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Description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heat is the deadliest weather hazard in the United States, and the people most at risk — older residents, low-income households, and anyone without reliable air conditioning — are often the same people least able to find out where a cooling center or water station is open right now.</a:t>
            </a:r>
            <a:endParaRPr lang="en-US" sz="133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81528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governments and relief organizations run these sites, but without a shared, real-time system, residents have no reliable way to check what's open, and organizations have no clear, data-driven way to see which neighborhoods need outreach most urgently.</a:t>
            </a:r>
            <a:endParaRPr lang="en-US" sz="133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62856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 Relief Network closes both gaps: a resident-facing map and directory of live cooling/water sites and active heat alerts, plus an org-facing priority-matching engine that ranks areas by heat vulnerability so limited outreach resources go where they matter most.</a:t>
            </a:r>
            <a:endParaRPr lang="en-US" sz="1330" dirty="0"/>
          </a:p>
        </p:txBody>
      </p:sp>
      <p:sp>
        <p:nvSpPr>
          <p:cNvPr id="6" name="Shape 4"/>
          <p:cNvSpPr/>
          <p:nvPr/>
        </p:nvSpPr>
        <p:spPr>
          <a:xfrm>
            <a:off x="7772400" y="1600200"/>
            <a:ext cx="3840480" cy="1024128"/>
          </a:xfrm>
          <a:prstGeom prst="roundRect">
            <a:avLst>
              <a:gd name="adj" fmla="val 8036"/>
            </a:avLst>
          </a:prstGeom>
          <a:solidFill>
            <a:srgbClr val="FDE8E4"/>
          </a:solidFill>
          <a:ln w="12700">
            <a:solidFill>
              <a:srgbClr val="F4C9C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973568" y="1709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973568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&amp; Alerts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7772400" y="2807208"/>
            <a:ext cx="3840480" cy="1024128"/>
          </a:xfrm>
          <a:prstGeom prst="roundRect">
            <a:avLst>
              <a:gd name="adj" fmla="val 8036"/>
            </a:avLst>
          </a:prstGeom>
          <a:solidFill>
            <a:srgbClr val="FDE8E4"/>
          </a:solidFill>
          <a:ln w="12700">
            <a:solidFill>
              <a:srgbClr val="F4C9C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973568" y="29169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Outdated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973568" y="32644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Status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7772400" y="4014216"/>
            <a:ext cx="3840480" cy="1024128"/>
          </a:xfrm>
          <a:prstGeom prst="roundRect">
            <a:avLst>
              <a:gd name="adj" fmla="val 8036"/>
            </a:avLst>
          </a:prstGeom>
          <a:solidFill>
            <a:srgbClr val="FDE8E4"/>
          </a:solidFill>
          <a:ln w="12700">
            <a:solidFill>
              <a:srgbClr val="F4C9C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973568" y="41239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Ranked View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973568" y="44714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Highest-Need Areas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7772400" y="5221224"/>
            <a:ext cx="3840480" cy="1024128"/>
          </a:xfrm>
          <a:prstGeom prst="roundRect">
            <a:avLst>
              <a:gd name="adj" fmla="val 8036"/>
            </a:avLst>
          </a:prstGeom>
          <a:solidFill>
            <a:srgbClr val="FDE8E4"/>
          </a:solidFill>
          <a:ln w="12700">
            <a:solidFill>
              <a:srgbClr val="F4C9C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973568" y="5330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Spreadsheet-Driven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973568" y="56784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Planning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Vision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6675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 behind the Heat Relief Network is a single, always-current source of truth for heat relief in a community — one residents can check from any device to find help nearby, and one partner organizations can use to decide where to send it.</a:t>
            </a:r>
            <a:endParaRPr lang="en-US" sz="1360" dirty="0"/>
          </a:p>
          <a:p>
            <a:pPr indent="0" marL="0">
              <a:lnSpc>
                <a:spcPct val="125000"/>
              </a:lnSpc>
              <a:buNone/>
            </a:pPr>
            <a:endParaRPr lang="en-US" sz="13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residents, that means a simple map and list of cooling centers and water stations with live open/closed status, plus active heat alerts for their area — no more calling around or guessing which locations are actually staffed today.</a:t>
            </a:r>
            <a:endParaRPr lang="en-US" sz="1360" dirty="0"/>
          </a:p>
          <a:p>
            <a:pPr indent="0" marL="0">
              <a:lnSpc>
                <a:spcPct val="125000"/>
              </a:lnSpc>
              <a:buNone/>
            </a:pPr>
            <a:endParaRPr lang="en-US" sz="13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organizations, it means moving from static spreadsheets to a live, ranked view of need: a heat-vulnerability score for every tracked area, combining current heat index with demographic risk factors, and adjusted for how far the nearest open site already is.</a:t>
            </a:r>
            <a:endParaRPr lang="en-US" sz="1360" dirty="0"/>
          </a:p>
        </p:txBody>
      </p:sp>
      <p:sp>
        <p:nvSpPr>
          <p:cNvPr id="4" name="Shape 2"/>
          <p:cNvSpPr/>
          <p:nvPr/>
        </p:nvSpPr>
        <p:spPr>
          <a:xfrm>
            <a:off x="7589520" y="1783080"/>
            <a:ext cx="4023360" cy="4206240"/>
          </a:xfrm>
          <a:prstGeom prst="roundRect">
            <a:avLst>
              <a:gd name="adj" fmla="val 2045"/>
            </a:avLst>
          </a:prstGeom>
          <a:solidFill>
            <a:srgbClr val="1E2761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818120" y="18288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A42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6517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map. One ranked list. Every heat-relief resource going where it's needed most.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955280" y="4343400"/>
            <a:ext cx="914400" cy="0"/>
          </a:xfrm>
          <a:prstGeom prst="line">
            <a:avLst/>
          </a:prstGeom>
          <a:noFill/>
          <a:ln w="31750">
            <a:solidFill>
              <a:srgbClr val="E854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0" y="4526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 statement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and Benefits of the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709928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8600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Site Search &amp; Status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43200"/>
            <a:ext cx="3209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search cooling/water sites near them and see live open/closed status — no more outdated lists.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16552" y="15087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709928"/>
            <a:ext cx="457200" cy="45720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1772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28600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Priority-Area Matching Engine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743200"/>
            <a:ext cx="3209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rule-based heat-vulnerability index ranks every area by heat index + demographic risk.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284464" y="15087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85632" y="1709928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8563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85632" y="228600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Distance-Aware Resource Gap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8485632" y="2743200"/>
            <a:ext cx="3209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far from any open site score higher, surfacing under-resourced high-need areas automatically.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8640" y="3730752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3931920"/>
            <a:ext cx="457200" cy="45720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49808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50799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 Priority Dashboard</a:t>
            </a:r>
            <a:endParaRPr lang="en-US" sz="132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965192"/>
            <a:ext cx="3209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ranked, filterable table with one-click recompute replaces reading raw JSON or spreadsheets.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416552" y="3730752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3931920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6177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450799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Map-Based Priority Overlay</a:t>
            </a:r>
            <a:endParaRPr lang="en-US" sz="132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965192"/>
            <a:ext cx="3209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toggleable colored-circle layer shows residents and partners exactly where risk is concentrated.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284464" y="3730752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85632" y="3931920"/>
            <a:ext cx="457200" cy="45720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485632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485632" y="450799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Data, Today</a:t>
            </a:r>
            <a:endParaRPr lang="en-US" sz="1320" dirty="0"/>
          </a:p>
        </p:txBody>
      </p:sp>
      <p:sp>
        <p:nvSpPr>
          <p:cNvPr id="32" name="Text 30"/>
          <p:cNvSpPr txBox="1"/>
          <p:nvPr/>
        </p:nvSpPr>
        <p:spPr>
          <a:xfrm>
            <a:off x="8485632" y="4965192"/>
            <a:ext cx="3209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a working, documented model now, with a clear upgrade path to live weather + Census data.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99616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52728" y="1426464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170078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 / CSS / JavaScript — no build step — with Leaflet.js for the interactive map and OpenStreetMap tiles.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457200" cy="45720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52728" y="2212848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48716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Express, serving REST routes: /api/sites, /api/alerts, /api/orgs, /api/risk-areas.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94360" y="3072384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52728" y="2999232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27355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17+ with the PostGIS extension for spatial / proximity ("nearest open site") queries.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94360" y="3858768"/>
            <a:ext cx="457200" cy="45720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9436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52728" y="3785616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Libraries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05993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(node-postgres) for DB access, cors for cross-origin requests, dotenv for config/secrets.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94360" y="4645152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9436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52728" y="4572000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484632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rule-based JS heat-vulnerability scorer (riskScore.js) — transparent, no ML runtime dependency yet.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594360" y="5431536"/>
            <a:ext cx="457200" cy="45720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9436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52728" y="5358384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Integrations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252728" y="563270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Weather Service API, U.S. Census Bureau ACS API, Twilio (SMS), Firebase Cloud Messaging (push).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Stack Works Together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9019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0428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— HTML/CSS/JS</a:t>
            </a:r>
            <a:endParaRPr lang="en-US" sz="11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Leaflet map (OpenStreetMap tiles)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4617720" y="173736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00600" y="19019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230428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D8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API</a:t>
            </a:r>
            <a:endParaRPr lang="en-US" sz="11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D8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· alerts · orgs · risk-areas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8595360" y="173736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778240" y="19019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230428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 + PostGIS</a:t>
            </a:r>
            <a:endParaRPr lang="en-US" sz="11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/ proximity queries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3749040" y="2514600"/>
            <a:ext cx="822960" cy="0"/>
          </a:xfrm>
          <a:prstGeom prst="line">
            <a:avLst/>
          </a:prstGeom>
          <a:noFill/>
          <a:ln w="28575">
            <a:solidFill>
              <a:srgbClr val="E8543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26680" y="2514600"/>
            <a:ext cx="822960" cy="0"/>
          </a:xfrm>
          <a:prstGeom prst="line">
            <a:avLst/>
          </a:prstGeom>
          <a:noFill/>
          <a:ln w="28575">
            <a:solidFill>
              <a:srgbClr val="E8543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200400" y="11155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cors-enabled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calls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11155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(node-postgres)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BF0DC"/>
          </a:solidFill>
          <a:ln w="12700">
            <a:solidFill>
              <a:srgbClr val="EFD9AE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3813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1056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riskScore.js computes a 0–100 vulnerability score from heat index + demographic inputs already in the areas table; recomputeAllRiskScores.js is the batch job that will refresh those inputs once weather/Census integration lands.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800600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BF0DC"/>
          </a:solidFill>
          <a:ln w="12700">
            <a:solidFill>
              <a:srgbClr val="EFD9AE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4910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Secrets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20293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loads the database URL (and future API keys) from a local .env file kept out of version control.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Environments / Tools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52728" y="1481328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Machine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175564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Terminal + Homebrew (brew install node, postgresql@17, postgis).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94360" y="2450592"/>
            <a:ext cx="457200" cy="45720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52728" y="2377440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65176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(LTS) + npm, bundled with it, for installing packages and running the server.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94360" y="3346704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52728" y="3273552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5478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(or equivalent) for backend, frontend, and SQL editing.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94360" y="4242816"/>
            <a:ext cx="457200" cy="45720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9436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52728" y="4169664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Preview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4398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static file server for local testing — npx serve or python3 -m http.server — a convenience, not a dependency.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94360" y="5138928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9436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52728" y="5065776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53400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/ Postman for exercising REST endpoints during development.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— ADDITIONAL TOOLS &amp; HARDWARE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Environments /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18488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1545336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18196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collaboration — github.com/jwhawkins68/heat-relief-network, main / develop / feature-branch / PR workflow.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94360" y="2514600"/>
            <a:ext cx="457200" cy="45720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943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441448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(Atlassian Cloud)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271576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board, sprint planning, backlog and story-point tracking — project "HeatSafe" (key SCRUM).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594360" y="3703320"/>
            <a:ext cx="10972800" cy="1828800"/>
          </a:xfrm>
          <a:prstGeom prst="roundRect">
            <a:avLst>
              <a:gd name="adj" fmla="val 4500"/>
            </a:avLst>
          </a:prstGeom>
          <a:solidFill>
            <a:srgbClr val="FDE8E4"/>
          </a:solidFill>
          <a:ln w="12700">
            <a:solidFill>
              <a:srgbClr val="F4C9C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977640"/>
            <a:ext cx="502920" cy="50292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950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37083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specialized hardware is required. Any laptop — Mac, Windows, or Linux — capable of running Node.js and a local PostgreSQL instance is sufficient for development. The priority-matching feature currently runs on a lightweight, rule-based scoring function rather than a trained model, so no GPU or elevated compute is needed at this stage.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7315200" cy="1143000"/>
          </a:xfrm>
          <a:prstGeom prst="roundRect">
            <a:avLst>
              <a:gd name="adj" fmla="val 7200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3677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Tier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map/list (index.html)</a:t>
            </a:r>
            <a:endParaRPr lang="en-US" sz="11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 portal (admin.html)</a:t>
            </a:r>
            <a:endParaRPr lang="en-US" sz="11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+ OpenStreetMap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7315200" cy="1143000"/>
          </a:xfrm>
          <a:prstGeom prst="roundRect">
            <a:avLst>
              <a:gd name="adj" fmla="val 7200"/>
            </a:avLst>
          </a:prstGeom>
          <a:solidFill>
            <a:srgbClr val="1E2761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31912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204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D8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routes: sites, alerts, orgs, risk-areas</a:t>
            </a:r>
            <a:endParaRPr lang="en-US" sz="11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D8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riskScore.js — heat-vulnerability scoring engine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40080" y="4617720"/>
            <a:ext cx="7315200" cy="1143000"/>
          </a:xfrm>
          <a:prstGeom prst="roundRect">
            <a:avLst>
              <a:gd name="adj" fmla="val 7200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47457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074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 + PostGIS</a:t>
            </a:r>
            <a:endParaRPr lang="en-US" sz="11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· sites · orgs · alerts tables + spatial index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4297680" y="2679192"/>
            <a:ext cx="0" cy="356616"/>
          </a:xfrm>
          <a:prstGeom prst="line">
            <a:avLst/>
          </a:prstGeom>
          <a:noFill/>
          <a:ln w="28575">
            <a:solidFill>
              <a:srgbClr val="E8543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4233672"/>
            <a:ext cx="0" cy="356616"/>
          </a:xfrm>
          <a:prstGeom prst="line">
            <a:avLst/>
          </a:prstGeom>
          <a:noFill/>
          <a:ln w="28575">
            <a:solidFill>
              <a:srgbClr val="E8543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75320" y="2286000"/>
            <a:ext cx="3337560" cy="2743200"/>
          </a:xfrm>
          <a:prstGeom prst="roundRect">
            <a:avLst>
              <a:gd name="adj" fmla="val 3000"/>
            </a:avLst>
          </a:prstGeom>
          <a:solidFill>
            <a:srgbClr val="FBF0DC"/>
          </a:solidFill>
          <a:ln w="12700">
            <a:solidFill>
              <a:srgbClr val="EFD9AE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503920" y="2450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Integrations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8346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National Weather Service API</a:t>
            </a:r>
            <a:endParaRPr lang="en-US" sz="116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U.S. Census Bureau ACS API</a:t>
            </a:r>
            <a:endParaRPr lang="en-US" sz="116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Twilio (SMS alerts)</a:t>
            </a:r>
            <a:endParaRPr lang="en-US" sz="116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Firebase Cloud Messaging (push)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973568" y="3520440"/>
            <a:ext cx="301752" cy="-137160"/>
          </a:xfrm>
          <a:prstGeom prst="line">
            <a:avLst/>
          </a:prstGeom>
          <a:noFill/>
          <a:ln w="22225">
            <a:solidFill>
              <a:srgbClr val="C98A2E"/>
            </a:solidFill>
            <a:prstDash val="dash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527048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52728" y="1453896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1728216"/>
            <a:ext cx="5925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github.com/jwhawkins68/heat-relief-network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94360" y="2423160"/>
            <a:ext cx="457200" cy="45720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52728" y="2350008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Model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624328"/>
            <a:ext cx="5925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(stable) ← develop ← feature/* branches, merged via Pull Request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94360" y="3319272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52728" y="324612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Hygiene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520440"/>
            <a:ext cx="5925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commits with descriptive messages (e.g. "Add AI priority-area matching feature and Scrum backlog docs")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94360" y="4215384"/>
            <a:ext cx="457200" cy="457200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9436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52728" y="4142232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16552"/>
            <a:ext cx="5925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with a GitHub Personal Access Token (classic, repo scope) — GitHub retired password auth in 2021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94360" y="5111496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9436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52728" y="5038344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5312664"/>
            <a:ext cx="5925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↔ GitHub linkage keeps issues tied to the commits/PRs that implemented them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7543800" y="1508760"/>
            <a:ext cx="4023360" cy="4480560"/>
          </a:xfrm>
          <a:prstGeom prst="roundRect">
            <a:avLst>
              <a:gd name="adj" fmla="val 2045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77240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Flow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818120" y="224028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92440" y="21214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18120" y="2807208"/>
            <a:ext cx="146304" cy="146304"/>
          </a:xfrm>
          <a:prstGeom prst="ellipse">
            <a:avLst/>
          </a:prstGeom>
          <a:solidFill>
            <a:srgbClr val="E8543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92440" y="26883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818120" y="3374136"/>
            <a:ext cx="146304" cy="146304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92440" y="32552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feature/ai-priority-matching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891272" y="2313432"/>
            <a:ext cx="0" cy="1060704"/>
          </a:xfrm>
          <a:prstGeom prst="line">
            <a:avLst/>
          </a:prstGeom>
          <a:noFill/>
          <a:ln w="19050">
            <a:solidFill>
              <a:srgbClr val="E1E4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0" y="4032504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are merged back into develop via Pull Request once a story's acceptance criteria are met; develop merges into main for tested releases.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8056" y="1362456"/>
            <a:ext cx="11265408" cy="5184648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tmp/claude-0/-home-claude/adf370eb-f340-5a92-b171-fa65d773f298/scratchpad/deck/assets/usec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1115568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Product Backlog in Jira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8056" y="1362456"/>
            <a:ext cx="8065008" cy="5184648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root/.claude/uploads/adf370eb-f340-5a92-b171-fa65d773f298/351d95f7-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795528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41080" y="1600200"/>
            <a:ext cx="3017520" cy="4709160"/>
          </a:xfrm>
          <a:prstGeom prst="roundRect">
            <a:avLst>
              <a:gd name="adj" fmla="val 2727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86968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Epics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869680" y="2148840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Priority Matching (Done)</a:t>
            </a:r>
            <a:endParaRPr lang="en-US" sz="116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Weather Integration</a:t>
            </a:r>
            <a:endParaRPr lang="en-US" sz="116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Demographic Integration</a:t>
            </a:r>
            <a:endParaRPr lang="en-US" sz="1160" dirty="0"/>
          </a:p>
          <a:p>
            <a:pPr indent="0" marL="0">
              <a:lnSpc>
                <a:spcPct val="130000"/>
              </a:lnSpc>
              <a:buNone/>
            </a:pPr>
            <a:endParaRPr lang="en-US" sz="116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2 items not tied to a single epic: the cross-cutting recompute story (SCRUM-26) and the Texas relief-site seed data ticket (SCRUM-27).</a:t>
            </a:r>
            <a:endParaRPr lang="en-US" sz="1160" dirty="0"/>
          </a:p>
        </p:txBody>
      </p:sp>
      <p:sp>
        <p:nvSpPr>
          <p:cNvPr id="8" name="Shape 5"/>
          <p:cNvSpPr/>
          <p:nvPr/>
        </p:nvSpPr>
        <p:spPr>
          <a:xfrm>
            <a:off x="8869680" y="4251960"/>
            <a:ext cx="2377440" cy="0"/>
          </a:xfrm>
          <a:prstGeom prst="line">
            <a:avLst/>
          </a:prstGeom>
          <a:noFill/>
          <a:ln w="12700">
            <a:solidFill>
              <a:srgbClr val="E1E4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69680" y="4434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total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E8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items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50749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story-pointed and tracked end-to-end in Jira (HeatSafe / SCRUM project)</a:t>
            </a:r>
            <a:endParaRPr lang="en-US" sz="106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Stories Selected for Sprint 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8056" y="1362456"/>
            <a:ext cx="8065008" cy="5184648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root/.claude/uploads/adf370eb-f340-5a92-b171-fa65d773f298/351d95f7-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795528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41080" y="1600200"/>
            <a:ext cx="3017520" cy="4709160"/>
          </a:xfrm>
          <a:prstGeom prst="roundRect">
            <a:avLst>
              <a:gd name="adj" fmla="val 2727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86968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869680" y="214884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SCRUM-18 → SCRUM-26</a:t>
            </a:r>
            <a:endParaRPr lang="en-US" sz="116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stories across Live Weather Integration + Demographic Integration, plus the cross-cutting recompute story.</a:t>
            </a:r>
            <a:endParaRPr lang="en-US" sz="1160" dirty="0"/>
          </a:p>
        </p:txBody>
      </p:sp>
      <p:sp>
        <p:nvSpPr>
          <p:cNvPr id="8" name="Shape 5"/>
          <p:cNvSpPr/>
          <p:nvPr/>
        </p:nvSpPr>
        <p:spPr>
          <a:xfrm>
            <a:off x="8869680" y="3794760"/>
            <a:ext cx="2377440" cy="0"/>
          </a:xfrm>
          <a:prstGeom prst="line">
            <a:avLst/>
          </a:prstGeom>
          <a:noFill/>
          <a:ln w="12700">
            <a:solidFill>
              <a:srgbClr val="E1E4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69680" y="39776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points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E8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470916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Sprint 0 (above, 6 items / 21 pts) is already Done — the AI Priority Matching epic shipped first.</a:t>
            </a:r>
            <a:endParaRPr lang="en-US" sz="106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SINCE BACKLOG WAS FIRST DRAFTED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Directory — Pilot Region Update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DE8E4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56362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site-search view had no cooling/water “site” records to show — only the priority-area overlay had real data.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E4F3EB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— SCRUM-27 (IN REVIEW)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47802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real, publicly documented relief sites seeded across the Texas pilot region.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6492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are real, verified locations — public library branches serving as official cooling centers, city recreation centers, and parks — checked against each city's library/parks department site and the Census Bureau geocoder.</a:t>
            </a:r>
            <a:endParaRPr lang="en-US" sz="105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region moved from an initial Los Angeles placeholder to statewide Texas, matching the project's own location (Houston) for real-world accuracy.</a:t>
            </a:r>
            <a:endParaRPr lang="en-US" sz="105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types map to the existing schema: cooling_center, water_station, shade, splash_pad. Community/rec centers are seeded as cooling_center — no separate type exists in the DB's CHECK constraint.</a:t>
            </a:r>
            <a:endParaRPr lang="en-US" sz="105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deliberately seeded as “unknown” — real open/closed status comes from an org admin via the app's own “Update Site Open/Closed Status” flow, not from guessing it.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0" y="32004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BY CITY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0" y="3502152"/>
            <a:ext cx="4297680" cy="329184"/>
          </a:xfrm>
          <a:prstGeom prst="roundRect">
            <a:avLst>
              <a:gd name="adj" fmla="val 25000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35021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652760" y="353872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652760" y="35387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0" y="3904488"/>
            <a:ext cx="4297680" cy="329184"/>
          </a:xfrm>
          <a:prstGeom prst="roundRect">
            <a:avLst>
              <a:gd name="adj" fmla="val 25000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39044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652760" y="394106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652760" y="39410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0" y="4306824"/>
            <a:ext cx="4297680" cy="329184"/>
          </a:xfrm>
          <a:prstGeom prst="roundRect">
            <a:avLst>
              <a:gd name="adj" fmla="val 25000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43068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Worth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52760" y="43434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652760" y="43434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0" y="4709160"/>
            <a:ext cx="4297680" cy="329184"/>
          </a:xfrm>
          <a:prstGeom prst="roundRect">
            <a:avLst>
              <a:gd name="adj" fmla="val 25000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47091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652760" y="4745736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652760" y="4745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sites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5111496"/>
            <a:ext cx="4297680" cy="329184"/>
          </a:xfrm>
          <a:prstGeom prst="roundRect">
            <a:avLst>
              <a:gd name="adj" fmla="val 25000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51114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Antonio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652760" y="51480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652760" y="51480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sites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Pending: local seed run (seed_areas.sql + seed_sites.sql) and PR merge into develop before map/admin screenshots reflect the new data.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BY STORY POINTS &amp; SCRUM ROLE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— Team Assignments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0" y="1280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852160" y="1280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12801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709928"/>
            <a:ext cx="402336" cy="402336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160020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Hawkins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06240" y="160020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0" y="178308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0" y="17830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0" y="160020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SCRUM-18–22 — Demographic Integration (full epic)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48640" y="2313432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423160"/>
            <a:ext cx="402336" cy="402336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31343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Tucker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06240" y="231343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52160" y="249631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52160" y="24963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31343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SCRUM-23 — Weather API module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48640" y="3026664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136392"/>
            <a:ext cx="402336" cy="402336"/>
          </a:xfrm>
          <a:prstGeom prst="ellipse">
            <a:avLst/>
          </a:prstGeom>
          <a:solidFill>
            <a:srgbClr val="C98A2E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77240" y="3136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17320" y="302666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Teyana Williams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06240" y="302666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52160" y="3209544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52160" y="32095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0" y="302666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SCRUM-25, SCRUM-26 — Weather fallback + cross-cutting recompute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48640" y="3739896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3849624"/>
            <a:ext cx="402336" cy="402336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77240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417320" y="373989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D'Andre League (dleague)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206240" y="373989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52160" y="3922776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852160" y="39227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0" y="373989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SCRUM-24 — Weather response caching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548640" y="4590288"/>
            <a:ext cx="11064240" cy="1719072"/>
          </a:xfrm>
          <a:prstGeom prst="roundRect">
            <a:avLst>
              <a:gd name="adj" fmla="val 4787"/>
            </a:avLst>
          </a:prstGeom>
          <a:solidFill>
            <a:srgbClr val="F4F5FA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4700016"/>
            <a:ext cx="106070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(dleague) intentionally carries the lightest load — his primary Sprint 1 responsibility is facilitation, unblocking, and sprint ceremonies, not reflected in story points.</a:t>
            </a:r>
            <a:endParaRPr lang="en-US" sz="10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(engineer) owns the entire Demographic Integration epic solo for continuity — one person's context across all 5 related stories avoids merge conflicts within the epic.</a:t>
            </a:r>
            <a:endParaRPr lang="en-US" sz="10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and Teyana split the Live Weather epic plus the cross-cutting recompute story, balanced within 1 point of each other (5 vs. 4).</a:t>
            </a:r>
            <a:endParaRPr lang="en-US" sz="10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SCRUM-26 depends on both epics finishing — if the larger Demographic epic runs long, the team may reassign it at standup.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SCRUM-12 · AI PRIORITY MATCHING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 of Story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49840" y="384048"/>
            <a:ext cx="566928" cy="566928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1498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93268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62456" y="1316736"/>
            <a:ext cx="9436608" cy="5276088"/>
          </a:xfrm>
          <a:prstGeom prst="roundRect">
            <a:avLst>
              <a:gd name="adj" fmla="val 156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root/.claude/uploads/adf370eb-f340-5a92-b171-fa65d773f298/bc457991-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1371600"/>
            <a:ext cx="9326880" cy="5166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SCRUM-13 · AI PRIORITY MATCHING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 of Story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49840" y="384048"/>
            <a:ext cx="566928" cy="566928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1498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93268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62456" y="1316736"/>
            <a:ext cx="9436608" cy="5276088"/>
          </a:xfrm>
          <a:prstGeom prst="roundRect">
            <a:avLst>
              <a:gd name="adj" fmla="val 156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root/.claude/uploads/adf370eb-f340-5a92-b171-fa65d773f298/f75237f8-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1371600"/>
            <a:ext cx="9326880" cy="5166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SCRUM-14 · AI PRIORITY MATCHING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 of Story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49840" y="384048"/>
            <a:ext cx="566928" cy="566928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1498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93268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62456" y="1316736"/>
            <a:ext cx="9436608" cy="5276088"/>
          </a:xfrm>
          <a:prstGeom prst="roundRect">
            <a:avLst>
              <a:gd name="adj" fmla="val 156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root/.claude/uploads/adf370eb-f340-5a92-b171-fa65d773f298/f4f5a692-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1371600"/>
            <a:ext cx="9326880" cy="5166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SCRUM-15 · AI PRIORITY MATCHING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 of Story 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49840" y="384048"/>
            <a:ext cx="566928" cy="566928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1498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93268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62456" y="1316736"/>
            <a:ext cx="9436608" cy="5276088"/>
          </a:xfrm>
          <a:prstGeom prst="roundRect">
            <a:avLst>
              <a:gd name="adj" fmla="val 156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root/.claude/uploads/adf370eb-f340-5a92-b171-fa65d773f298/8356d444-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1371600"/>
            <a:ext cx="9326880" cy="5166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SCRUM-16 · AI PRIORITY MATCHING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 of Story 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49840" y="384048"/>
            <a:ext cx="566928" cy="566928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1498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93268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62456" y="1316736"/>
            <a:ext cx="9436608" cy="5276088"/>
          </a:xfrm>
          <a:prstGeom prst="roundRect">
            <a:avLst>
              <a:gd name="adj" fmla="val 156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root/.claude/uploads/adf370eb-f340-5a92-b171-fa65d773f298/6f448cf9-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1371600"/>
            <a:ext cx="9326880" cy="5166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SCRUM-17 · AI PRIORITY MATCHING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 of Story 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49840" y="384048"/>
            <a:ext cx="566928" cy="566928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1498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93268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62456" y="1316736"/>
            <a:ext cx="9436608" cy="5276088"/>
          </a:xfrm>
          <a:prstGeom prst="roundRect">
            <a:avLst>
              <a:gd name="adj" fmla="val 156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root/.claude/uploads/adf370eb-f340-5a92-b171-fa65d773f298/8d2b2a72-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1371600"/>
            <a:ext cx="9326880" cy="5166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 Relief Network already runs end-to-end: a live Express + PostGIS backend, a working resident map and org portal, and a documented, rule-based priority-matching engine that ranks neighborhoods by heat vulnerability today.</a:t>
            </a:r>
            <a:endParaRPr lang="en-US" sz="1360" dirty="0"/>
          </a:p>
          <a:p>
            <a:pPr indent="0" marL="0">
              <a:lnSpc>
                <a:spcPct val="128000"/>
              </a:lnSpc>
              <a:buNone/>
            </a:pPr>
            <a:endParaRPr lang="en-US" sz="136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is scoped and ready — Live Weather Integration and Demographic Integration will replace manually-seeded inputs with real NWS and Census data, making the priority ranking fully live without changing its transparent, explainable design.</a:t>
            </a:r>
            <a:endParaRPr lang="en-US" sz="1360" dirty="0"/>
          </a:p>
          <a:p>
            <a:pPr indent="0" marL="0">
              <a:lnSpc>
                <a:spcPct val="128000"/>
              </a:lnSpc>
              <a:buNone/>
            </a:pPr>
            <a:endParaRPr lang="en-US" sz="136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Jira board and GitHub history give a verifiable record of both the process and the product — this is Agile/Scrum practiced on a real, shipping feature, not just a paper exercise.</a:t>
            </a:r>
            <a:endParaRPr lang="en-US" sz="1360" dirty="0"/>
          </a:p>
        </p:txBody>
      </p:sp>
      <p:sp>
        <p:nvSpPr>
          <p:cNvPr id="4" name="Shape 2"/>
          <p:cNvSpPr/>
          <p:nvPr/>
        </p:nvSpPr>
        <p:spPr>
          <a:xfrm>
            <a:off x="7680960" y="169164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909560" y="181965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909560" y="24780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tracked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310896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909560" y="323697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38953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items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452628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909560" y="465429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44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5312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shipped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CINS 5338/5388 — Software Project Management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6400800" cy="6400800"/>
          </a:xfrm>
          <a:prstGeom prst="ellipse">
            <a:avLst/>
          </a:prstGeom>
          <a:solidFill>
            <a:srgbClr val="E8543A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5943600" cy="5943600"/>
          </a:xfrm>
          <a:prstGeom prst="ellipse">
            <a:avLst/>
          </a:prstGeom>
          <a:solidFill>
            <a:srgbClr val="C98A2E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651760"/>
            <a:ext cx="1216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0" y="36118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C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R   Y O U R   A T T E N T I O 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0" y="61264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Relief Network  •  Team 5  •  CINS 5338/5388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2026-09-14T14:05:37Z</dcterms:created>
  <dcterms:modified xsi:type="dcterms:W3CDTF">2026-09-14T14:05:37Z</dcterms:modified>
</cp:coreProperties>
</file>