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E05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HeatSafe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2B88A"/>
                </a:solidFill>
              </a:defRPr>
            </a:pPr>
            <a:r>
              <a:t>Product Backlog — from a Product Owner's perspective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126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Team 5  •  D'Andre League · James Hawkins · Teyana Williams · Ryan Tucker  •  CINS 5338/5388  •  Sept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5A1C"/>
                </a:solidFill>
              </a:defRPr>
            </a:pPr>
            <a:r>
              <a:t>WHAT WE'LL 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A"/>
                </a:solidFill>
              </a:defRPr>
            </a:pPr>
            <a:r>
              <a:t>Agenda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19050">
            <a:solidFill>
              <a:srgbClr val="E8C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6324A"/>
                </a:solidFill>
              </a:defRPr>
            </a:pPr>
            <a:r>
              <a:t>•  1 — From Developer to Product Owner: how the backlog voice changed</a:t>
            </a:r>
          </a:p>
          <a:p>
            <a:pPr>
              <a:spcAft>
                <a:spcPts val="800"/>
              </a:spcAft>
              <a:defRPr sz="1700">
                <a:solidFill>
                  <a:srgbClr val="16324A"/>
                </a:solidFill>
              </a:defRPr>
            </a:pPr>
            <a:r>
              <a:t>•  2 — Sprint 0 recap: System scope, use-case diagram, AI Priority Matching (Done)</a:t>
            </a:r>
          </a:p>
          <a:p>
            <a:pPr>
              <a:spcAft>
                <a:spcPts val="800"/>
              </a:spcAft>
              <a:defRPr sz="1700">
                <a:solidFill>
                  <a:srgbClr val="16324A"/>
                </a:solidFill>
              </a:defRPr>
            </a:pPr>
            <a:r>
              <a:t>•  3 — Updated use-case diagram: all 7 actors, built + planned, checked against real Jira</a:t>
            </a:r>
          </a:p>
          <a:p>
            <a:pPr>
              <a:spcAft>
                <a:spcPts val="800"/>
              </a:spcAft>
              <a:defRPr sz="1700">
                <a:solidFill>
                  <a:srgbClr val="16324A"/>
                </a:solidFill>
              </a:defRPr>
            </a:pPr>
            <a:r>
              <a:t>•  4 — Product backlog by epic: built, in review, and newly planned</a:t>
            </a:r>
          </a:p>
          <a:p>
            <a:pPr>
              <a:spcAft>
                <a:spcPts val="800"/>
              </a:spcAft>
              <a:defRPr sz="1700">
                <a:solidFill>
                  <a:srgbClr val="16324A"/>
                </a:solidFill>
              </a:defRPr>
            </a:pPr>
            <a:r>
              <a:t>•  5 — Points-per-actor tally: recalculated from the real Jira Story Points field</a:t>
            </a:r>
          </a:p>
          <a:p>
            <a:pPr>
              <a:spcAft>
                <a:spcPts val="800"/>
              </a:spcAft>
              <a:defRPr sz="1700">
                <a:solidFill>
                  <a:srgbClr val="16324A"/>
                </a:solidFill>
              </a:defRPr>
            </a:pPr>
            <a:r>
              <a:t>•  6 — Sprint 1/2 remodel: System Administrator voice, technical leads, subtasks</a:t>
            </a:r>
          </a:p>
          <a:p>
            <a:pPr>
              <a:spcAft>
                <a:spcPts val="800"/>
              </a:spcAft>
              <a:defRPr sz="1700">
                <a:solidFill>
                  <a:srgbClr val="16324A"/>
                </a:solidFill>
              </a:defRPr>
            </a:pPr>
            <a:r>
              <a:t>•  7 — Priority Access &amp; Resident Matching, and the three autonomous agents</a:t>
            </a:r>
          </a:p>
          <a:p>
            <a:pPr>
              <a:spcAft>
                <a:spcPts val="800"/>
              </a:spcAft>
              <a:defRPr sz="1700">
                <a:solidFill>
                  <a:srgbClr val="16324A"/>
                </a:solidFill>
              </a:defRPr>
            </a:pPr>
            <a:r>
              <a:t>•  8 — New backlog: Caregiver, Volunteer, Cooling Center Staff, ride-matching, reporting</a:t>
            </a:r>
          </a:p>
          <a:p>
            <a:pPr>
              <a:spcAft>
                <a:spcPts val="800"/>
              </a:spcAft>
              <a:defRPr sz="1700">
                <a:solidFill>
                  <a:srgbClr val="16324A"/>
                </a:solidFill>
              </a:defRPr>
            </a:pPr>
            <a:r>
              <a:t>•  9 — Scrum team &amp; Kanban board alignment</a:t>
            </a:r>
          </a:p>
          <a:p>
            <a:pPr>
              <a:spcAft>
                <a:spcPts val="800"/>
              </a:spcAft>
              <a:defRPr sz="1700">
                <a:solidFill>
                  <a:srgbClr val="16324A"/>
                </a:solidFill>
              </a:defRPr>
            </a:pPr>
            <a:r>
              <a:t>•  10 — Outstanding items — what we need to close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HeatSafe Checkpoint  •  Team 5  •  CINS 5338/5388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5A1C"/>
                </a:solidFill>
              </a:defRPr>
            </a:pPr>
            <a:r>
              <a:t>1 — REFRAMING THE 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A"/>
                </a:solidFill>
              </a:defRPr>
            </a:pPr>
            <a:r>
              <a:t>From Developer to Product Owner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19050">
            <a:solidFill>
              <a:srgbClr val="E8C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6324A"/>
                </a:solidFill>
              </a:defRPr>
            </a:pPr>
            <a:r>
              <a:t>•  The original backlog was written in developer voice — "Dev: build X" — which describes work, not value.</a:t>
            </a:r>
          </a:p>
          <a:p>
            <a:pPr>
              <a:spcAft>
                <a:spcPts val="800"/>
              </a:spcAft>
              <a:defRPr sz="1600">
                <a:solidFill>
                  <a:srgbClr val="16324A"/>
                </a:solidFill>
              </a:defRPr>
            </a:pPr>
            <a:r>
              <a:t>•  Every built and in-review story (SCRUM-12 through SCRUM-54) has been rewritten in user-perspective voice: "As a &lt;actor&gt;, I want &lt;capability&gt;, so that &lt;benefit&gt;."</a:t>
            </a:r>
          </a:p>
          <a:p>
            <a:pPr>
              <a:spcAft>
                <a:spcPts val="800"/>
              </a:spcAft>
              <a:defRPr sz="1600">
                <a:solidFill>
                  <a:srgbClr val="16324A"/>
                </a:solidFill>
              </a:defRPr>
            </a:pPr>
            <a:r>
              <a:t>•  Internal/infrastructure work that has no single named end-user beneficiary is now voiced as the System Administrator — replacing the generic "Team" framing used before.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206240"/>
            <a:ext cx="11064240" cy="1737360"/>
          </a:xfrm>
          <a:prstGeom prst="roundRect">
            <a:avLst/>
          </a:prstGeom>
          <a:solidFill>
            <a:srgbClr val="FDECDD"/>
          </a:solidFill>
          <a:ln w="12700">
            <a:solidFill>
              <a:srgbClr val="E05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350">
                <a:solidFill>
                  <a:srgbClr val="16324A"/>
                </a:solidFill>
              </a:defRPr>
            </a:pPr>
            <a:r>
              <a:t>SCRUM-37, before:  “Team: need-scoring rubric and its data-handling rules documented.”</a:t>
            </a:r>
            <a:br/>
            <a:r>
              <a:t>SCRUM-37, after:  “As a 'System Administrator', we want the need-scoring rubric and its data-handling rules documented, so the weights can be defended in review and the PII decisions are deliberate rather than accidental.”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HeatSafe Checkpoint  •  Team 5  •  CINS 5338/5388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5A1C"/>
                </a:solidFill>
              </a:defRPr>
            </a:pPr>
            <a:r>
              <a:t>2 — SPRINT 0 RECAP (CARRIED FORWARD UNCHANGED)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A"/>
                </a:solidFill>
              </a:defRPr>
            </a:pPr>
            <a:r>
              <a:t>System Scope &amp; AI Priority Matching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19050">
            <a:solidFill>
              <a:srgbClr val="E8C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4173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16324A"/>
                </a:solidFill>
              </a:defRPr>
            </a:pPr>
            <a:r>
              <a:t>•  Use-case diagram: 7 actors — Resident, Caregiver, Volunteer, Coordinator, Cooling Center Staff, System Administrator, AI Agent (updated version on the next slide).</a:t>
            </a:r>
          </a:p>
          <a:p>
            <a:pPr>
              <a:spcAft>
                <a:spcPts val="800"/>
              </a:spcAft>
              <a:defRPr sz="1550">
                <a:solidFill>
                  <a:srgbClr val="16324A"/>
                </a:solidFill>
              </a:defRPr>
            </a:pPr>
            <a:r>
              <a:t>•  AI Priority Matching epic (SCRUM-8) — 6/6 stories Done, 21 points, epic status corrected to Done in Jira this pass.</a:t>
            </a:r>
          </a:p>
          <a:p>
            <a:pPr>
              <a:spcAft>
                <a:spcPts val="400"/>
              </a:spcAft>
              <a:defRPr sz="1350">
                <a:solidFill>
                  <a:srgbClr val="555555"/>
                </a:solidFill>
              </a:defRPr>
            </a:pPr>
            <a:r>
              <a:t>–  SCRUM-12 areas table + seed data  ·  SCRUM-13 vulnerability scoring function  ·  SCRUM-14 distance-adjusted ranking</a:t>
            </a:r>
          </a:p>
          <a:p>
            <a:pPr>
              <a:spcAft>
                <a:spcPts val="400"/>
              </a:spcAft>
              <a:defRPr sz="1350">
                <a:solidFill>
                  <a:srgbClr val="555555"/>
                </a:solidFill>
              </a:defRPr>
            </a:pPr>
            <a:r>
              <a:t>–  SCRUM-15 admin priority-areas table  ·  SCRUM-16 resident map shading  ·  SCRUM-17 methodology documentation</a:t>
            </a:r>
          </a:p>
          <a:p>
            <a:pPr>
              <a:spcAft>
                <a:spcPts val="800"/>
              </a:spcAft>
              <a:defRPr sz="1550">
                <a:solidFill>
                  <a:srgbClr val="16324A"/>
                </a:solidFill>
              </a:defRPr>
            </a:pPr>
            <a:r>
              <a:t>•  Sprint 0 retro gap — “no cooling/water site records were ever seeded” — closed by SCRUM-27/28: 11 real Texas relief sites (Houston, Dallas, Fort Worth, Austin, San Antonio).</a:t>
            </a:r>
          </a:p>
          <a:p>
            <a:pPr>
              <a:spcAft>
                <a:spcPts val="800"/>
              </a:spcAft>
              <a:defRPr sz="1550">
                <a:solidFill>
                  <a:srgbClr val="16324A"/>
                </a:solidFill>
              </a:defRPr>
            </a:pPr>
            <a:r>
              <a:t>•  Pilot region moved from the original Los Angeles placeholder to the Texas pilot footprint used everywhere in this deck.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HeatSafe Checkpoint  •  Team 5  •  CINS 5338/5388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5A1C"/>
                </a:solidFill>
              </a:defRPr>
            </a:pPr>
            <a:r>
              <a:t>3 — A MORE ACCURATE DIAGRAM, CHECKED AGAINST JIRA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A"/>
                </a:solidFill>
              </a:defRPr>
            </a:pPr>
            <a:r>
              <a:t>Updated Use-Case Diagram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19050">
            <a:solidFill>
              <a:srgbClr val="E8C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usecase_diagram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34" y="1280160"/>
            <a:ext cx="4600346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HeatSafe Checkpoint  •  Team 5  •  CINS 5338/5388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5A1C"/>
                </a:solidFill>
              </a:defRPr>
            </a:pPr>
            <a:r>
              <a:t>3 —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A"/>
                </a:solidFill>
              </a:defRPr>
            </a:pPr>
            <a:r>
              <a:t>Why the Diagram and the Points Tally Use Different Boundaries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19050">
            <a:solidFill>
              <a:srgbClr val="E8C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41732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6324A"/>
                </a:solidFill>
              </a:defRPr>
            </a:pPr>
            <a:r>
              <a:t>•  The diagram groups use cases the way the team's original sketch did — e.g. the Checkr background check and external weather/forecast retrieval sit under AI Agent, matching the original screenshot's own convention.</a:t>
            </a:r>
          </a:p>
          <a:p>
            <a:pPr>
              <a:spcAft>
                <a:spcPts val="800"/>
              </a:spcAft>
              <a:defRPr sz="1600">
                <a:solidFill>
                  <a:srgbClr val="16324A"/>
                </a:solidFill>
              </a:defRPr>
            </a:pPr>
            <a:r>
              <a:t>•  The points-per-actor tally (next section) uses a stricter definition: only the three agents actually documented in docs/AGENTS.md (Heat Watch, Dispatch Planner, Site-Status Freshness) plus the need-scoring/service-matching engines count as “AI Agent” work. Data-plumbing that feeds them — Census/ACS integration, weather API integration — is counted as System Administrator infrastructure, since that is the persona voice those specific Jira stories were rewritten into.</a:t>
            </a:r>
          </a:p>
          <a:p>
            <a:pPr>
              <a:spcAft>
                <a:spcPts val="800"/>
              </a:spcAft>
              <a:defRPr sz="1600">
                <a:solidFill>
                  <a:srgbClr val="16324A"/>
                </a:solidFill>
              </a:defRPr>
            </a:pPr>
            <a:r>
              <a:t>•  Both views are internally consistent; they just answer different questions — “who does the diagram say performs this” versus “who does the actual codebase and Jira backlog say owns this.”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HeatSafe Checkpoint  •  Team 5  •  CINS 5338/5388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5A1C"/>
                </a:solidFill>
              </a:defRPr>
            </a:pPr>
            <a:r>
              <a:t>4 — PRODUCT BACKLOG BY EPIC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A"/>
                </a:solidFill>
              </a:defRPr>
            </a:pPr>
            <a:r>
              <a:t>Built &amp; In-Review Epics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19050">
            <a:solidFill>
              <a:srgbClr val="E8C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9601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463040"/>
                <a:gridCol w="1554480"/>
                <a:gridCol w="1371600"/>
                <a:gridCol w="1280160"/>
              </a:tblGrid>
              <a:tr h="43226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Epic</a:t>
                      </a:r>
                    </a:p>
                  </a:txBody>
                  <a:tcPr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Stories</a:t>
                      </a:r>
                    </a:p>
                  </a:txBody>
                  <a:tcPr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16324A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AI Priority Matching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SCRUM-8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Live Weather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SCRUM-10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Demographic Integration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SCRUM-11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Site Directory — Texas 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(SCRUM-27/28)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In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Priority Access &amp; Resident Matching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SCRUM-29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In Review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Heat Emergency Watch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SCRUM-38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In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Outreach Dispatch Planner Agent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SCRUM-39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In Review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Site Status Freshness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SCRUM-48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In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Search-radius defect fix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SCRUM-49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In Review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County header / alert 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(SCRUM-54)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To 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HeatSafe Checkpoint  •  Team 5  •  CINS 5338/5388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5A1C"/>
                </a:solidFill>
              </a:defRPr>
            </a:pPr>
            <a:r>
              <a:t>4 — PRODUCT BACKLOG BY EPIC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A"/>
                </a:solidFill>
              </a:defRPr>
            </a:pPr>
            <a:r>
              <a:t>Newly Planned Epics — Filling the Diagram's Gaps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19050">
            <a:solidFill>
              <a:srgbClr val="E8C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6324A"/>
                </a:solidFill>
              </a:defRPr>
            </a:pPr>
            <a:r>
              <a:t>•  The original diagram named Caregiver, Volunteer, Cooling Center Staff, and a ride-matching capability that had zero backlog coverage. Rather than leave them undiagrammed, real Jira epics and stories were created — all To Do, unassigned, honestly scoped as planned work, never marked done.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515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1554480"/>
                <a:gridCol w="2743200"/>
                <a:gridCol w="1280160"/>
              </a:tblGrid>
              <a:tr h="4343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Epic</a:t>
                      </a:r>
                    </a:p>
                  </a:txBody>
                  <a:tcPr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Stories</a:t>
                      </a:r>
                    </a:p>
                  </a:txBody>
                  <a:tcPr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16324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Caregiver Portal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SCRUM-67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Volunteer Portal &amp; Assignment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SCRUM-68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Cooling Center Staff Self-Service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SCRUM-69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Organization User Accounts &amp; Audit 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SCRUM-53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0 (not yet broken down)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Standalone: heat action plan, ride request, wellness check-in (Resident)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SCRUM-79–81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Standalone: ride-matching agent (AI Agent)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SCRUM-82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Standalone: coordinator reporting dashboard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SCRUM-83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HeatSafe Checkpoint  •  Team 5  •  CINS 5338/5388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5A1C"/>
                </a:solidFill>
              </a:defRPr>
            </a:pPr>
            <a:r>
              <a:t>5 — RECALCULATED PER THE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A"/>
                </a:solidFill>
              </a:defRPr>
            </a:pPr>
            <a:r>
              <a:t>Points per Actor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19050">
            <a:solidFill>
              <a:srgbClr val="E8C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03327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926080"/>
                <a:gridCol w="2560320"/>
                <a:gridCol w="1645920"/>
              </a:tblGrid>
              <a:tr h="4267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Actor</a:t>
                      </a:r>
                    </a:p>
                  </a:txBody>
                  <a:tcPr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Built (In Review/Done)</a:t>
                      </a:r>
                    </a:p>
                  </a:txBody>
                  <a:tcPr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Planned (To Do)</a:t>
                      </a:r>
                    </a:p>
                  </a:txBody>
                  <a:tcPr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6324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System Administrator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AI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Resident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Volunteer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Cooling Center Staff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Coordinator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Caregiver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440680"/>
            <a:ext cx="11064240" cy="914400"/>
          </a:xfrm>
          <a:prstGeom prst="roundRect">
            <a:avLst/>
          </a:prstGeom>
          <a:solidFill>
            <a:srgbClr val="FDECDD"/>
          </a:solidFill>
          <a:ln w="12700">
            <a:solidFill>
              <a:srgbClr val="E05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>
                <a:solidFill>
                  <a:srgbClr val="16324A"/>
                </a:solidFill>
              </a:defRPr>
            </a:pPr>
            <a:r>
              <a:t>Bucketed by who performs the use case, not just who the story's “As a …” line names — e.g. SCRUM-33's service-matching algorithm counts as AI Agent work even though it's framed “As a resident.” Verified: sums to an exact, independently-computed 199 across every non-epic, non-subtask Jira issue.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HeatSafe Checkpoint  •  Team 5  •  CINS 5338/5388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5A1C"/>
                </a:solidFill>
              </a:defRPr>
            </a:pPr>
            <a:r>
              <a:t>6 — SPRINT 1 REMODEL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A"/>
                </a:solidFill>
              </a:defRPr>
            </a:pPr>
            <a:r>
              <a:t>Live Weather &amp; Demographic Integration — System Administrator Voice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19050">
            <a:solidFill>
              <a:srgbClr val="E8C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41732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16324A"/>
                </a:solidFill>
              </a:defRPr>
            </a:pPr>
            <a:r>
              <a:t>•  All 11 Sprint 1 stories (SCRUM-18–26) reframed from “Dev: …” to “As a 'System Administrator', I want …” — same acceptance criteria and dev tasks, now traceable to a persona instead of a role label.</a:t>
            </a:r>
          </a:p>
          <a:p>
            <a:pPr>
              <a:spcAft>
                <a:spcPts val="800"/>
              </a:spcAft>
              <a:defRPr sz="1550">
                <a:solidFill>
                  <a:srgbClr val="16324A"/>
                </a:solidFill>
              </a:defRPr>
            </a:pPr>
            <a:r>
              <a:t>•  A Subtask was added under each reframed story carrying its original “Development Tasks” bullets — SCRUM-55 through SCRUM-66 — so the acceptance-criteria-level story and the line-by-line developer task are separate, board-visible items.</a:t>
            </a:r>
          </a:p>
          <a:p>
            <a:pPr>
              <a:spcAft>
                <a:spcPts val="800"/>
              </a:spcAft>
              <a:defRPr sz="1550">
                <a:solidFill>
                  <a:srgbClr val="16324A"/>
                </a:solidFill>
              </a:defRPr>
            </a:pPr>
            <a:r>
              <a:t>•  Technical leads (unchanged from the team's own Sprint 1 plan):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34340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188720"/>
                <a:gridCol w="54864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Assignee</a:t>
                      </a:r>
                    </a:p>
                  </a:txBody>
                  <a:tcPr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Stories</a:t>
                      </a:r>
                    </a:p>
                  </a:txBody>
                  <a:tcPr>
                    <a:solidFill>
                      <a:srgbClr val="1632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B2B2B"/>
                          </a:solidFill>
                        </a:defRPr>
                      </a:pPr>
                      <a:r>
                        <a:t>James Hawkins (JH)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B2B2B"/>
                          </a:solidFill>
                        </a:defRPr>
                      </a:pPr>
                      <a:r>
                        <a:t>Engineer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B2B2B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B2B2B"/>
                          </a:solidFill>
                        </a:defRPr>
                      </a:pPr>
                      <a:r>
                        <a:t>SCRUM-18–22 — Demographic Integration (full epic)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B2B2B"/>
                          </a:solidFill>
                        </a:defRPr>
                      </a:pPr>
                      <a:r>
                        <a:t>Ryan Tucker (RT)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B2B2B"/>
                          </a:solidFill>
                        </a:defRPr>
                      </a:pPr>
                      <a:r>
                        <a:t>Developer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B2B2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B2B2B"/>
                          </a:solidFill>
                        </a:defRPr>
                      </a:pPr>
                      <a:r>
                        <a:t>SCRUM-23 — Weather API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B2B2B"/>
                          </a:solidFill>
                        </a:defRPr>
                      </a:pPr>
                      <a:r>
                        <a:t>Teyana Williams (TW)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B2B2B"/>
                          </a:solidFill>
                        </a:defRPr>
                      </a:pPr>
                      <a:r>
                        <a:t>Developer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B2B2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B2B2B"/>
                          </a:solidFill>
                        </a:defRPr>
                      </a:pPr>
                      <a:r>
                        <a:t>SCRUM-25, SCRUM-26 — Weather fallback + cross-cutting recompute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B2B2B"/>
                          </a:solidFill>
                        </a:defRPr>
                      </a:pPr>
                      <a:r>
                        <a:t>D'Andre League (DL)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B2B2B"/>
                          </a:solidFill>
                        </a:defRPr>
                      </a:pPr>
                      <a:r>
                        <a:t>Scrum Master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B2B2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B2B2B"/>
                          </a:solidFill>
                        </a:defRPr>
                      </a:pPr>
                      <a:r>
                        <a:t>SCRUM-24 — Weather response caching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HeatSafe Checkpoint  •  Team 5  •  CINS 5338/5388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5A1C"/>
                </a:solidFill>
              </a:defRPr>
            </a:pPr>
            <a:r>
              <a:t>7 — SPRINT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A"/>
                </a:solidFill>
              </a:defRPr>
            </a:pPr>
            <a:r>
              <a:t>Priority Access &amp; Resident Matching (SCRUM-29)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19050">
            <a:solidFill>
              <a:srgbClr val="E8C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41732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16324A"/>
                </a:solidFill>
              </a:defRPr>
            </a:pPr>
            <a:r>
              <a:t>•  Scores people, not places — SCRUM-8 ranks neighborhoods; this epic ranks which registered resident needs help first and what kind, using the same transparent, rule-based philosophy.</a:t>
            </a:r>
          </a:p>
          <a:p>
            <a:pPr>
              <a:spcAft>
                <a:spcPts val="800"/>
              </a:spcAft>
              <a:defRPr sz="1550">
                <a:solidFill>
                  <a:srgbClr val="16324A"/>
                </a:solidFill>
              </a:defRPr>
            </a:pPr>
            <a:r>
              <a:t>•  8 stories, 39 points, currently In Review: invite codes (30) · resident registration (31) · need-scoring agent (32) · service matching (33) · registration UX (34) · results panel (35) · admin priority queue (36) · scoring-rubric documentation (37).</a:t>
            </a:r>
          </a:p>
          <a:p>
            <a:pPr>
              <a:spcAft>
                <a:spcPts val="800"/>
              </a:spcAft>
              <a:defRPr sz="1550">
                <a:solidFill>
                  <a:srgbClr val="16324A"/>
                </a:solidFill>
              </a:defRPr>
            </a:pPr>
            <a:r>
              <a:t>•  Explainability is a design constraint, not a nice-to-have: this feature prioritizes access to a life-safety resource, so every score ships with the plain-language reasons behind it.</a:t>
            </a:r>
          </a:p>
          <a:p>
            <a:pPr>
              <a:spcAft>
                <a:spcPts val="800"/>
              </a:spcAft>
              <a:defRPr sz="1550">
                <a:solidFill>
                  <a:srgbClr val="16324A"/>
                </a:solidFill>
              </a:defRPr>
            </a:pPr>
            <a:r>
              <a:t>•  PII discipline: raw income never appears in list endpoints, logs, or the admin queue — only an income band. Registration requires explicit, unchecked-by-default consent.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HeatSafe Checkpoint  •  Team 5  •  CINS 5338/5388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5A1C"/>
                </a:solidFill>
              </a:defRPr>
            </a:pPr>
            <a:r>
              <a:t>7 — SPRINT 4 (SEQUENCED AFTER SPRINT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A"/>
                </a:solidFill>
              </a:defRPr>
            </a:pPr>
            <a:r>
              <a:t>The Three Autonomous Agents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19050">
            <a:solidFill>
              <a:srgbClr val="E8C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188720"/>
                <a:gridCol w="5943600"/>
                <a:gridCol w="1188720"/>
              </a:tblGrid>
              <a:tr h="59436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What it decides</a:t>
                      </a:r>
                    </a:p>
                  </a:txBody>
                  <a:tcPr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1632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B2B"/>
                          </a:solidFill>
                        </a:defRPr>
                      </a:pPr>
                      <a:r>
                        <a:t>Heat Emergency Watch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B2B"/>
                          </a:solidFill>
                        </a:defRPr>
                      </a:pPr>
                      <a:r>
                        <a:t>SCRUM-38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B2B"/>
                          </a:solidFill>
                        </a:defRPr>
                      </a:pPr>
                      <a:r>
                        <a:t>Escalates an area's severity when it is both vulnerable AND has no open site within 8km — never on either condition alone.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B2B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B2B"/>
                          </a:solidFill>
                        </a:defRPr>
                      </a:pPr>
                      <a:r>
                        <a:t>Outreach Dispatch Planner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B2B"/>
                          </a:solidFill>
                        </a:defRPr>
                      </a:pPr>
                      <a:r>
                        <a:t>SCRUM-39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B2B"/>
                          </a:solidFill>
                        </a:defRPr>
                      </a:pPr>
                      <a:r>
                        <a:t>Builds a volunteer outreach plan from scheduled shifts, highest-need areas first; flags coverage gaps.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B2B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B2B"/>
                          </a:solidFill>
                        </a:defRPr>
                      </a:pPr>
                      <a:r>
                        <a:t>Site Status Freshness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B2B"/>
                          </a:solidFill>
                        </a:defRPr>
                      </a:pPr>
                      <a:r>
                        <a:t>SCRUM-48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B2B"/>
                          </a:solidFill>
                        </a:defRPr>
                      </a:pPr>
                      <a:r>
                        <a:t>Ranks which site-status claims to reconfirm first — staleness windows tighten as heat rises.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B2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023360"/>
            <a:ext cx="11064240" cy="914400"/>
          </a:xfrm>
          <a:prstGeom prst="roundRect">
            <a:avLst/>
          </a:prstGeom>
          <a:solidFill>
            <a:srgbClr val="FDECDD"/>
          </a:solidFill>
          <a:ln w="12700">
            <a:solidFill>
              <a:srgbClr val="E05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300">
                <a:solidFill>
                  <a:srgbClr val="16324A"/>
                </a:solidFill>
              </a:defRPr>
            </a:pPr>
            <a:r>
              <a:t>Documented boundary (docs/AGENTS.md): no agent contacts a resident directly. All three produce lists and alerts for a human — a coordinator or org admin — to act on or override. That boundary is deliberate and is meant to survive future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74920"/>
            <a:ext cx="11064240" cy="1005840"/>
          </a:xfrm>
          <a:prstGeom prst="roundRect">
            <a:avLst/>
          </a:prstGeom>
          <a:solidFill>
            <a:srgbClr val="E8EAF2"/>
          </a:solidFill>
          <a:ln w="12700">
            <a:solidFill>
              <a:srgbClr val="E05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300">
                <a:solidFill>
                  <a:srgbClr val="16324A"/>
                </a:solidFill>
              </a:defRPr>
            </a:pPr>
            <a:r>
              <a:t>Escalation rule, exactly as implemented: vulnerable = risk_score ≥ 28 (calibrated against real Texas scores, not a round 40) AND uncovered = no open site within 8km. Both required; escalation is capped at one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HeatSafe Checkpoint  •  Team 5  •  CINS 5338/5388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5A1C"/>
                </a:solidFill>
              </a:defRPr>
            </a:pPr>
            <a:r>
              <a:t>8 — NEW 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A"/>
                </a:solidFill>
              </a:defRPr>
            </a:pPr>
            <a:r>
              <a:t>Caregiver, Volunteer, Cooling Center Staff &amp; Ride-Matching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19050">
            <a:solidFill>
              <a:srgbClr val="E8C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4173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16324A"/>
                </a:solidFill>
              </a:defRPr>
            </a:pPr>
            <a:r>
              <a:t>•  Caregiver Portal (SCRUM-67, 8 pts) — link to a resident with consent, monitor their status, receive the same alerts they would.</a:t>
            </a:r>
          </a:p>
          <a:p>
            <a:pPr>
              <a:spcAft>
                <a:spcPts val="800"/>
              </a:spcAft>
              <a:defRPr sz="1450">
                <a:solidFill>
                  <a:srgbClr val="16324A"/>
                </a:solidFill>
              </a:defRPr>
            </a:pPr>
            <a:r>
              <a:t>•  Volunteer Portal &amp; Assignment Workflow (SCRUM-68, 13 pts) — shift signup, assigned outreach list, in-shift check-in, and a Checkr background-check gate before an in-person assignment.</a:t>
            </a:r>
          </a:p>
          <a:p>
            <a:pPr>
              <a:spcAft>
                <a:spcPts val="800"/>
              </a:spcAft>
              <a:defRPr sz="1450">
                <a:solidFill>
                  <a:srgbClr val="16324A"/>
                </a:solidFill>
              </a:defRPr>
            </a:pPr>
            <a:r>
              <a:t>•  Cooling Center Staff Self-Service (SCRUM-69, 12 pts) — site-scoped status/capacity updates and a daily visit counter, without full admin-portal access.</a:t>
            </a:r>
          </a:p>
          <a:p>
            <a:pPr>
              <a:spcAft>
                <a:spcPts val="800"/>
              </a:spcAft>
              <a:defRPr sz="1450">
                <a:solidFill>
                  <a:srgbClr val="16324A"/>
                </a:solidFill>
              </a:defRPr>
            </a:pPr>
            <a:r>
              <a:t>•  Ride-matching agent (SCRUM-82, 8 pts) — the diagram's “Match cooling ctr, route, and transportation” bubble, built on the existing service-matching and dispatch logic.</a:t>
            </a:r>
          </a:p>
          <a:p>
            <a:pPr>
              <a:spcAft>
                <a:spcPts val="800"/>
              </a:spcAft>
              <a:defRPr sz="1450">
                <a:solidFill>
                  <a:srgbClr val="16324A"/>
                </a:solidFill>
              </a:defRPr>
            </a:pPr>
            <a:r>
              <a:t>•  Coordinator reporting dashboard (SCRUM-83, 5 pts) — one read-only rollup of dispatch coverage, site freshness, capacity, and volunteer contact-log completion by area.</a:t>
            </a:r>
          </a:p>
          <a:p>
            <a:pPr>
              <a:spcAft>
                <a:spcPts val="800"/>
              </a:spcAft>
              <a:defRPr sz="1450">
                <a:solidFill>
                  <a:srgbClr val="16324A"/>
                </a:solidFill>
              </a:defRPr>
            </a:pPr>
            <a:r>
              <a:t>•  All 17 new issues are To Do and unassigned — real, ready-to-groom backlog, not fabricated progress.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HeatSafe Checkpoint  •  Team 5  •  CINS 5338/5388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5A1C"/>
                </a:solidFill>
              </a:defRPr>
            </a:pPr>
            <a:r>
              <a:t>9 — TEAM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A"/>
                </a:solidFill>
              </a:defRPr>
            </a:pPr>
            <a:r>
              <a:t>Scrum Team &amp; Kanban Board Alignment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19050">
            <a:solidFill>
              <a:srgbClr val="E8C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0058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4114800"/>
              </a:tblGrid>
              <a:tr h="3474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Scrum Role</a:t>
                      </a:r>
                    </a:p>
                  </a:txBody>
                  <a:tcPr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Jira Account</a:t>
                      </a:r>
                    </a:p>
                  </a:txBody>
                  <a:tcPr>
                    <a:solidFill>
                      <a:srgbClr val="1632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D'Andre League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Scrum Master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dleague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James Hawkins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jwhawkins@pvamu.edu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Teyana Williams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Developer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Teyana Williams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Ryan Tucker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Developer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2B2B"/>
                          </a:solidFill>
                        </a:defRPr>
                      </a:pPr>
                      <a:r>
                        <a:t>Tucker, Ryan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383280"/>
            <a:ext cx="11064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16324A"/>
                </a:solidFill>
              </a:defRPr>
            </a:pPr>
            <a:r>
              <a:t>•  Kanban columns match the Jira workflow exactly: To Do → In Progress → In Review → Done (transition IDs 11/21/31/41) — no shadow status lives outside Jira.</a:t>
            </a:r>
          </a:p>
          <a:p>
            <a:pPr>
              <a:spcAft>
                <a:spcPts val="800"/>
              </a:spcAft>
              <a:defRPr sz="1450">
                <a:solidFill>
                  <a:srgbClr val="16324A"/>
                </a:solidFill>
              </a:defRPr>
            </a:pPr>
            <a:r>
              <a:t>•  Jira has no Bug issue type. Defects are filed as Tasks prefixed “DEFECT —” (see SCRUM-49) so they still carry acceptance criteria and points.</a:t>
            </a:r>
          </a:p>
          <a:p>
            <a:pPr>
              <a:spcAft>
                <a:spcPts val="800"/>
              </a:spcAft>
              <a:defRPr sz="1450">
                <a:solidFill>
                  <a:srgbClr val="16324A"/>
                </a:solidFill>
              </a:defRPr>
            </a:pPr>
            <a:r>
              <a:t>•  Epic-level status hygiene was corrected this pass — SCRUM-8 moved to Done and SCRUM-29/38/39/48 moved to In Review to match their children, so the board's epic swimlanes now tell the truth at a glance.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HeatSafe Checkpoint  •  Team 5  •  CINS 5338/5388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5A1C"/>
                </a:solidFill>
              </a:defRPr>
            </a:pPr>
            <a:r>
              <a:t>10 — WHAT WE NEED FROM 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A"/>
                </a:solidFill>
              </a:defRPr>
            </a:pPr>
            <a:r>
              <a:t>Outstanding Items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19050">
            <a:solidFill>
              <a:srgbClr val="E8C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4173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6324A"/>
                </a:solidFill>
              </a:defRPr>
            </a:pPr>
            <a:r>
              <a:t>•  Groom &amp; assign the 17 new planned issues (SCRUM-67–69, 70–83) to owners — currently unassigned by design, per the team's own decision to keep new backlog honestly To Do.</a:t>
            </a:r>
          </a:p>
          <a:p>
            <a:pPr>
              <a:spcAft>
                <a:spcPts val="800"/>
              </a:spcAft>
              <a:defRPr sz="1500">
                <a:solidFill>
                  <a:srgbClr val="16324A"/>
                </a:solidFill>
              </a:defRPr>
            </a:pPr>
            <a:r>
              <a:t>•  SCRUM-53 (Organization User Accounts &amp; Audit Trail) has no stories yet — needs breakdown before it can be pointed.</a:t>
            </a:r>
          </a:p>
          <a:p>
            <a:pPr>
              <a:spcAft>
                <a:spcPts val="800"/>
              </a:spcAft>
              <a:defRPr sz="1500">
                <a:solidFill>
                  <a:srgbClr val="16324A"/>
                </a:solidFill>
              </a:defRPr>
            </a:pPr>
            <a:r>
              <a:t>•  Confirm who owns Checkr sandbox credentials for SCRUM-74 before that story is picked up.</a:t>
            </a:r>
          </a:p>
          <a:p>
            <a:pPr>
              <a:spcAft>
                <a:spcPts val="800"/>
              </a:spcAft>
              <a:defRPr sz="1500">
                <a:solidFill>
                  <a:srgbClr val="16324A"/>
                </a:solidFill>
              </a:defRPr>
            </a:pPr>
            <a:r>
              <a:t>•  A stale .git/index.lock on James's machine is blocking one pending commit (corrected docs/AGENTS.md + docs/NEED-SCORING.md) — needs a manual clear, exact commands already handed off.</a:t>
            </a:r>
          </a:p>
          <a:p>
            <a:pPr>
              <a:spcAft>
                <a:spcPts val="800"/>
              </a:spcAft>
              <a:defRPr sz="1500">
                <a:solidFill>
                  <a:srgbClr val="16324A"/>
                </a:solidFill>
              </a:defRPr>
            </a:pPr>
            <a:r>
              <a:t>•  Run the local seed (seed_areas.sql + seed_sites.sql) and merge the site-directory PR so the map/admin screenshots stop showing the old Los Angeles placeholder data.</a:t>
            </a:r>
          </a:p>
          <a:p>
            <a:pPr>
              <a:spcAft>
                <a:spcPts val="800"/>
              </a:spcAft>
              <a:defRPr sz="1500">
                <a:solidFill>
                  <a:srgbClr val="16324A"/>
                </a:solidFill>
              </a:defRPr>
            </a:pPr>
            <a:r>
              <a:t>•  Decide whether the 4 SharePoint/local presentation files this deck supersedes (Team5_Sprint0_Presentation, HeatReliefNetwork_Checkpoint, HeatReliefNetwork_Checkpoint-1, HeatSafe_Progress_Update) should be archived now that everything is consolidated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HeatSafe Checkpoint  •  Team 5  •  CINS 5338/5388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E05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Thank You —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126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HeatSafe — Team 5  •  CINS 5338/5388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