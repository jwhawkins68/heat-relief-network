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194560" y="-2194560"/>
            <a:ext cx="6583680" cy="6583680"/>
          </a:xfrm>
          <a:prstGeom prst="ellipse">
            <a:avLst/>
          </a:prstGeom>
          <a:solidFill>
            <a:srgbClr val="E8543A">
              <a:alpha val="14000"/>
            </a:srgbClr>
          </a:solidFill>
          <a:ln/>
        </p:spPr>
      </p:sp>
      <p:sp>
        <p:nvSpPr>
          <p:cNvPr id="3" name="Shape 1"/>
          <p:cNvSpPr/>
          <p:nvPr/>
        </p:nvSpPr>
        <p:spPr>
          <a:xfrm>
            <a:off x="8595360" y="3474720"/>
            <a:ext cx="6217920" cy="6217920"/>
          </a:xfrm>
          <a:prstGeom prst="ellipse">
            <a:avLst/>
          </a:prstGeom>
          <a:solidFill>
            <a:srgbClr val="C98A2E">
              <a:alpha val="13000"/>
            </a:srgbClr>
          </a:solidFill>
          <a:ln/>
        </p:spPr>
      </p:sp>
      <p:sp>
        <p:nvSpPr>
          <p:cNvPr id="4" name="Text 2"/>
          <p:cNvSpPr txBox="1"/>
          <p:nvPr/>
        </p:nvSpPr>
        <p:spPr>
          <a:xfrm>
            <a:off x="822960" y="1920240"/>
            <a:ext cx="10058400" cy="411480"/>
          </a:xfrm>
          <a:prstGeom prst="rect">
            <a:avLst/>
          </a:prstGeom>
          <a:noFill/>
          <a:ln/>
        </p:spPr>
        <p:txBody>
          <a:bodyPr wrap="square" lIns="0" tIns="0" rIns="0" bIns="0" rtlCol="0" anchor="ctr"/>
          <a:lstStyle/>
          <a:p>
            <a:pPr indent="0" marL="0">
              <a:buNone/>
            </a:pPr>
            <a:r>
              <a:rPr lang="en-US" sz="1500" b="1" spc="500" kern="0" dirty="0">
                <a:solidFill>
                  <a:srgbClr val="E8543A"/>
                </a:solidFill>
                <a:latin typeface="Calibri" pitchFamily="34" charset="0"/>
                <a:ea typeface="Calibri" pitchFamily="34" charset="-122"/>
                <a:cs typeface="Calibri" pitchFamily="34" charset="-120"/>
              </a:rPr>
              <a:t>HEATSAFE</a:t>
            </a:r>
            <a:endParaRPr lang="en-US" sz="1500" dirty="0"/>
          </a:p>
        </p:txBody>
      </p:sp>
      <p:sp>
        <p:nvSpPr>
          <p:cNvPr id="5" name="Text 3"/>
          <p:cNvSpPr txBox="1"/>
          <p:nvPr/>
        </p:nvSpPr>
        <p:spPr>
          <a:xfrm>
            <a:off x="822960" y="2377440"/>
            <a:ext cx="1051560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From Prototype to Operating Pilot</a:t>
            </a:r>
            <a:endParaRPr lang="en-US" sz="4200" dirty="0"/>
          </a:p>
        </p:txBody>
      </p:sp>
      <p:sp>
        <p:nvSpPr>
          <p:cNvPr id="6" name="Text 4"/>
          <p:cNvSpPr txBox="1"/>
          <p:nvPr/>
        </p:nvSpPr>
        <p:spPr>
          <a:xfrm>
            <a:off x="822960" y="3794760"/>
            <a:ext cx="9601200" cy="822960"/>
          </a:xfrm>
          <a:prstGeom prst="rect">
            <a:avLst/>
          </a:prstGeom>
          <a:noFill/>
          <a:ln/>
        </p:spPr>
        <p:txBody>
          <a:bodyPr wrap="square" lIns="0" tIns="0" rIns="0" bIns="0" rtlCol="0" anchor="ctr"/>
          <a:lstStyle/>
          <a:p>
            <a:pPr indent="0" marL="0">
              <a:lnSpc>
                <a:spcPct val="130000"/>
              </a:lnSpc>
              <a:buNone/>
            </a:pPr>
            <a:r>
              <a:rPr lang="en-US" sz="1500" dirty="0">
                <a:solidFill>
                  <a:srgbClr val="CFD6F5"/>
                </a:solidFill>
                <a:latin typeface="Calibri" pitchFamily="34" charset="0"/>
                <a:ea typeface="Calibri" pitchFamily="34" charset="-122"/>
                <a:cs typeface="Calibri" pitchFamily="34" charset="-120"/>
              </a:rPr>
              <a:t>Real Texas data, a resident experience that stopped getting in the way, and three agents that run without being asked.</a:t>
            </a:r>
            <a:endParaRPr lang="en-US" sz="1500" dirty="0"/>
          </a:p>
        </p:txBody>
      </p:sp>
      <p:sp>
        <p:nvSpPr>
          <p:cNvPr id="7" name="Text 5"/>
          <p:cNvSpPr txBox="1"/>
          <p:nvPr/>
        </p:nvSpPr>
        <p:spPr>
          <a:xfrm>
            <a:off x="822960" y="5852160"/>
            <a:ext cx="10058400" cy="365760"/>
          </a:xfrm>
          <a:prstGeom prst="rect">
            <a:avLst/>
          </a:prstGeom>
          <a:noFill/>
          <a:ln/>
        </p:spPr>
        <p:txBody>
          <a:bodyPr wrap="square" lIns="0" tIns="0" rIns="0" bIns="0" rtlCol="0" anchor="ctr"/>
          <a:lstStyle/>
          <a:p>
            <a:pPr indent="0" marL="0">
              <a:buNone/>
            </a:pPr>
            <a:r>
              <a:rPr lang="en-US" sz="1200" dirty="0">
                <a:solidFill>
                  <a:srgbClr val="8891C7"/>
                </a:solidFill>
                <a:latin typeface="Calibri" pitchFamily="34" charset="0"/>
                <a:ea typeface="Calibri" pitchFamily="34" charset="-122"/>
                <a:cs typeface="Calibri" pitchFamily="34" charset="-120"/>
              </a:rPr>
              <a:t>Prepared by Team 5  •  CINS 5338/5388 — Software Project Management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We Are Now</a:t>
            </a:r>
            <a:endParaRPr lang="en-US" sz="3000" dirty="0"/>
          </a:p>
        </p:txBody>
      </p:sp>
      <p:sp>
        <p:nvSpPr>
          <p:cNvPr id="3" name="Shape 1"/>
          <p:cNvSpPr/>
          <p:nvPr/>
        </p:nvSpPr>
        <p:spPr>
          <a:xfrm>
            <a:off x="594360" y="1417320"/>
            <a:ext cx="2697480" cy="1645920"/>
          </a:xfrm>
          <a:prstGeom prst="roundRect">
            <a:avLst>
              <a:gd name="adj" fmla="val 5000"/>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4" name="Text 2"/>
          <p:cNvSpPr txBox="1"/>
          <p:nvPr/>
        </p:nvSpPr>
        <p:spPr>
          <a:xfrm>
            <a:off x="822960" y="1572768"/>
            <a:ext cx="2286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7</a:t>
            </a:r>
            <a:endParaRPr lang="en-US" sz="3400" dirty="0"/>
          </a:p>
        </p:txBody>
      </p:sp>
      <p:sp>
        <p:nvSpPr>
          <p:cNvPr id="5" name="Text 3"/>
          <p:cNvSpPr txBox="1"/>
          <p:nvPr/>
        </p:nvSpPr>
        <p:spPr>
          <a:xfrm>
            <a:off x="822960" y="2267712"/>
            <a:ext cx="22860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epics</a:t>
            </a:r>
            <a:endParaRPr lang="en-US" sz="1350" dirty="0"/>
          </a:p>
        </p:txBody>
      </p:sp>
      <p:sp>
        <p:nvSpPr>
          <p:cNvPr id="6" name="Text 4"/>
          <p:cNvSpPr txBox="1"/>
          <p:nvPr/>
        </p:nvSpPr>
        <p:spPr>
          <a:xfrm>
            <a:off x="822960" y="2578608"/>
            <a:ext cx="2286000" cy="320040"/>
          </a:xfrm>
          <a:prstGeom prst="rect">
            <a:avLst/>
          </a:prstGeom>
          <a:noFill/>
          <a:ln/>
        </p:spPr>
        <p:txBody>
          <a:bodyPr wrap="square" lIns="0" tIns="0" rIns="0" bIns="0" rtlCol="0" anchor="ctr"/>
          <a:lstStyle/>
          <a:p>
            <a:pPr indent="0" marL="0">
              <a:buNone/>
            </a:pPr>
            <a:r>
              <a:rPr lang="en-US" sz="1050" dirty="0">
                <a:solidFill>
                  <a:srgbClr val="EFEFEF"/>
                </a:solidFill>
                <a:latin typeface="Calibri" pitchFamily="34" charset="0"/>
                <a:ea typeface="Calibri" pitchFamily="34" charset="-122"/>
                <a:cs typeface="Calibri" pitchFamily="34" charset="-120"/>
              </a:rPr>
              <a:t>tracked in Jira</a:t>
            </a:r>
            <a:endParaRPr lang="en-US" sz="1050" dirty="0"/>
          </a:p>
        </p:txBody>
      </p:sp>
      <p:sp>
        <p:nvSpPr>
          <p:cNvPr id="7" name="Shape 5"/>
          <p:cNvSpPr/>
          <p:nvPr/>
        </p:nvSpPr>
        <p:spPr>
          <a:xfrm>
            <a:off x="3429000" y="1417320"/>
            <a:ext cx="2697480" cy="1645920"/>
          </a:xfrm>
          <a:prstGeom prst="roundRect">
            <a:avLst>
              <a:gd name="adj" fmla="val 5000"/>
            </a:avLst>
          </a:prstGeom>
          <a:solidFill>
            <a:srgbClr val="E8543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Text 6"/>
          <p:cNvSpPr txBox="1"/>
          <p:nvPr/>
        </p:nvSpPr>
        <p:spPr>
          <a:xfrm>
            <a:off x="3657600" y="1572768"/>
            <a:ext cx="2286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42</a:t>
            </a:r>
            <a:endParaRPr lang="en-US" sz="3400" dirty="0"/>
          </a:p>
        </p:txBody>
      </p:sp>
      <p:sp>
        <p:nvSpPr>
          <p:cNvPr id="9" name="Text 7"/>
          <p:cNvSpPr txBox="1"/>
          <p:nvPr/>
        </p:nvSpPr>
        <p:spPr>
          <a:xfrm>
            <a:off x="3657600" y="2267712"/>
            <a:ext cx="22860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backlog items</a:t>
            </a:r>
            <a:endParaRPr lang="en-US" sz="1350" dirty="0"/>
          </a:p>
        </p:txBody>
      </p:sp>
      <p:sp>
        <p:nvSpPr>
          <p:cNvPr id="10" name="Text 8"/>
          <p:cNvSpPr txBox="1"/>
          <p:nvPr/>
        </p:nvSpPr>
        <p:spPr>
          <a:xfrm>
            <a:off x="3657600" y="2578608"/>
            <a:ext cx="2286000" cy="320040"/>
          </a:xfrm>
          <a:prstGeom prst="rect">
            <a:avLst/>
          </a:prstGeom>
          <a:noFill/>
          <a:ln/>
        </p:spPr>
        <p:txBody>
          <a:bodyPr wrap="square" lIns="0" tIns="0" rIns="0" bIns="0" rtlCol="0" anchor="ctr"/>
          <a:lstStyle/>
          <a:p>
            <a:pPr indent="0" marL="0">
              <a:buNone/>
            </a:pPr>
            <a:r>
              <a:rPr lang="en-US" sz="1050" dirty="0">
                <a:solidFill>
                  <a:srgbClr val="EFEFEF"/>
                </a:solidFill>
                <a:latin typeface="Calibri" pitchFamily="34" charset="0"/>
                <a:ea typeface="Calibri" pitchFamily="34" charset="-122"/>
                <a:cs typeface="Calibri" pitchFamily="34" charset="-120"/>
              </a:rPr>
              <a:t>all formal user stories</a:t>
            </a:r>
            <a:endParaRPr lang="en-US" sz="1050" dirty="0"/>
          </a:p>
        </p:txBody>
      </p:sp>
      <p:sp>
        <p:nvSpPr>
          <p:cNvPr id="11" name="Shape 9"/>
          <p:cNvSpPr/>
          <p:nvPr/>
        </p:nvSpPr>
        <p:spPr>
          <a:xfrm>
            <a:off x="6263640" y="1417320"/>
            <a:ext cx="2697480" cy="1645920"/>
          </a:xfrm>
          <a:prstGeom prst="roundRect">
            <a:avLst>
              <a:gd name="adj" fmla="val 5000"/>
            </a:avLst>
          </a:prstGeom>
          <a:solidFill>
            <a:srgbClr val="2E8B57"/>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2" name="Text 10"/>
          <p:cNvSpPr txBox="1"/>
          <p:nvPr/>
        </p:nvSpPr>
        <p:spPr>
          <a:xfrm>
            <a:off x="6492240" y="1572768"/>
            <a:ext cx="2286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13" name="Text 11"/>
          <p:cNvSpPr txBox="1"/>
          <p:nvPr/>
        </p:nvSpPr>
        <p:spPr>
          <a:xfrm>
            <a:off x="6492240" y="2267712"/>
            <a:ext cx="22860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AI agents</a:t>
            </a:r>
            <a:endParaRPr lang="en-US" sz="1350" dirty="0"/>
          </a:p>
        </p:txBody>
      </p:sp>
      <p:sp>
        <p:nvSpPr>
          <p:cNvPr id="14" name="Text 12"/>
          <p:cNvSpPr txBox="1"/>
          <p:nvPr/>
        </p:nvSpPr>
        <p:spPr>
          <a:xfrm>
            <a:off x="6492240" y="2578608"/>
            <a:ext cx="2286000" cy="320040"/>
          </a:xfrm>
          <a:prstGeom prst="rect">
            <a:avLst/>
          </a:prstGeom>
          <a:noFill/>
          <a:ln/>
        </p:spPr>
        <p:txBody>
          <a:bodyPr wrap="square" lIns="0" tIns="0" rIns="0" bIns="0" rtlCol="0" anchor="ctr"/>
          <a:lstStyle/>
          <a:p>
            <a:pPr indent="0" marL="0">
              <a:buNone/>
            </a:pPr>
            <a:r>
              <a:rPr lang="en-US" sz="1050" dirty="0">
                <a:solidFill>
                  <a:srgbClr val="EFEFEF"/>
                </a:solidFill>
                <a:latin typeface="Calibri" pitchFamily="34" charset="0"/>
                <a:ea typeface="Calibri" pitchFamily="34" charset="-122"/>
                <a:cs typeface="Calibri" pitchFamily="34" charset="-120"/>
              </a:rPr>
              <a:t>scheduled, not chat</a:t>
            </a:r>
            <a:endParaRPr lang="en-US" sz="1050" dirty="0"/>
          </a:p>
        </p:txBody>
      </p:sp>
      <p:sp>
        <p:nvSpPr>
          <p:cNvPr id="15" name="Shape 13"/>
          <p:cNvSpPr/>
          <p:nvPr/>
        </p:nvSpPr>
        <p:spPr>
          <a:xfrm>
            <a:off x="9098280" y="1417320"/>
            <a:ext cx="2697480" cy="1645920"/>
          </a:xfrm>
          <a:prstGeom prst="roundRect">
            <a:avLst>
              <a:gd name="adj" fmla="val 5000"/>
            </a:avLst>
          </a:prstGeom>
          <a:solidFill>
            <a:srgbClr val="C98A2E"/>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6" name="Text 14"/>
          <p:cNvSpPr txBox="1"/>
          <p:nvPr/>
        </p:nvSpPr>
        <p:spPr>
          <a:xfrm>
            <a:off x="9326880" y="1572768"/>
            <a:ext cx="2286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36</a:t>
            </a:r>
            <a:endParaRPr lang="en-US" sz="3400" dirty="0"/>
          </a:p>
        </p:txBody>
      </p:sp>
      <p:sp>
        <p:nvSpPr>
          <p:cNvPr id="17" name="Text 15"/>
          <p:cNvSpPr txBox="1"/>
          <p:nvPr/>
        </p:nvSpPr>
        <p:spPr>
          <a:xfrm>
            <a:off x="9326880" y="2267712"/>
            <a:ext cx="22860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unit tests</a:t>
            </a:r>
            <a:endParaRPr lang="en-US" sz="1350" dirty="0"/>
          </a:p>
        </p:txBody>
      </p:sp>
      <p:sp>
        <p:nvSpPr>
          <p:cNvPr id="18" name="Text 16"/>
          <p:cNvSpPr txBox="1"/>
          <p:nvPr/>
        </p:nvSpPr>
        <p:spPr>
          <a:xfrm>
            <a:off x="9326880" y="2578608"/>
            <a:ext cx="2286000" cy="320040"/>
          </a:xfrm>
          <a:prstGeom prst="rect">
            <a:avLst/>
          </a:prstGeom>
          <a:noFill/>
          <a:ln/>
        </p:spPr>
        <p:txBody>
          <a:bodyPr wrap="square" lIns="0" tIns="0" rIns="0" bIns="0" rtlCol="0" anchor="ctr"/>
          <a:lstStyle/>
          <a:p>
            <a:pPr indent="0" marL="0">
              <a:buNone/>
            </a:pPr>
            <a:r>
              <a:rPr lang="en-US" sz="1050" dirty="0">
                <a:solidFill>
                  <a:srgbClr val="EFEFEF"/>
                </a:solidFill>
                <a:latin typeface="Calibri" pitchFamily="34" charset="0"/>
                <a:ea typeface="Calibri" pitchFamily="34" charset="-122"/>
                <a:cs typeface="Calibri" pitchFamily="34" charset="-120"/>
              </a:rPr>
              <a:t>all passing</a:t>
            </a:r>
            <a:endParaRPr lang="en-US" sz="1050" dirty="0"/>
          </a:p>
        </p:txBody>
      </p:sp>
      <p:sp>
        <p:nvSpPr>
          <p:cNvPr id="19" name="Shape 17"/>
          <p:cNvSpPr/>
          <p:nvPr/>
        </p:nvSpPr>
        <p:spPr>
          <a:xfrm>
            <a:off x="594360" y="3291840"/>
            <a:ext cx="10972800" cy="1234440"/>
          </a:xfrm>
          <a:prstGeom prst="roundRect">
            <a:avLst>
              <a:gd name="adj" fmla="val 6667"/>
            </a:avLst>
          </a:prstGeom>
          <a:solidFill>
            <a:srgbClr val="E4F3EB"/>
          </a:solidFill>
          <a:ln w="12700">
            <a:solidFill>
              <a:srgbClr val="BFE3C9"/>
            </a:solidFill>
            <a:prstDash val="solid"/>
          </a:ln>
          <a:effectLst>
            <a:outerShdw sx="100000" sy="100000" kx="0" ky="0" algn="bl" rotWithShape="0" blurRad="101600" dist="38100" dir="5400000">
              <a:srgbClr val="1E2761">
                <a:alpha val="18000"/>
              </a:srgbClr>
            </a:outerShdw>
          </a:effectLst>
        </p:spPr>
      </p:sp>
      <p:sp>
        <p:nvSpPr>
          <p:cNvPr id="20" name="Shape 18"/>
          <p:cNvSpPr/>
          <p:nvPr/>
        </p:nvSpPr>
        <p:spPr>
          <a:xfrm>
            <a:off x="868680" y="3520440"/>
            <a:ext cx="457200" cy="457200"/>
          </a:xfrm>
          <a:prstGeom prst="ellipse">
            <a:avLst/>
          </a:prstGeom>
          <a:solidFill>
            <a:srgbClr val="2E8B57"/>
          </a:solidFill>
          <a:ln/>
          <a:effectLst>
            <a:outerShdw sx="100000" sy="100000" kx="0" ky="0" algn="bl" rotWithShape="0" blurRad="101600" dist="38100" dir="5400000">
              <a:srgbClr val="1E2761">
                <a:alpha val="18000"/>
              </a:srgbClr>
            </a:outerShdw>
          </a:effectLst>
        </p:spPr>
      </p:sp>
      <p:sp>
        <p:nvSpPr>
          <p:cNvPr id="21" name="Text 19"/>
          <p:cNvSpPr txBox="1"/>
          <p:nvPr/>
        </p:nvSpPr>
        <p:spPr>
          <a:xfrm>
            <a:off x="868680" y="35204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1508760" y="3474720"/>
            <a:ext cx="9692640" cy="292608"/>
          </a:xfrm>
          <a:prstGeom prst="rect">
            <a:avLst/>
          </a:prstGeom>
          <a:noFill/>
          <a:ln/>
        </p:spPr>
        <p:txBody>
          <a:bodyPr wrap="square" lIns="0" tIns="0" rIns="0" bIns="0" rtlCol="0" anchor="ctr"/>
          <a:lstStyle/>
          <a:p>
            <a:pPr indent="0" marL="0">
              <a:buNone/>
            </a:pPr>
            <a:r>
              <a:rPr lang="en-US" sz="1450" b="1" dirty="0">
                <a:solidFill>
                  <a:srgbClr val="2E8B57"/>
                </a:solidFill>
                <a:latin typeface="Calibri" pitchFamily="34" charset="0"/>
                <a:ea typeface="Calibri" pitchFamily="34" charset="-122"/>
                <a:cs typeface="Calibri" pitchFamily="34" charset="-120"/>
              </a:rPr>
              <a:t>Sprint 1 — AI Priority Matching — is complete and merged</a:t>
            </a:r>
            <a:endParaRPr lang="en-US" sz="1450" dirty="0"/>
          </a:p>
        </p:txBody>
      </p:sp>
      <p:sp>
        <p:nvSpPr>
          <p:cNvPr id="23" name="Text 21"/>
          <p:cNvSpPr txBox="1"/>
          <p:nvPr/>
        </p:nvSpPr>
        <p:spPr>
          <a:xfrm>
            <a:off x="1508760" y="3803904"/>
            <a:ext cx="9692640" cy="640080"/>
          </a:xfrm>
          <a:prstGeom prst="rect">
            <a:avLst/>
          </a:prstGeom>
          <a:noFill/>
          <a:ln/>
        </p:spPr>
        <p:txBody>
          <a:bodyPr wrap="square" lIns="0" tIns="0" rIns="0" bIns="0" rtlCol="0" anchor="ctr"/>
          <a:lstStyle/>
          <a:p>
            <a:pPr indent="0" marL="0">
              <a:lnSpc>
                <a:spcPct val="120000"/>
              </a:lnSpc>
              <a:buNone/>
            </a:pPr>
            <a:r>
              <a:rPr lang="en-US" sz="1150" dirty="0">
                <a:solidFill>
                  <a:srgbClr val="2B2B2B"/>
                </a:solidFill>
                <a:latin typeface="Calibri" pitchFamily="34" charset="0"/>
                <a:ea typeface="Calibri" pitchFamily="34" charset="-122"/>
                <a:cs typeface="Calibri" pitchFamily="34" charset="-120"/>
              </a:rPr>
              <a:t>Six stories, twenty-one points, merged to main through a pull request. The scoring engine that makes this more than a directory of addresses was built and proven first, deliberately, rather than saved for last.</a:t>
            </a:r>
            <a:endParaRPr lang="en-US" sz="1150" dirty="0"/>
          </a:p>
        </p:txBody>
      </p:sp>
      <p:sp>
        <p:nvSpPr>
          <p:cNvPr id="24" name="Shape 22"/>
          <p:cNvSpPr/>
          <p:nvPr/>
        </p:nvSpPr>
        <p:spPr>
          <a:xfrm>
            <a:off x="594360" y="4709160"/>
            <a:ext cx="10972800" cy="1371600"/>
          </a:xfrm>
          <a:prstGeom prst="roundRect">
            <a:avLst>
              <a:gd name="adj" fmla="val 6000"/>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5" name="Text 23"/>
          <p:cNvSpPr txBox="1"/>
          <p:nvPr/>
        </p:nvSpPr>
        <p:spPr>
          <a:xfrm>
            <a:off x="868680" y="4892040"/>
            <a:ext cx="1042416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 change that matters most</a:t>
            </a:r>
            <a:endParaRPr lang="en-US" sz="1400" dirty="0"/>
          </a:p>
        </p:txBody>
      </p:sp>
      <p:sp>
        <p:nvSpPr>
          <p:cNvPr id="26" name="Text 24"/>
          <p:cNvSpPr txBox="1"/>
          <p:nvPr/>
        </p:nvSpPr>
        <p:spPr>
          <a:xfrm>
            <a:off x="868680" y="5230368"/>
            <a:ext cx="10424160" cy="73152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alibri" pitchFamily="34" charset="0"/>
                <a:ea typeface="Calibri" pitchFamily="34" charset="-122"/>
                <a:cs typeface="Calibri" pitchFamily="34" charset="-120"/>
              </a:rPr>
              <a:t>The system no longer runs on invented data. Eleven real relief sites across five Texas counties, every priority score computed from a real heat index and real neighbourhood demographics. Every address on the map is somewhere a person could actually drive to today.</a:t>
            </a:r>
            <a:endParaRPr lang="en-US" sz="1200" dirty="0"/>
          </a:p>
        </p:txBody>
      </p:sp>
      <p:sp>
        <p:nvSpPr>
          <p:cNvPr id="27" name="Text 25"/>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Changed Since the Checkpoint</a:t>
            </a:r>
            <a:endParaRPr lang="en-US" sz="3000" dirty="0"/>
          </a:p>
        </p:txBody>
      </p:sp>
      <p:sp>
        <p:nvSpPr>
          <p:cNvPr id="3" name="Shape 1"/>
          <p:cNvSpPr/>
          <p:nvPr/>
        </p:nvSpPr>
        <p:spPr>
          <a:xfrm>
            <a:off x="594360" y="1481328"/>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 name="Text 2"/>
          <p:cNvSpPr txBox="1"/>
          <p:nvPr/>
        </p:nvSpPr>
        <p:spPr>
          <a:xfrm>
            <a:off x="59436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5" name="Text 3"/>
          <p:cNvSpPr txBox="1"/>
          <p:nvPr/>
        </p:nvSpPr>
        <p:spPr>
          <a:xfrm>
            <a:off x="1252728" y="1408176"/>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For residents</a:t>
            </a:r>
            <a:endParaRPr lang="en-US" sz="1450" dirty="0"/>
          </a:p>
        </p:txBody>
      </p:sp>
      <p:sp>
        <p:nvSpPr>
          <p:cNvPr id="6" name="Text 4"/>
          <p:cNvSpPr txBox="1"/>
          <p:nvPr/>
        </p:nvSpPr>
        <p:spPr>
          <a:xfrm>
            <a:off x="1252728" y="1682496"/>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ZIP code search, a radius selector that works, and a search that widens itself rather than showing an empty screen.</a:t>
            </a:r>
            <a:endParaRPr lang="en-US" sz="1130" dirty="0"/>
          </a:p>
        </p:txBody>
      </p:sp>
      <p:sp>
        <p:nvSpPr>
          <p:cNvPr id="7" name="Shape 5"/>
          <p:cNvSpPr/>
          <p:nvPr/>
        </p:nvSpPr>
        <p:spPr>
          <a:xfrm>
            <a:off x="594360" y="2267712"/>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8" name="Text 6"/>
          <p:cNvSpPr txBox="1"/>
          <p:nvPr/>
        </p:nvSpPr>
        <p:spPr>
          <a:xfrm>
            <a:off x="594360" y="226771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a:t>
            </a:r>
            <a:endParaRPr lang="en-US" sz="1200" dirty="0"/>
          </a:p>
        </p:txBody>
      </p:sp>
      <p:sp>
        <p:nvSpPr>
          <p:cNvPr id="9" name="Text 7"/>
          <p:cNvSpPr txBox="1"/>
          <p:nvPr/>
        </p:nvSpPr>
        <p:spPr>
          <a:xfrm>
            <a:off x="1252728" y="2194560"/>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For organizations</a:t>
            </a:r>
            <a:endParaRPr lang="en-US" sz="1450" dirty="0"/>
          </a:p>
        </p:txBody>
      </p:sp>
      <p:sp>
        <p:nvSpPr>
          <p:cNvPr id="10" name="Text 8"/>
          <p:cNvSpPr txBox="1"/>
          <p:nvPr/>
        </p:nvSpPr>
        <p:spPr>
          <a:xfrm>
            <a:off x="1252728" y="2468880"/>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A secured portal, invite-based registration, and a priority queue of residents ordered by need.</a:t>
            </a:r>
            <a:endParaRPr lang="en-US" sz="1130" dirty="0"/>
          </a:p>
        </p:txBody>
      </p:sp>
      <p:sp>
        <p:nvSpPr>
          <p:cNvPr id="11" name="Shape 9"/>
          <p:cNvSpPr/>
          <p:nvPr/>
        </p:nvSpPr>
        <p:spPr>
          <a:xfrm>
            <a:off x="594360" y="3054096"/>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2" name="Text 10"/>
          <p:cNvSpPr txBox="1"/>
          <p:nvPr/>
        </p:nvSpPr>
        <p:spPr>
          <a:xfrm>
            <a:off x="594360" y="30540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a:t>
            </a:r>
            <a:endParaRPr lang="en-US" sz="1200" dirty="0"/>
          </a:p>
        </p:txBody>
      </p:sp>
      <p:sp>
        <p:nvSpPr>
          <p:cNvPr id="13" name="Text 11"/>
          <p:cNvSpPr txBox="1"/>
          <p:nvPr/>
        </p:nvSpPr>
        <p:spPr>
          <a:xfrm>
            <a:off x="1252728" y="2980944"/>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Three agents</a:t>
            </a:r>
            <a:endParaRPr lang="en-US" sz="1450" dirty="0"/>
          </a:p>
        </p:txBody>
      </p:sp>
      <p:sp>
        <p:nvSpPr>
          <p:cNvPr id="14" name="Text 12"/>
          <p:cNvSpPr txBox="1"/>
          <p:nvPr/>
        </p:nvSpPr>
        <p:spPr>
          <a:xfrm>
            <a:off x="1252728" y="3255264"/>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Heat Watch, Dispatch Planner and Site Status Freshness — all scheduled, all explaining themselves.</a:t>
            </a:r>
            <a:endParaRPr lang="en-US" sz="1130" dirty="0"/>
          </a:p>
        </p:txBody>
      </p:sp>
      <p:sp>
        <p:nvSpPr>
          <p:cNvPr id="15" name="Shape 13"/>
          <p:cNvSpPr/>
          <p:nvPr/>
        </p:nvSpPr>
        <p:spPr>
          <a:xfrm>
            <a:off x="594360" y="3840480"/>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594360" y="3840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200" dirty="0"/>
          </a:p>
        </p:txBody>
      </p:sp>
      <p:sp>
        <p:nvSpPr>
          <p:cNvPr id="17" name="Text 15"/>
          <p:cNvSpPr txBox="1"/>
          <p:nvPr/>
        </p:nvSpPr>
        <p:spPr>
          <a:xfrm>
            <a:off x="1252728" y="3767328"/>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Real data</a:t>
            </a:r>
            <a:endParaRPr lang="en-US" sz="1450" dirty="0"/>
          </a:p>
        </p:txBody>
      </p:sp>
      <p:sp>
        <p:nvSpPr>
          <p:cNvPr id="18" name="Text 16"/>
          <p:cNvSpPr txBox="1"/>
          <p:nvPr/>
        </p:nvSpPr>
        <p:spPr>
          <a:xfrm>
            <a:off x="1252728" y="4041648"/>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Texas pilot region seeded with verified sites; the Los Angeles placeholder set retired.</a:t>
            </a:r>
            <a:endParaRPr lang="en-US" sz="1130" dirty="0"/>
          </a:p>
        </p:txBody>
      </p:sp>
      <p:sp>
        <p:nvSpPr>
          <p:cNvPr id="19" name="Shape 17"/>
          <p:cNvSpPr/>
          <p:nvPr/>
        </p:nvSpPr>
        <p:spPr>
          <a:xfrm>
            <a:off x="594360" y="4626864"/>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594360" y="46268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
            </a:r>
            <a:endParaRPr lang="en-US" sz="1200" dirty="0"/>
          </a:p>
        </p:txBody>
      </p:sp>
      <p:sp>
        <p:nvSpPr>
          <p:cNvPr id="21" name="Text 19"/>
          <p:cNvSpPr txBox="1"/>
          <p:nvPr/>
        </p:nvSpPr>
        <p:spPr>
          <a:xfrm>
            <a:off x="1252728" y="4553712"/>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Front end</a:t>
            </a:r>
            <a:endParaRPr lang="en-US" sz="1450" dirty="0"/>
          </a:p>
        </p:txBody>
      </p:sp>
      <p:sp>
        <p:nvSpPr>
          <p:cNvPr id="22" name="Text 20"/>
          <p:cNvSpPr txBox="1"/>
          <p:nvPr/>
        </p:nvSpPr>
        <p:spPr>
          <a:xfrm>
            <a:off x="1252728" y="4828032"/>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Rebuild in React + Vite decided and documented; product renamed to HeatSafe across the UI.</a:t>
            </a:r>
            <a:endParaRPr lang="en-US" sz="1130" dirty="0"/>
          </a:p>
        </p:txBody>
      </p:sp>
      <p:sp>
        <p:nvSpPr>
          <p:cNvPr id="23" name="Shape 21"/>
          <p:cNvSpPr/>
          <p:nvPr/>
        </p:nvSpPr>
        <p:spPr>
          <a:xfrm>
            <a:off x="594360" y="5413248"/>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24" name="Text 22"/>
          <p:cNvSpPr txBox="1"/>
          <p:nvPr/>
        </p:nvSpPr>
        <p:spPr>
          <a:xfrm>
            <a:off x="594360" y="54132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FX</a:t>
            </a:r>
            <a:endParaRPr lang="en-US" sz="1200" dirty="0"/>
          </a:p>
        </p:txBody>
      </p:sp>
      <p:sp>
        <p:nvSpPr>
          <p:cNvPr id="25" name="Text 23"/>
          <p:cNvSpPr txBox="1"/>
          <p:nvPr/>
        </p:nvSpPr>
        <p:spPr>
          <a:xfrm>
            <a:off x="1252728" y="5340096"/>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Defects closed</a:t>
            </a:r>
            <a:endParaRPr lang="en-US" sz="1450" dirty="0"/>
          </a:p>
        </p:txBody>
      </p:sp>
      <p:sp>
        <p:nvSpPr>
          <p:cNvPr id="26" name="Text 24"/>
          <p:cNvSpPr txBox="1"/>
          <p:nvPr/>
        </p:nvSpPr>
        <p:spPr>
          <a:xfrm>
            <a:off x="1252728" y="5614416"/>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A silently-invalid form field and a scoring threshold that could never fire against real data.</a:t>
            </a:r>
            <a:endParaRPr lang="en-US" sz="1130" dirty="0"/>
          </a:p>
        </p:txBody>
      </p:sp>
      <p:sp>
        <p:nvSpPr>
          <p:cNvPr id="27" name="Text 25"/>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EVERY CHANGE HERE REMOVED SOMETHING THAT WAS IN THE WAY</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Resident Experience</a:t>
            </a:r>
            <a:endParaRPr lang="en-US" sz="3000" dirty="0"/>
          </a:p>
        </p:txBody>
      </p:sp>
      <p:sp>
        <p:nvSpPr>
          <p:cNvPr id="4" name="Shape 2"/>
          <p:cNvSpPr/>
          <p:nvPr/>
        </p:nvSpPr>
        <p:spPr>
          <a:xfrm>
            <a:off x="594360" y="1481328"/>
            <a:ext cx="10972800" cy="868680"/>
          </a:xfrm>
          <a:prstGeom prst="roundRect">
            <a:avLst>
              <a:gd name="adj" fmla="val 9474"/>
            </a:avLst>
          </a:prstGeom>
          <a:solidFill>
            <a:srgbClr val="F4F5FA"/>
          </a:solidFill>
          <a:ln w="12700">
            <a:solidFill>
              <a:srgbClr val="E1E4F0"/>
            </a:solidFill>
            <a:prstDash val="solid"/>
          </a:ln>
        </p:spPr>
      </p:sp>
      <p:sp>
        <p:nvSpPr>
          <p:cNvPr id="5" name="Text 3"/>
          <p:cNvSpPr txBox="1"/>
          <p:nvPr/>
        </p:nvSpPr>
        <p:spPr>
          <a:xfrm>
            <a:off x="868680" y="1591056"/>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Search by ZIP code</a:t>
            </a:r>
            <a:endParaRPr lang="en-US" sz="1350" dirty="0"/>
          </a:p>
        </p:txBody>
      </p:sp>
      <p:sp>
        <p:nvSpPr>
          <p:cNvPr id="6" name="Text 4"/>
          <p:cNvSpPr txBox="1"/>
          <p:nvPr/>
        </p:nvSpPr>
        <p:spPr>
          <a:xfrm>
            <a:off x="868680" y="1883664"/>
            <a:ext cx="10424160" cy="384048"/>
          </a:xfrm>
          <a:prstGeom prst="rect">
            <a:avLst/>
          </a:prstGeom>
          <a:noFill/>
          <a:ln/>
        </p:spPr>
        <p:txBody>
          <a:bodyPr wrap="square" lIns="0" tIns="0" rIns="0" bIns="0" rtlCol="0" anchor="ctr"/>
          <a:lstStyle/>
          <a:p>
            <a:pPr indent="0" marL="0">
              <a:lnSpc>
                <a:spcPct val="115000"/>
              </a:lnSpc>
              <a:buNone/>
            </a:pPr>
            <a:r>
              <a:rPr lang="en-US" sz="1120" dirty="0">
                <a:solidFill>
                  <a:srgbClr val="2B2B2B"/>
                </a:solidFill>
                <a:latin typeface="Calibri" pitchFamily="34" charset="0"/>
                <a:ea typeface="Calibri" pitchFamily="34" charset="-122"/>
                <a:cs typeface="Calibri" pitchFamily="34" charset="-120"/>
              </a:rPr>
              <a:t>Before: a resident had to type raw latitude and longitude. Now they type the ZIP they already know.</a:t>
            </a:r>
            <a:endParaRPr lang="en-US" sz="1120" dirty="0"/>
          </a:p>
        </p:txBody>
      </p:sp>
      <p:sp>
        <p:nvSpPr>
          <p:cNvPr id="7" name="Shape 5"/>
          <p:cNvSpPr/>
          <p:nvPr/>
        </p:nvSpPr>
        <p:spPr>
          <a:xfrm>
            <a:off x="594360" y="2423160"/>
            <a:ext cx="10972800" cy="868680"/>
          </a:xfrm>
          <a:prstGeom prst="roundRect">
            <a:avLst>
              <a:gd name="adj" fmla="val 9474"/>
            </a:avLst>
          </a:prstGeom>
          <a:solidFill>
            <a:srgbClr val="FFFFFF"/>
          </a:solidFill>
          <a:ln w="12700">
            <a:solidFill>
              <a:srgbClr val="E1E4F0"/>
            </a:solidFill>
            <a:prstDash val="solid"/>
          </a:ln>
        </p:spPr>
      </p:sp>
      <p:sp>
        <p:nvSpPr>
          <p:cNvPr id="8" name="Text 6"/>
          <p:cNvSpPr txBox="1"/>
          <p:nvPr/>
        </p:nvSpPr>
        <p:spPr>
          <a:xfrm>
            <a:off x="868680" y="2532888"/>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 radius they can pick</a:t>
            </a:r>
            <a:endParaRPr lang="en-US" sz="1350" dirty="0"/>
          </a:p>
        </p:txBody>
      </p:sp>
      <p:sp>
        <p:nvSpPr>
          <p:cNvPr id="9" name="Text 7"/>
          <p:cNvSpPr txBox="1"/>
          <p:nvPr/>
        </p:nvSpPr>
        <p:spPr>
          <a:xfrm>
            <a:off x="868680" y="2825496"/>
            <a:ext cx="10424160" cy="384048"/>
          </a:xfrm>
          <a:prstGeom prst="rect">
            <a:avLst/>
          </a:prstGeom>
          <a:noFill/>
          <a:ln/>
        </p:spPr>
        <p:txBody>
          <a:bodyPr wrap="square" lIns="0" tIns="0" rIns="0" bIns="0" rtlCol="0" anchor="ctr"/>
          <a:lstStyle/>
          <a:p>
            <a:pPr indent="0" marL="0">
              <a:lnSpc>
                <a:spcPct val="115000"/>
              </a:lnSpc>
              <a:buNone/>
            </a:pPr>
            <a:r>
              <a:rPr lang="en-US" sz="1120" dirty="0">
                <a:solidFill>
                  <a:srgbClr val="2B2B2B"/>
                </a:solidFill>
                <a:latin typeface="Calibri" pitchFamily="34" charset="0"/>
                <a:ea typeface="Calibri" pitchFamily="34" charset="-122"/>
                <a:cs typeface="Calibri" pitchFamily="34" charset="-120"/>
              </a:rPr>
              <a:t>Before: a free-text metre field that silently rejected its own default and made Search do nothing. Now: 5, 10, 25 or 50 miles.</a:t>
            </a:r>
            <a:endParaRPr lang="en-US" sz="1120" dirty="0"/>
          </a:p>
        </p:txBody>
      </p:sp>
      <p:sp>
        <p:nvSpPr>
          <p:cNvPr id="10" name="Shape 8"/>
          <p:cNvSpPr/>
          <p:nvPr/>
        </p:nvSpPr>
        <p:spPr>
          <a:xfrm>
            <a:off x="594360" y="3364992"/>
            <a:ext cx="10972800" cy="868680"/>
          </a:xfrm>
          <a:prstGeom prst="roundRect">
            <a:avLst>
              <a:gd name="adj" fmla="val 9474"/>
            </a:avLst>
          </a:prstGeom>
          <a:solidFill>
            <a:srgbClr val="F4F5FA"/>
          </a:solidFill>
          <a:ln w="12700">
            <a:solidFill>
              <a:srgbClr val="E1E4F0"/>
            </a:solidFill>
            <a:prstDash val="solid"/>
          </a:ln>
        </p:spPr>
      </p:sp>
      <p:sp>
        <p:nvSpPr>
          <p:cNvPr id="11" name="Text 9"/>
          <p:cNvSpPr txBox="1"/>
          <p:nvPr/>
        </p:nvSpPr>
        <p:spPr>
          <a:xfrm>
            <a:off x="868680" y="3474720"/>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 search that widens itself</a:t>
            </a:r>
            <a:endParaRPr lang="en-US" sz="1350" dirty="0"/>
          </a:p>
        </p:txBody>
      </p:sp>
      <p:sp>
        <p:nvSpPr>
          <p:cNvPr id="12" name="Text 10"/>
          <p:cNvSpPr txBox="1"/>
          <p:nvPr/>
        </p:nvSpPr>
        <p:spPr>
          <a:xfrm>
            <a:off x="868680" y="3767328"/>
            <a:ext cx="10424160" cy="384048"/>
          </a:xfrm>
          <a:prstGeom prst="rect">
            <a:avLst/>
          </a:prstGeom>
          <a:noFill/>
          <a:ln/>
        </p:spPr>
        <p:txBody>
          <a:bodyPr wrap="square" lIns="0" tIns="0" rIns="0" bIns="0" rtlCol="0" anchor="ctr"/>
          <a:lstStyle/>
          <a:p>
            <a:pPr indent="0" marL="0">
              <a:lnSpc>
                <a:spcPct val="115000"/>
              </a:lnSpc>
              <a:buNone/>
            </a:pPr>
            <a:r>
              <a:rPr lang="en-US" sz="1120" dirty="0">
                <a:solidFill>
                  <a:srgbClr val="2B2B2B"/>
                </a:solidFill>
                <a:latin typeface="Calibri" pitchFamily="34" charset="0"/>
                <a:ea typeface="Calibri" pitchFamily="34" charset="-122"/>
                <a:cs typeface="Calibri" pitchFamily="34" charset="-120"/>
              </a:rPr>
              <a:t>Eleven sites across a whole state means a tight radius usually finds nothing. Rather than an empty list, the search widens and says how far it had to look.</a:t>
            </a:r>
            <a:endParaRPr lang="en-US" sz="1120" dirty="0"/>
          </a:p>
        </p:txBody>
      </p:sp>
      <p:sp>
        <p:nvSpPr>
          <p:cNvPr id="13" name="Shape 11"/>
          <p:cNvSpPr/>
          <p:nvPr/>
        </p:nvSpPr>
        <p:spPr>
          <a:xfrm>
            <a:off x="594360" y="4306824"/>
            <a:ext cx="10972800" cy="868680"/>
          </a:xfrm>
          <a:prstGeom prst="roundRect">
            <a:avLst>
              <a:gd name="adj" fmla="val 9474"/>
            </a:avLst>
          </a:prstGeom>
          <a:solidFill>
            <a:srgbClr val="FFFFFF"/>
          </a:solidFill>
          <a:ln w="12700">
            <a:solidFill>
              <a:srgbClr val="E1E4F0"/>
            </a:solidFill>
            <a:prstDash val="solid"/>
          </a:ln>
        </p:spPr>
      </p:sp>
      <p:sp>
        <p:nvSpPr>
          <p:cNvPr id="14" name="Text 12"/>
          <p:cNvSpPr txBox="1"/>
          <p:nvPr/>
        </p:nvSpPr>
        <p:spPr>
          <a:xfrm>
            <a:off x="868680" y="4416552"/>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An honest empty state</a:t>
            </a:r>
            <a:endParaRPr lang="en-US" sz="1350" dirty="0"/>
          </a:p>
        </p:txBody>
      </p:sp>
      <p:sp>
        <p:nvSpPr>
          <p:cNvPr id="15" name="Text 13"/>
          <p:cNvSpPr txBox="1"/>
          <p:nvPr/>
        </p:nvSpPr>
        <p:spPr>
          <a:xfrm>
            <a:off x="868680" y="4709160"/>
            <a:ext cx="10424160" cy="384048"/>
          </a:xfrm>
          <a:prstGeom prst="rect">
            <a:avLst/>
          </a:prstGeom>
          <a:noFill/>
          <a:ln/>
        </p:spPr>
        <p:txBody>
          <a:bodyPr wrap="square" lIns="0" tIns="0" rIns="0" bIns="0" rtlCol="0" anchor="ctr"/>
          <a:lstStyle/>
          <a:p>
            <a:pPr indent="0" marL="0">
              <a:lnSpc>
                <a:spcPct val="115000"/>
              </a:lnSpc>
              <a:buNone/>
            </a:pPr>
            <a:r>
              <a:rPr lang="en-US" sz="1120" dirty="0">
                <a:solidFill>
                  <a:srgbClr val="2B2B2B"/>
                </a:solidFill>
                <a:latin typeface="Calibri" pitchFamily="34" charset="0"/>
                <a:ea typeface="Calibri" pitchFamily="34" charset="-122"/>
                <a:cs typeface="Calibri" pitchFamily="34" charset="-120"/>
              </a:rPr>
              <a:t>When nothing is found it names the five pilot cities instead of saying “no sites match these filters”.</a:t>
            </a:r>
            <a:endParaRPr lang="en-US" sz="1120" dirty="0"/>
          </a:p>
        </p:txBody>
      </p:sp>
      <p:sp>
        <p:nvSpPr>
          <p:cNvPr id="16" name="Shape 14"/>
          <p:cNvSpPr/>
          <p:nvPr/>
        </p:nvSpPr>
        <p:spPr>
          <a:xfrm>
            <a:off x="594360" y="5248656"/>
            <a:ext cx="10972800" cy="868680"/>
          </a:xfrm>
          <a:prstGeom prst="roundRect">
            <a:avLst>
              <a:gd name="adj" fmla="val 9474"/>
            </a:avLst>
          </a:prstGeom>
          <a:solidFill>
            <a:srgbClr val="F4F5FA"/>
          </a:solidFill>
          <a:ln w="12700">
            <a:solidFill>
              <a:srgbClr val="E1E4F0"/>
            </a:solidFill>
            <a:prstDash val="solid"/>
          </a:ln>
        </p:spPr>
      </p:sp>
      <p:sp>
        <p:nvSpPr>
          <p:cNvPr id="17" name="Text 15"/>
          <p:cNvSpPr txBox="1"/>
          <p:nvPr/>
        </p:nvSpPr>
        <p:spPr>
          <a:xfrm>
            <a:off x="868680" y="5358384"/>
            <a:ext cx="1042416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Registration for priority access</a:t>
            </a:r>
            <a:endParaRPr lang="en-US" sz="1350" dirty="0"/>
          </a:p>
        </p:txBody>
      </p:sp>
      <p:sp>
        <p:nvSpPr>
          <p:cNvPr id="18" name="Text 16"/>
          <p:cNvSpPr txBox="1"/>
          <p:nvPr/>
        </p:nvSpPr>
        <p:spPr>
          <a:xfrm>
            <a:off x="868680" y="5650992"/>
            <a:ext cx="10424160" cy="384048"/>
          </a:xfrm>
          <a:prstGeom prst="rect">
            <a:avLst/>
          </a:prstGeom>
          <a:noFill/>
          <a:ln/>
        </p:spPr>
        <p:txBody>
          <a:bodyPr wrap="square" lIns="0" tIns="0" rIns="0" bIns="0" rtlCol="0" anchor="ctr"/>
          <a:lstStyle/>
          <a:p>
            <a:pPr indent="0" marL="0">
              <a:lnSpc>
                <a:spcPct val="115000"/>
              </a:lnSpc>
              <a:buNone/>
            </a:pPr>
            <a:r>
              <a:rPr lang="en-US" sz="1120" dirty="0">
                <a:solidFill>
                  <a:srgbClr val="2B2B2B"/>
                </a:solidFill>
                <a:latin typeface="Calibri" pitchFamily="34" charset="0"/>
                <a:ea typeface="Calibri" pitchFamily="34" charset="-122"/>
                <a:cs typeface="Calibri" pitchFamily="34" charset="-120"/>
              </a:rPr>
              <a:t>An invited resident answers a short intake and immediately sees their priority tier, why, and which nearby sites fit their situation.</a:t>
            </a:r>
            <a:endParaRPr lang="en-US" sz="1120" dirty="0"/>
          </a:p>
        </p:txBody>
      </p:sp>
      <p:sp>
        <p:nvSpPr>
          <p:cNvPr id="19" name="Text 17"/>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20"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Resident View, Running on Real Data</a:t>
            </a:r>
            <a:endParaRPr lang="en-US" sz="3000" dirty="0"/>
          </a:p>
        </p:txBody>
      </p:sp>
      <p:sp>
        <p:nvSpPr>
          <p:cNvPr id="3" name="Shape 1"/>
          <p:cNvSpPr/>
          <p:nvPr/>
        </p:nvSpPr>
        <p:spPr>
          <a:xfrm>
            <a:off x="448056" y="1316736"/>
            <a:ext cx="7973568" cy="4956048"/>
          </a:xfrm>
          <a:prstGeom prst="roundRect">
            <a:avLst>
              <a:gd name="adj" fmla="val 1661"/>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4" name="Image 0" descr="/tmp/claude-0/-home-claude/adf370eb-f340-5a92-b171-fa65d773f298/scratchpad/texas-shots/map_texas.jpg">    </p:cNvPr>
          <p:cNvPicPr>
            <a:picLocks noChangeAspect="1"/>
          </p:cNvPicPr>
          <p:nvPr/>
        </p:nvPicPr>
        <p:blipFill>
          <a:blip r:embed="rId1"/>
          <a:srcRect l="0" r="0" t="0" b="0"/>
          <a:stretch/>
        </p:blipFill>
        <p:spPr>
          <a:xfrm>
            <a:off x="502920" y="1371600"/>
            <a:ext cx="7863840" cy="4846320"/>
          </a:xfrm>
          <a:prstGeom prst="rect">
            <a:avLst/>
          </a:prstGeom>
        </p:spPr>
      </p:pic>
      <p:sp>
        <p:nvSpPr>
          <p:cNvPr id="5" name="Shape 2"/>
          <p:cNvSpPr/>
          <p:nvPr/>
        </p:nvSpPr>
        <p:spPr>
          <a:xfrm>
            <a:off x="8595360" y="1463040"/>
            <a:ext cx="3017520" cy="4663440"/>
          </a:xfrm>
          <a:prstGeom prst="roundRect">
            <a:avLst>
              <a:gd name="adj" fmla="val 2727"/>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6" name="Text 3"/>
          <p:cNvSpPr txBox="1"/>
          <p:nvPr/>
        </p:nvSpPr>
        <p:spPr>
          <a:xfrm>
            <a:off x="8823960" y="1645920"/>
            <a:ext cx="2606040" cy="29260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What you are looking at</a:t>
            </a:r>
            <a:endParaRPr lang="en-US" sz="1350" dirty="0"/>
          </a:p>
        </p:txBody>
      </p:sp>
      <p:sp>
        <p:nvSpPr>
          <p:cNvPr id="7" name="Text 4"/>
          <p:cNvSpPr/>
          <p:nvPr/>
        </p:nvSpPr>
        <p:spPr>
          <a:xfrm>
            <a:off x="8823960" y="2011680"/>
            <a:ext cx="2606040" cy="3017520"/>
          </a:xfrm>
          <a:prstGeom prst="rect">
            <a:avLst/>
          </a:prstGeom>
          <a:noFill/>
          <a:ln/>
        </p:spPr>
        <p:txBody>
          <a:bodyPr wrap="square" lIns="0" tIns="0" rIns="0" bIns="0" rtlCol="0" anchor="t"/>
          <a:lstStyle/>
          <a:p>
            <a:pPr marL="152400" indent="-152400">
              <a:lnSpc>
                <a:spcPct val="108000"/>
              </a:lnSpc>
              <a:buSzPct val="100000"/>
              <a:buChar char="•"/>
            </a:pPr>
            <a:r>
              <a:rPr lang="en-US" sz="1060" dirty="0">
                <a:solidFill>
                  <a:srgbClr val="2B2B2B"/>
                </a:solidFill>
                <a:latin typeface="Calibri" pitchFamily="34" charset="0"/>
                <a:ea typeface="Calibri" pitchFamily="34" charset="-122"/>
                <a:cs typeface="Calibri" pitchFamily="34" charset="-120"/>
              </a:rPr>
              <a:t>Eleven real relief sites across Houston, Dallas, Fort Worth, Austin and San Antonio.</a:t>
            </a:r>
            <a:endParaRPr lang="en-US" sz="1060" dirty="0"/>
          </a:p>
          <a:p>
            <a:pPr marL="152400" indent="-152400">
              <a:lnSpc>
                <a:spcPct val="108000"/>
              </a:lnSpc>
              <a:buSzPct val="100000"/>
              <a:buChar char="•"/>
            </a:pPr>
            <a:r>
              <a:rPr lang="en-US" sz="1060" dirty="0">
                <a:solidFill>
                  <a:srgbClr val="2B2B2B"/>
                </a:solidFill>
                <a:latin typeface="Calibri" pitchFamily="34" charset="0"/>
                <a:ea typeface="Calibri" pitchFamily="34" charset="-122"/>
                <a:cs typeface="Calibri" pitchFamily="34" charset="-120"/>
              </a:rPr>
              <a:t>Library branches serving as cooling centres, recreation centres, parks with splash pads and water stations.</a:t>
            </a:r>
            <a:endParaRPr lang="en-US" sz="1060" dirty="0"/>
          </a:p>
          <a:p>
            <a:pPr marL="152400" indent="-152400">
              <a:lnSpc>
                <a:spcPct val="108000"/>
              </a:lnSpc>
              <a:buSzPct val="100000"/>
              <a:buChar char="•"/>
            </a:pPr>
            <a:r>
              <a:rPr lang="en-US" sz="1060" dirty="0">
                <a:solidFill>
                  <a:srgbClr val="2B2B2B"/>
                </a:solidFill>
                <a:latin typeface="Calibri" pitchFamily="34" charset="0"/>
                <a:ea typeface="Calibri" pitchFamily="34" charset="-122"/>
                <a:cs typeface="Calibri" pitchFamily="34" charset="-120"/>
              </a:rPr>
              <a:t>Every address verified against the city's own library or parks department and geocoded through the Census Bureau.</a:t>
            </a:r>
            <a:endParaRPr lang="en-US" sz="1060" dirty="0"/>
          </a:p>
          <a:p>
            <a:pPr marL="152400" indent="-152400">
              <a:lnSpc>
                <a:spcPct val="108000"/>
              </a:lnSpc>
              <a:buSzPct val="100000"/>
              <a:buChar char="•"/>
            </a:pPr>
            <a:r>
              <a:rPr lang="en-US" sz="1060" dirty="0">
                <a:solidFill>
                  <a:srgbClr val="2B2B2B"/>
                </a:solidFill>
                <a:latin typeface="Calibri" pitchFamily="34" charset="0"/>
                <a:ea typeface="Calibri" pitchFamily="34" charset="-122"/>
                <a:cs typeface="Calibri" pitchFamily="34" charset="-120"/>
              </a:rPr>
              <a:t>Status reads “Unknown” because real status is set by an organisation that knows — not guessed by us.</a:t>
            </a:r>
            <a:endParaRPr lang="en-US" sz="1060" dirty="0"/>
          </a:p>
        </p:txBody>
      </p:sp>
      <p:sp>
        <p:nvSpPr>
          <p:cNvPr id="8" name="Shape 5"/>
          <p:cNvSpPr/>
          <p:nvPr/>
        </p:nvSpPr>
        <p:spPr>
          <a:xfrm>
            <a:off x="8823960" y="5257800"/>
            <a:ext cx="2377440" cy="0"/>
          </a:xfrm>
          <a:prstGeom prst="line">
            <a:avLst/>
          </a:prstGeom>
          <a:noFill/>
          <a:ln w="12700">
            <a:solidFill>
              <a:srgbClr val="E1E4F0"/>
            </a:solidFill>
            <a:prstDash val="solid"/>
          </a:ln>
        </p:spPr>
      </p:sp>
      <p:sp>
        <p:nvSpPr>
          <p:cNvPr id="9" name="Text 6"/>
          <p:cNvSpPr txBox="1"/>
          <p:nvPr/>
        </p:nvSpPr>
        <p:spPr>
          <a:xfrm>
            <a:off x="8823960" y="5440680"/>
            <a:ext cx="2606040" cy="548640"/>
          </a:xfrm>
          <a:prstGeom prst="rect">
            <a:avLst/>
          </a:prstGeom>
          <a:noFill/>
          <a:ln/>
        </p:spPr>
        <p:txBody>
          <a:bodyPr wrap="square" lIns="0" tIns="0" rIns="0" bIns="0" rtlCol="0" anchor="ctr"/>
          <a:lstStyle/>
          <a:p>
            <a:pPr indent="0" marL="0">
              <a:lnSpc>
                <a:spcPct val="120000"/>
              </a:lnSpc>
              <a:buNone/>
            </a:pPr>
            <a:r>
              <a:rPr lang="en-US" sz="1150" b="1" i="1" dirty="0">
                <a:solidFill>
                  <a:srgbClr val="E8543A"/>
                </a:solidFill>
                <a:latin typeface="Calibri" pitchFamily="34" charset="0"/>
                <a:ea typeface="Calibri" pitchFamily="34" charset="-122"/>
                <a:cs typeface="Calibri" pitchFamily="34" charset="-120"/>
              </a:rPr>
              <a:t>Nothing on this screen is invented.</a:t>
            </a:r>
            <a:endParaRPr lang="en-US" sz="1150" dirty="0"/>
          </a:p>
        </p:txBody>
      </p:sp>
      <p:sp>
        <p:nvSpPr>
          <p:cNvPr id="10" name="Text 7"/>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11" name="Text 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SUBSTANTIALLY MORE CAPABLE THAN AT THE CHECKPOINT</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Organization Portal</a:t>
            </a:r>
            <a:endParaRPr lang="en-US" sz="3000" dirty="0"/>
          </a:p>
        </p:txBody>
      </p:sp>
      <p:sp>
        <p:nvSpPr>
          <p:cNvPr id="4" name="Shape 2"/>
          <p:cNvSpPr/>
          <p:nvPr/>
        </p:nvSpPr>
        <p:spPr>
          <a:xfrm>
            <a:off x="594360" y="1481328"/>
            <a:ext cx="5212080" cy="1481328"/>
          </a:xfrm>
          <a:prstGeom prst="roundRect">
            <a:avLst>
              <a:gd name="adj" fmla="val 555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850392" y="1609344"/>
            <a:ext cx="4709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Secured</a:t>
            </a:r>
            <a:endParaRPr lang="en-US" sz="1300" dirty="0"/>
          </a:p>
        </p:txBody>
      </p:sp>
      <p:sp>
        <p:nvSpPr>
          <p:cNvPr id="6" name="Text 4"/>
          <p:cNvSpPr txBox="1"/>
          <p:nvPr/>
        </p:nvSpPr>
        <p:spPr>
          <a:xfrm>
            <a:off x="850392" y="1901952"/>
            <a:ext cx="4709160" cy="960120"/>
          </a:xfrm>
          <a:prstGeom prst="rect">
            <a:avLst/>
          </a:prstGeom>
          <a:noFill/>
          <a:ln/>
        </p:spPr>
        <p:txBody>
          <a:bodyPr wrap="square" lIns="0" tIns="0" rIns="0" bIns="0" rtlCol="0" anchor="ctr"/>
          <a:lstStyle/>
          <a:p>
            <a:pPr indent="0" marL="0">
              <a:lnSpc>
                <a:spcPct val="118000"/>
              </a:lnSpc>
              <a:buNone/>
            </a:pPr>
            <a:r>
              <a:rPr lang="en-US" sz="1080" dirty="0">
                <a:solidFill>
                  <a:srgbClr val="2B2B2B"/>
                </a:solidFill>
                <a:latin typeface="Calibri" pitchFamily="34" charset="0"/>
                <a:ea typeface="Calibri" pitchFamily="34" charset="-122"/>
                <a:cs typeface="Calibri" pitchFamily="34" charset="-120"/>
              </a:rPr>
              <a:t>A shared organisation token gates every admin route, compared in constant time. The resident queue holds real people's age, income band, employment and insurance status — it was never safe to leave open.</a:t>
            </a:r>
            <a:endParaRPr lang="en-US" sz="1080" dirty="0"/>
          </a:p>
        </p:txBody>
      </p:sp>
      <p:sp>
        <p:nvSpPr>
          <p:cNvPr id="7" name="Shape 5"/>
          <p:cNvSpPr/>
          <p:nvPr/>
        </p:nvSpPr>
        <p:spPr>
          <a:xfrm>
            <a:off x="594360" y="3054096"/>
            <a:ext cx="5212080" cy="1481328"/>
          </a:xfrm>
          <a:prstGeom prst="roundRect">
            <a:avLst>
              <a:gd name="adj" fmla="val 555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Text 6"/>
          <p:cNvSpPr txBox="1"/>
          <p:nvPr/>
        </p:nvSpPr>
        <p:spPr>
          <a:xfrm>
            <a:off x="850392" y="3182112"/>
            <a:ext cx="4709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Priority areas</a:t>
            </a:r>
            <a:endParaRPr lang="en-US" sz="1300" dirty="0"/>
          </a:p>
        </p:txBody>
      </p:sp>
      <p:sp>
        <p:nvSpPr>
          <p:cNvPr id="9" name="Text 7"/>
          <p:cNvSpPr txBox="1"/>
          <p:nvPr/>
        </p:nvSpPr>
        <p:spPr>
          <a:xfrm>
            <a:off x="850392" y="3474720"/>
            <a:ext cx="4709160" cy="960120"/>
          </a:xfrm>
          <a:prstGeom prst="rect">
            <a:avLst/>
          </a:prstGeom>
          <a:noFill/>
          <a:ln/>
        </p:spPr>
        <p:txBody>
          <a:bodyPr wrap="square" lIns="0" tIns="0" rIns="0" bIns="0" rtlCol="0" anchor="ctr"/>
          <a:lstStyle/>
          <a:p>
            <a:pPr indent="0" marL="0">
              <a:lnSpc>
                <a:spcPct val="118000"/>
              </a:lnSpc>
              <a:buNone/>
            </a:pPr>
            <a:r>
              <a:rPr lang="en-US" sz="1080" dirty="0">
                <a:solidFill>
                  <a:srgbClr val="2B2B2B"/>
                </a:solidFill>
                <a:latin typeface="Calibri" pitchFamily="34" charset="0"/>
                <a:ea typeface="Calibri" pitchFamily="34" charset="-122"/>
                <a:cs typeface="Calibri" pitchFamily="34" charset="-120"/>
              </a:rPr>
              <a:t>Neighbourhoods ranked by heat vulnerability, adjusted for how far the nearest open site is.</a:t>
            </a:r>
            <a:endParaRPr lang="en-US" sz="1080" dirty="0"/>
          </a:p>
        </p:txBody>
      </p:sp>
      <p:sp>
        <p:nvSpPr>
          <p:cNvPr id="10" name="Shape 8"/>
          <p:cNvSpPr/>
          <p:nvPr/>
        </p:nvSpPr>
        <p:spPr>
          <a:xfrm>
            <a:off x="594360" y="4626864"/>
            <a:ext cx="5212080" cy="1481328"/>
          </a:xfrm>
          <a:prstGeom prst="roundRect">
            <a:avLst>
              <a:gd name="adj" fmla="val 555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Text 9"/>
          <p:cNvSpPr txBox="1"/>
          <p:nvPr/>
        </p:nvSpPr>
        <p:spPr>
          <a:xfrm>
            <a:off x="850392" y="4754880"/>
            <a:ext cx="4709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Invite codes</a:t>
            </a:r>
            <a:endParaRPr lang="en-US" sz="1300" dirty="0"/>
          </a:p>
        </p:txBody>
      </p:sp>
      <p:sp>
        <p:nvSpPr>
          <p:cNvPr id="12" name="Text 10"/>
          <p:cNvSpPr txBox="1"/>
          <p:nvPr/>
        </p:nvSpPr>
        <p:spPr>
          <a:xfrm>
            <a:off x="850392" y="5047488"/>
            <a:ext cx="4709160" cy="960120"/>
          </a:xfrm>
          <a:prstGeom prst="rect">
            <a:avLst/>
          </a:prstGeom>
          <a:noFill/>
          <a:ln/>
        </p:spPr>
        <p:txBody>
          <a:bodyPr wrap="square" lIns="0" tIns="0" rIns="0" bIns="0" rtlCol="0" anchor="ctr"/>
          <a:lstStyle/>
          <a:p>
            <a:pPr indent="0" marL="0">
              <a:lnSpc>
                <a:spcPct val="118000"/>
              </a:lnSpc>
              <a:buNone/>
            </a:pPr>
            <a:r>
              <a:rPr lang="en-US" sz="1080" dirty="0">
                <a:solidFill>
                  <a:srgbClr val="2B2B2B"/>
                </a:solidFill>
                <a:latin typeface="Calibri" pitchFamily="34" charset="0"/>
                <a:ea typeface="Calibri" pitchFamily="34" charset="-122"/>
                <a:cs typeface="Calibri" pitchFamily="34" charset="-120"/>
              </a:rPr>
              <a:t>Single-use, eight characters, no ambiguous 0/O or 1/I — so a caseworker can read one down a phone line.</a:t>
            </a:r>
            <a:endParaRPr lang="en-US" sz="1080" dirty="0"/>
          </a:p>
        </p:txBody>
      </p:sp>
      <p:sp>
        <p:nvSpPr>
          <p:cNvPr id="13" name="Shape 11"/>
          <p:cNvSpPr/>
          <p:nvPr/>
        </p:nvSpPr>
        <p:spPr>
          <a:xfrm>
            <a:off x="6355080" y="1481328"/>
            <a:ext cx="5212080" cy="1481328"/>
          </a:xfrm>
          <a:prstGeom prst="roundRect">
            <a:avLst>
              <a:gd name="adj" fmla="val 555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4" name="Text 12"/>
          <p:cNvSpPr txBox="1"/>
          <p:nvPr/>
        </p:nvSpPr>
        <p:spPr>
          <a:xfrm>
            <a:off x="6611112" y="1609344"/>
            <a:ext cx="4709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Resident queue</a:t>
            </a:r>
            <a:endParaRPr lang="en-US" sz="1300" dirty="0"/>
          </a:p>
        </p:txBody>
      </p:sp>
      <p:sp>
        <p:nvSpPr>
          <p:cNvPr id="15" name="Text 13"/>
          <p:cNvSpPr txBox="1"/>
          <p:nvPr/>
        </p:nvSpPr>
        <p:spPr>
          <a:xfrm>
            <a:off x="6611112" y="1901952"/>
            <a:ext cx="4709160" cy="960120"/>
          </a:xfrm>
          <a:prstGeom prst="rect">
            <a:avLst/>
          </a:prstGeom>
          <a:noFill/>
          <a:ln/>
        </p:spPr>
        <p:txBody>
          <a:bodyPr wrap="square" lIns="0" tIns="0" rIns="0" bIns="0" rtlCol="0" anchor="ctr"/>
          <a:lstStyle/>
          <a:p>
            <a:pPr indent="0" marL="0">
              <a:lnSpc>
                <a:spcPct val="118000"/>
              </a:lnSpc>
              <a:buNone/>
            </a:pPr>
            <a:r>
              <a:rPr lang="en-US" sz="1080" dirty="0">
                <a:solidFill>
                  <a:srgbClr val="2B2B2B"/>
                </a:solidFill>
                <a:latin typeface="Calibri" pitchFamily="34" charset="0"/>
                <a:ea typeface="Calibri" pitchFamily="34" charset="-122"/>
                <a:cs typeface="Calibri" pitchFamily="34" charset="-120"/>
              </a:rPr>
              <a:t>Registered residents ordered by need score, filterable by tier and city.</a:t>
            </a:r>
            <a:endParaRPr lang="en-US" sz="1080" dirty="0"/>
          </a:p>
        </p:txBody>
      </p:sp>
      <p:sp>
        <p:nvSpPr>
          <p:cNvPr id="16" name="Shape 14"/>
          <p:cNvSpPr/>
          <p:nvPr/>
        </p:nvSpPr>
        <p:spPr>
          <a:xfrm>
            <a:off x="6355080" y="3054096"/>
            <a:ext cx="5212080" cy="1481328"/>
          </a:xfrm>
          <a:prstGeom prst="roundRect">
            <a:avLst>
              <a:gd name="adj" fmla="val 555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7" name="Text 15"/>
          <p:cNvSpPr txBox="1"/>
          <p:nvPr/>
        </p:nvSpPr>
        <p:spPr>
          <a:xfrm>
            <a:off x="6611112" y="3182112"/>
            <a:ext cx="4709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Income is never shown</a:t>
            </a:r>
            <a:endParaRPr lang="en-US" sz="1300" dirty="0"/>
          </a:p>
        </p:txBody>
      </p:sp>
      <p:sp>
        <p:nvSpPr>
          <p:cNvPr id="18" name="Text 16"/>
          <p:cNvSpPr txBox="1"/>
          <p:nvPr/>
        </p:nvSpPr>
        <p:spPr>
          <a:xfrm>
            <a:off x="6611112" y="3474720"/>
            <a:ext cx="4709160" cy="960120"/>
          </a:xfrm>
          <a:prstGeom prst="rect">
            <a:avLst/>
          </a:prstGeom>
          <a:noFill/>
          <a:ln/>
        </p:spPr>
        <p:txBody>
          <a:bodyPr wrap="square" lIns="0" tIns="0" rIns="0" bIns="0" rtlCol="0" anchor="ctr"/>
          <a:lstStyle/>
          <a:p>
            <a:pPr indent="0" marL="0">
              <a:lnSpc>
                <a:spcPct val="118000"/>
              </a:lnSpc>
              <a:buNone/>
            </a:pPr>
            <a:r>
              <a:rPr lang="en-US" sz="1080" dirty="0">
                <a:solidFill>
                  <a:srgbClr val="2B2B2B"/>
                </a:solidFill>
                <a:latin typeface="Calibri" pitchFamily="34" charset="0"/>
                <a:ea typeface="Calibri" pitchFamily="34" charset="-122"/>
                <a:cs typeface="Calibri" pitchFamily="34" charset="-120"/>
              </a:rPr>
              <a:t>The queue displays a band — below poverty line, below 200% — and the redaction is enforced in the API, not the interface.</a:t>
            </a:r>
            <a:endParaRPr lang="en-US" sz="1080" dirty="0"/>
          </a:p>
        </p:txBody>
      </p:sp>
      <p:sp>
        <p:nvSpPr>
          <p:cNvPr id="19" name="Shape 17"/>
          <p:cNvSpPr/>
          <p:nvPr/>
        </p:nvSpPr>
        <p:spPr>
          <a:xfrm>
            <a:off x="6355080" y="4626864"/>
            <a:ext cx="5212080" cy="1481328"/>
          </a:xfrm>
          <a:prstGeom prst="roundRect">
            <a:avLst>
              <a:gd name="adj" fmla="val 555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0" name="Text 18"/>
          <p:cNvSpPr txBox="1"/>
          <p:nvPr/>
        </p:nvSpPr>
        <p:spPr>
          <a:xfrm>
            <a:off x="6611112" y="4754880"/>
            <a:ext cx="4709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Three agents on call</a:t>
            </a:r>
            <a:endParaRPr lang="en-US" sz="1300" dirty="0"/>
          </a:p>
        </p:txBody>
      </p:sp>
      <p:sp>
        <p:nvSpPr>
          <p:cNvPr id="21" name="Text 19"/>
          <p:cNvSpPr txBox="1"/>
          <p:nvPr/>
        </p:nvSpPr>
        <p:spPr>
          <a:xfrm>
            <a:off x="6611112" y="5047488"/>
            <a:ext cx="4709160" cy="960120"/>
          </a:xfrm>
          <a:prstGeom prst="rect">
            <a:avLst/>
          </a:prstGeom>
          <a:noFill/>
          <a:ln/>
        </p:spPr>
        <p:txBody>
          <a:bodyPr wrap="square" lIns="0" tIns="0" rIns="0" bIns="0" rtlCol="0" anchor="ctr"/>
          <a:lstStyle/>
          <a:p>
            <a:pPr indent="0" marL="0">
              <a:lnSpc>
                <a:spcPct val="118000"/>
              </a:lnSpc>
              <a:buNone/>
            </a:pPr>
            <a:r>
              <a:rPr lang="en-US" sz="1080" dirty="0">
                <a:solidFill>
                  <a:srgbClr val="2B2B2B"/>
                </a:solidFill>
                <a:latin typeface="Calibri" pitchFamily="34" charset="0"/>
                <a:ea typeface="Calibri" pitchFamily="34" charset="-122"/>
                <a:cs typeface="Calibri" pitchFamily="34" charset="-120"/>
              </a:rPr>
              <a:t>Run on demand from the portal, or on a schedule from cron.</a:t>
            </a:r>
            <a:endParaRPr lang="en-US" sz="1080" dirty="0"/>
          </a:p>
        </p:txBody>
      </p:sp>
      <p:sp>
        <p:nvSpPr>
          <p:cNvPr id="22" name="Text 20"/>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23" name="Text 2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THE DISTINCTION WE DESIGNED AROUND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We Mean by “Agent”</a:t>
            </a:r>
            <a:endParaRPr lang="en-US" sz="3000" dirty="0"/>
          </a:p>
        </p:txBody>
      </p:sp>
      <p:sp>
        <p:nvSpPr>
          <p:cNvPr id="4" name="Shape 2"/>
          <p:cNvSpPr/>
          <p:nvPr/>
        </p:nvSpPr>
        <p:spPr>
          <a:xfrm>
            <a:off x="594360" y="1417320"/>
            <a:ext cx="5349240" cy="1828800"/>
          </a:xfrm>
          <a:prstGeom prst="roundRect">
            <a:avLst>
              <a:gd name="adj" fmla="val 4500"/>
            </a:avLst>
          </a:prstGeom>
          <a:solidFill>
            <a:srgbClr val="FDE8E4"/>
          </a:solidFill>
          <a:ln w="12700">
            <a:solidFill>
              <a:srgbClr val="F4C9C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868680" y="1600200"/>
            <a:ext cx="4846320" cy="292608"/>
          </a:xfrm>
          <a:prstGeom prst="rect">
            <a:avLst/>
          </a:prstGeom>
          <a:noFill/>
          <a:ln/>
        </p:spPr>
        <p:txBody>
          <a:bodyPr wrap="square" lIns="0" tIns="0" rIns="0" bIns="0" rtlCol="0" anchor="ctr"/>
          <a:lstStyle/>
          <a:p>
            <a:pPr indent="0" marL="0">
              <a:buNone/>
            </a:pPr>
            <a:r>
              <a:rPr lang="en-US" sz="1450" b="1" dirty="0">
                <a:solidFill>
                  <a:srgbClr val="E8543A"/>
                </a:solidFill>
                <a:latin typeface="Calibri" pitchFamily="34" charset="0"/>
                <a:ea typeface="Calibri" pitchFamily="34" charset="-122"/>
                <a:cs typeface="Calibri" pitchFamily="34" charset="-120"/>
              </a:rPr>
              <a:t>A chatbot waits to be asked</a:t>
            </a:r>
            <a:endParaRPr lang="en-US" sz="1450" dirty="0"/>
          </a:p>
        </p:txBody>
      </p:sp>
      <p:sp>
        <p:nvSpPr>
          <p:cNvPr id="6" name="Text 4"/>
          <p:cNvSpPr txBox="1"/>
          <p:nvPr/>
        </p:nvSpPr>
        <p:spPr>
          <a:xfrm>
            <a:off x="868680" y="1965960"/>
            <a:ext cx="4846320" cy="1097280"/>
          </a:xfrm>
          <a:prstGeom prst="rect">
            <a:avLst/>
          </a:prstGeom>
          <a:noFill/>
          <a:ln/>
        </p:spPr>
        <p:txBody>
          <a:bodyPr wrap="square" lIns="0" tIns="0" rIns="0" bIns="0" rtlCol="0" anchor="ctr"/>
          <a:lstStyle/>
          <a:p>
            <a:pPr indent="0" marL="0">
              <a:lnSpc>
                <a:spcPct val="125000"/>
              </a:lnSpc>
              <a:buNone/>
            </a:pPr>
            <a:r>
              <a:rPr lang="en-US" sz="1150" dirty="0">
                <a:solidFill>
                  <a:srgbClr val="2B2B2B"/>
                </a:solidFill>
                <a:latin typeface="Calibri" pitchFamily="34" charset="0"/>
                <a:ea typeface="Calibri" pitchFamily="34" charset="-122"/>
                <a:cs typeface="Calibri" pitchFamily="34" charset="-120"/>
              </a:rPr>
              <a:t>It has no opinion until a person types something. Useful — but it cannot notice a neighbourhood crossing into danger at two in the morning, because nobody is there to ask it.</a:t>
            </a:r>
            <a:endParaRPr lang="en-US" sz="1150" dirty="0"/>
          </a:p>
        </p:txBody>
      </p:sp>
      <p:sp>
        <p:nvSpPr>
          <p:cNvPr id="7" name="Shape 5"/>
          <p:cNvSpPr/>
          <p:nvPr/>
        </p:nvSpPr>
        <p:spPr>
          <a:xfrm>
            <a:off x="6217920" y="1417320"/>
            <a:ext cx="5349240" cy="1828800"/>
          </a:xfrm>
          <a:prstGeom prst="roundRect">
            <a:avLst>
              <a:gd name="adj" fmla="val 4500"/>
            </a:avLst>
          </a:prstGeom>
          <a:solidFill>
            <a:srgbClr val="E4F3EB"/>
          </a:solidFill>
          <a:ln w="12700">
            <a:solidFill>
              <a:srgbClr val="BFE3C9"/>
            </a:solidFill>
            <a:prstDash val="solid"/>
          </a:ln>
          <a:effectLst>
            <a:outerShdw sx="100000" sy="100000" kx="0" ky="0" algn="bl" rotWithShape="0" blurRad="101600" dist="38100" dir="5400000">
              <a:srgbClr val="1E2761">
                <a:alpha val="18000"/>
              </a:srgbClr>
            </a:outerShdw>
          </a:effectLst>
        </p:spPr>
      </p:sp>
      <p:sp>
        <p:nvSpPr>
          <p:cNvPr id="8" name="Text 6"/>
          <p:cNvSpPr txBox="1"/>
          <p:nvPr/>
        </p:nvSpPr>
        <p:spPr>
          <a:xfrm>
            <a:off x="6492240" y="1600200"/>
            <a:ext cx="4846320" cy="292608"/>
          </a:xfrm>
          <a:prstGeom prst="rect">
            <a:avLst/>
          </a:prstGeom>
          <a:noFill/>
          <a:ln/>
        </p:spPr>
        <p:txBody>
          <a:bodyPr wrap="square" lIns="0" tIns="0" rIns="0" bIns="0" rtlCol="0" anchor="ctr"/>
          <a:lstStyle/>
          <a:p>
            <a:pPr indent="0" marL="0">
              <a:buNone/>
            </a:pPr>
            <a:r>
              <a:rPr lang="en-US" sz="1450" b="1" dirty="0">
                <a:solidFill>
                  <a:srgbClr val="2E8B57"/>
                </a:solidFill>
                <a:latin typeface="Calibri" pitchFamily="34" charset="0"/>
                <a:ea typeface="Calibri" pitchFamily="34" charset="-122"/>
                <a:cs typeface="Calibri" pitchFamily="34" charset="-120"/>
              </a:rPr>
              <a:t>An agent watches, decides, acts</a:t>
            </a:r>
            <a:endParaRPr lang="en-US" sz="1450" dirty="0"/>
          </a:p>
        </p:txBody>
      </p:sp>
      <p:sp>
        <p:nvSpPr>
          <p:cNvPr id="9" name="Text 7"/>
          <p:cNvSpPr txBox="1"/>
          <p:nvPr/>
        </p:nvSpPr>
        <p:spPr>
          <a:xfrm>
            <a:off x="6492240" y="1965960"/>
            <a:ext cx="4846320" cy="1097280"/>
          </a:xfrm>
          <a:prstGeom prst="rect">
            <a:avLst/>
          </a:prstGeom>
          <a:noFill/>
          <a:ln/>
        </p:spPr>
        <p:txBody>
          <a:bodyPr wrap="square" lIns="0" tIns="0" rIns="0" bIns="0" rtlCol="0" anchor="ctr"/>
          <a:lstStyle/>
          <a:p>
            <a:pPr indent="0" marL="0">
              <a:lnSpc>
                <a:spcPct val="125000"/>
              </a:lnSpc>
              <a:buNone/>
            </a:pPr>
            <a:r>
              <a:rPr lang="en-US" sz="1150" dirty="0">
                <a:solidFill>
                  <a:srgbClr val="2B2B2B"/>
                </a:solidFill>
                <a:latin typeface="Calibri" pitchFamily="34" charset="0"/>
                <a:ea typeface="Calibri" pitchFamily="34" charset="-122"/>
                <a:cs typeface="Calibri" pitchFamily="34" charset="-120"/>
              </a:rPr>
              <a:t>It runs on its own schedule, reads the current state of the system, reaches a decision, and changes something or produces a list a person can act on. Nobody prompts it.</a:t>
            </a:r>
            <a:endParaRPr lang="en-US" sz="1150" dirty="0"/>
          </a:p>
        </p:txBody>
      </p:sp>
      <p:sp>
        <p:nvSpPr>
          <p:cNvPr id="10" name="Shape 8"/>
          <p:cNvSpPr/>
          <p:nvPr/>
        </p:nvSpPr>
        <p:spPr>
          <a:xfrm>
            <a:off x="594360" y="3429000"/>
            <a:ext cx="10972800" cy="2651760"/>
          </a:xfrm>
          <a:prstGeom prst="roundRect">
            <a:avLst>
              <a:gd name="adj" fmla="val 3103"/>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Text 9"/>
          <p:cNvSpPr txBox="1"/>
          <p:nvPr/>
        </p:nvSpPr>
        <p:spPr>
          <a:xfrm>
            <a:off x="914400" y="3639312"/>
            <a:ext cx="1033272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All three of ours explain themselves</a:t>
            </a:r>
            <a:endParaRPr lang="en-US" sz="1550" dirty="0"/>
          </a:p>
        </p:txBody>
      </p:sp>
      <p:sp>
        <p:nvSpPr>
          <p:cNvPr id="12" name="Text 10"/>
          <p:cNvSpPr txBox="1"/>
          <p:nvPr/>
        </p:nvSpPr>
        <p:spPr>
          <a:xfrm>
            <a:off x="914400" y="4041648"/>
            <a:ext cx="10332720" cy="1828800"/>
          </a:xfrm>
          <a:prstGeom prst="rect">
            <a:avLst/>
          </a:prstGeom>
          <a:noFill/>
          <a:ln/>
        </p:spPr>
        <p:txBody>
          <a:bodyPr wrap="square" lIns="0" tIns="0" rIns="0" bIns="0" rtlCol="0" anchor="ctr"/>
          <a:lstStyle/>
          <a:p>
            <a:pPr indent="0" marL="0">
              <a:lnSpc>
                <a:spcPct val="130000"/>
              </a:lnSpc>
              <a:buNone/>
            </a:pPr>
            <a:r>
              <a:rPr lang="en-US" sz="1220" dirty="0">
                <a:solidFill>
                  <a:srgbClr val="D8DCF7"/>
                </a:solidFill>
                <a:latin typeface="Calibri" pitchFamily="34" charset="0"/>
                <a:ea typeface="Calibri" pitchFamily="34" charset="-122"/>
                <a:cs typeface="Calibri" pitchFamily="34" charset="-120"/>
              </a:rPr>
              <a:t>Every decision carries its reasons in plain language, and the admin portal renders those reasons rather than just the conclusion. This is not decoration. These agents decide who gets contacted first during a heat emergency and where volunteers are sent. An agent that escalates a neighbourhood to “emergency” without showing its working is not something a coordinator should act on — and a system that cannot explain itself cannot be corrected when it is wrong.</a:t>
            </a:r>
            <a:endParaRPr lang="en-US" sz="1220" dirty="0"/>
          </a:p>
          <a:p>
            <a:pPr indent="0" marL="0">
              <a:lnSpc>
                <a:spcPct val="130000"/>
              </a:lnSpc>
              <a:buNone/>
            </a:pPr>
            <a:endParaRPr lang="en-US" sz="1220" dirty="0"/>
          </a:p>
          <a:p>
            <a:pPr indent="0" marL="0">
              <a:lnSpc>
                <a:spcPct val="130000"/>
              </a:lnSpc>
              <a:buNone/>
            </a:pPr>
            <a:r>
              <a:rPr lang="en-US" sz="1220" dirty="0">
                <a:solidFill>
                  <a:srgbClr val="D8DCF7"/>
                </a:solidFill>
                <a:latin typeface="Calibri" pitchFamily="34" charset="0"/>
                <a:ea typeface="Calibri" pitchFamily="34" charset="-122"/>
                <a:cs typeface="Calibri" pitchFamily="34" charset="-120"/>
              </a:rPr>
              <a:t>No agent contacts a resident directly. Every one of them produces a ranked list for a human to work. That boundary is deliberate.</a:t>
            </a:r>
            <a:endParaRPr lang="en-US" sz="1220" dirty="0"/>
          </a:p>
        </p:txBody>
      </p:sp>
      <p:sp>
        <p:nvSpPr>
          <p:cNvPr id="13" name="Text 1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14" name="Text 1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AGENT 1 OF 3 · RUNS EVERY 30 MINUTES</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Heat Emergency Watch</a:t>
            </a:r>
            <a:endParaRPr lang="en-US" sz="3000" dirty="0"/>
          </a:p>
        </p:txBody>
      </p:sp>
      <p:sp>
        <p:nvSpPr>
          <p:cNvPr id="4" name="Shape 2"/>
          <p:cNvSpPr/>
          <p:nvPr/>
        </p:nvSpPr>
        <p:spPr>
          <a:xfrm>
            <a:off x="594360" y="1417320"/>
            <a:ext cx="10972800" cy="1298448"/>
          </a:xfrm>
          <a:prstGeom prst="roundRect">
            <a:avLst>
              <a:gd name="adj" fmla="val 6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868680" y="1563624"/>
            <a:ext cx="1554480" cy="274320"/>
          </a:xfrm>
          <a:prstGeom prst="rect">
            <a:avLst/>
          </a:prstGeom>
          <a:noFill/>
          <a:ln/>
        </p:spPr>
        <p:txBody>
          <a:bodyPr wrap="square" lIns="0" tIns="0" rIns="0" bIns="0" rtlCol="0" anchor="ctr"/>
          <a:lstStyle/>
          <a:p>
            <a:pPr indent="0" marL="0">
              <a:buNone/>
            </a:pPr>
            <a:r>
              <a:rPr lang="en-US" sz="1050" b="1" spc="200" kern="0" dirty="0">
                <a:solidFill>
                  <a:srgbClr val="E8543A"/>
                </a:solidFill>
                <a:latin typeface="Calibri" pitchFamily="34" charset="0"/>
                <a:ea typeface="Calibri" pitchFamily="34" charset="-122"/>
                <a:cs typeface="Calibri" pitchFamily="34" charset="-120"/>
              </a:rPr>
              <a:t>WATCHES</a:t>
            </a:r>
            <a:endParaRPr lang="en-US" sz="1050" dirty="0"/>
          </a:p>
        </p:txBody>
      </p:sp>
      <p:sp>
        <p:nvSpPr>
          <p:cNvPr id="6" name="Text 4"/>
          <p:cNvSpPr txBox="1"/>
          <p:nvPr/>
        </p:nvSpPr>
        <p:spPr>
          <a:xfrm>
            <a:off x="2514600" y="1545336"/>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2B2B2B"/>
                </a:solidFill>
                <a:latin typeface="Calibri" pitchFamily="34" charset="0"/>
                <a:ea typeface="Calibri" pitchFamily="34" charset="-122"/>
                <a:cs typeface="Calibri" pitchFamily="34" charset="-120"/>
              </a:rPr>
              <a:t>Current heat index and vulnerability score for every pilot area, and whether any open relief site is within five miles.</a:t>
            </a:r>
            <a:endParaRPr lang="en-US" sz="1180" dirty="0"/>
          </a:p>
        </p:txBody>
      </p:sp>
      <p:sp>
        <p:nvSpPr>
          <p:cNvPr id="7" name="Shape 5"/>
          <p:cNvSpPr/>
          <p:nvPr/>
        </p:nvSpPr>
        <p:spPr>
          <a:xfrm>
            <a:off x="594360" y="2807208"/>
            <a:ext cx="10972800" cy="1298448"/>
          </a:xfrm>
          <a:prstGeom prst="roundRect">
            <a:avLst>
              <a:gd name="adj" fmla="val 6338"/>
            </a:avLst>
          </a:prstGeom>
          <a:solidFill>
            <a:srgbClr val="E8543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Text 6"/>
          <p:cNvSpPr txBox="1"/>
          <p:nvPr/>
        </p:nvSpPr>
        <p:spPr>
          <a:xfrm>
            <a:off x="868680" y="2953512"/>
            <a:ext cx="1554480" cy="274320"/>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DECIDES</a:t>
            </a:r>
            <a:endParaRPr lang="en-US" sz="1050" dirty="0"/>
          </a:p>
        </p:txBody>
      </p:sp>
      <p:sp>
        <p:nvSpPr>
          <p:cNvPr id="9" name="Text 7"/>
          <p:cNvSpPr txBox="1"/>
          <p:nvPr/>
        </p:nvSpPr>
        <p:spPr>
          <a:xfrm>
            <a:off x="2514600" y="2935224"/>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F2F2F2"/>
                </a:solidFill>
                <a:latin typeface="Calibri" pitchFamily="34" charset="0"/>
                <a:ea typeface="Calibri" pitchFamily="34" charset="-122"/>
                <a:cs typeface="Calibri" pitchFamily="34" charset="-120"/>
              </a:rPr>
              <a:t>Maps the heat index onto the National Weather Service bands — advisory, warning, emergency. Escalates one level where an area is BOTH vulnerable AND has no open site nearby: conditions are dangerous and there is nowhere to send anyone.</a:t>
            </a:r>
            <a:endParaRPr lang="en-US" sz="1180" dirty="0"/>
          </a:p>
        </p:txBody>
      </p:sp>
      <p:sp>
        <p:nvSpPr>
          <p:cNvPr id="10" name="Shape 8"/>
          <p:cNvSpPr/>
          <p:nvPr/>
        </p:nvSpPr>
        <p:spPr>
          <a:xfrm>
            <a:off x="594360" y="4197096"/>
            <a:ext cx="10972800" cy="1298448"/>
          </a:xfrm>
          <a:prstGeom prst="roundRect">
            <a:avLst>
              <a:gd name="adj" fmla="val 6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Text 9"/>
          <p:cNvSpPr txBox="1"/>
          <p:nvPr/>
        </p:nvSpPr>
        <p:spPr>
          <a:xfrm>
            <a:off x="868680" y="4343400"/>
            <a:ext cx="1554480" cy="274320"/>
          </a:xfrm>
          <a:prstGeom prst="rect">
            <a:avLst/>
          </a:prstGeom>
          <a:noFill/>
          <a:ln/>
        </p:spPr>
        <p:txBody>
          <a:bodyPr wrap="square" lIns="0" tIns="0" rIns="0" bIns="0" rtlCol="0" anchor="ctr"/>
          <a:lstStyle/>
          <a:p>
            <a:pPr indent="0" marL="0">
              <a:buNone/>
            </a:pPr>
            <a:r>
              <a:rPr lang="en-US" sz="1050" b="1" spc="200" kern="0" dirty="0">
                <a:solidFill>
                  <a:srgbClr val="E8543A"/>
                </a:solidFill>
                <a:latin typeface="Calibri" pitchFamily="34" charset="0"/>
                <a:ea typeface="Calibri" pitchFamily="34" charset="-122"/>
                <a:cs typeface="Calibri" pitchFamily="34" charset="-120"/>
              </a:rPr>
              <a:t>ACTS</a:t>
            </a:r>
            <a:endParaRPr lang="en-US" sz="1050" dirty="0"/>
          </a:p>
        </p:txBody>
      </p:sp>
      <p:sp>
        <p:nvSpPr>
          <p:cNvPr id="12" name="Text 10"/>
          <p:cNvSpPr txBox="1"/>
          <p:nvPr/>
        </p:nvSpPr>
        <p:spPr>
          <a:xfrm>
            <a:off x="2514600" y="4325112"/>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2B2B2B"/>
                </a:solidFill>
                <a:latin typeface="Calibri" pitchFamily="34" charset="0"/>
                <a:ea typeface="Calibri" pitchFamily="34" charset="-122"/>
                <a:cs typeface="Calibri" pitchFamily="34" charset="-120"/>
              </a:rPr>
              <a:t>Writes an alert for the county, suppressing duplicates against any active alert of equal or greater severity, and builds a contact list of Tier 1 and Tier 2 residents ordered by need.</a:t>
            </a:r>
            <a:endParaRPr lang="en-US" sz="1180" dirty="0"/>
          </a:p>
        </p:txBody>
      </p:sp>
      <p:sp>
        <p:nvSpPr>
          <p:cNvPr id="13" name="Shape 11"/>
          <p:cNvSpPr/>
          <p:nvPr/>
        </p:nvSpPr>
        <p:spPr>
          <a:xfrm>
            <a:off x="594360" y="5596128"/>
            <a:ext cx="10972800" cy="749808"/>
          </a:xfrm>
          <a:prstGeom prst="roundRect">
            <a:avLst>
              <a:gd name="adj" fmla="val 10976"/>
            </a:avLst>
          </a:prstGeom>
          <a:solidFill>
            <a:srgbClr val="FBF0DC"/>
          </a:solidFill>
          <a:ln w="12700">
            <a:solidFill>
              <a:srgbClr val="EFD9AE"/>
            </a:solidFill>
            <a:prstDash val="solid"/>
          </a:ln>
        </p:spPr>
      </p:sp>
      <p:sp>
        <p:nvSpPr>
          <p:cNvPr id="14" name="Text 12"/>
          <p:cNvSpPr txBox="1"/>
          <p:nvPr/>
        </p:nvSpPr>
        <p:spPr>
          <a:xfrm>
            <a:off x="868680" y="5724144"/>
            <a:ext cx="10424160" cy="530352"/>
          </a:xfrm>
          <a:prstGeom prst="rect">
            <a:avLst/>
          </a:prstGeom>
          <a:noFill/>
          <a:ln/>
        </p:spPr>
        <p:txBody>
          <a:bodyPr wrap="square" lIns="0" tIns="0" rIns="0" bIns="0" rtlCol="0" anchor="ctr"/>
          <a:lstStyle/>
          <a:p>
            <a:pPr indent="0" marL="0">
              <a:lnSpc>
                <a:spcPct val="120000"/>
              </a:lnSpc>
              <a:buNone/>
            </a:pPr>
            <a:r>
              <a:rPr lang="en-US" sz="1120" i="1" dirty="0">
                <a:solidFill>
                  <a:srgbClr val="2B2B2B"/>
                </a:solidFill>
                <a:latin typeface="Calibri" pitchFamily="34" charset="0"/>
                <a:ea typeface="Calibri" pitchFamily="34" charset="-122"/>
                <a:cs typeface="Calibri" pitchFamily="34" charset="-120"/>
              </a:rPr>
              <a:t>Overnight heat that has not broken is called out in the reasons — residents get no recovery window — without inflating the severity on its own.</a:t>
            </a:r>
            <a:endParaRPr lang="en-US" sz="1120" dirty="0"/>
          </a:p>
        </p:txBody>
      </p:sp>
      <p:sp>
        <p:nvSpPr>
          <p:cNvPr id="15" name="Text 13"/>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16" name="Text 1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AGENT 2 OF 3 · RUNS ON DEMAND OVER A 12-HOUR WINDOW</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Outreach Dispatch Planner</a:t>
            </a:r>
            <a:endParaRPr lang="en-US" sz="3000" dirty="0"/>
          </a:p>
        </p:txBody>
      </p:sp>
      <p:sp>
        <p:nvSpPr>
          <p:cNvPr id="4" name="Shape 2"/>
          <p:cNvSpPr/>
          <p:nvPr/>
        </p:nvSpPr>
        <p:spPr>
          <a:xfrm>
            <a:off x="594360" y="1417320"/>
            <a:ext cx="10972800" cy="1298448"/>
          </a:xfrm>
          <a:prstGeom prst="roundRect">
            <a:avLst>
              <a:gd name="adj" fmla="val 6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868680" y="1563624"/>
            <a:ext cx="1554480" cy="274320"/>
          </a:xfrm>
          <a:prstGeom prst="rect">
            <a:avLst/>
          </a:prstGeom>
          <a:noFill/>
          <a:ln/>
        </p:spPr>
        <p:txBody>
          <a:bodyPr wrap="square" lIns="0" tIns="0" rIns="0" bIns="0" rtlCol="0" anchor="ctr"/>
          <a:lstStyle/>
          <a:p>
            <a:pPr indent="0" marL="0">
              <a:buNone/>
            </a:pPr>
            <a:r>
              <a:rPr lang="en-US" sz="1050" b="1" spc="200" kern="0" dirty="0">
                <a:solidFill>
                  <a:srgbClr val="1E2761"/>
                </a:solidFill>
                <a:latin typeface="Calibri" pitchFamily="34" charset="0"/>
                <a:ea typeface="Calibri" pitchFamily="34" charset="-122"/>
                <a:cs typeface="Calibri" pitchFamily="34" charset="-120"/>
              </a:rPr>
              <a:t>WATCHES</a:t>
            </a:r>
            <a:endParaRPr lang="en-US" sz="1050" dirty="0"/>
          </a:p>
        </p:txBody>
      </p:sp>
      <p:sp>
        <p:nvSpPr>
          <p:cNvPr id="6" name="Text 4"/>
          <p:cNvSpPr txBox="1"/>
          <p:nvPr/>
        </p:nvSpPr>
        <p:spPr>
          <a:xfrm>
            <a:off x="2514600" y="1545336"/>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2B2B2B"/>
                </a:solidFill>
                <a:latin typeface="Calibri" pitchFamily="34" charset="0"/>
                <a:ea typeface="Calibri" pitchFamily="34" charset="-122"/>
                <a:cs typeface="Calibri" pitchFamily="34" charset="-120"/>
              </a:rPr>
              <a:t>Volunteer shifts already on the books, neighbourhoods ranked by vulnerability, and every registered resident.</a:t>
            </a:r>
            <a:endParaRPr lang="en-US" sz="1180" dirty="0"/>
          </a:p>
        </p:txBody>
      </p:sp>
      <p:sp>
        <p:nvSpPr>
          <p:cNvPr id="7" name="Shape 5"/>
          <p:cNvSpPr/>
          <p:nvPr/>
        </p:nvSpPr>
        <p:spPr>
          <a:xfrm>
            <a:off x="594360" y="2807208"/>
            <a:ext cx="10972800" cy="1298448"/>
          </a:xfrm>
          <a:prstGeom prst="roundRect">
            <a:avLst>
              <a:gd name="adj" fmla="val 6338"/>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Text 6"/>
          <p:cNvSpPr txBox="1"/>
          <p:nvPr/>
        </p:nvSpPr>
        <p:spPr>
          <a:xfrm>
            <a:off x="868680" y="2953512"/>
            <a:ext cx="1554480" cy="274320"/>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DECIDES</a:t>
            </a:r>
            <a:endParaRPr lang="en-US" sz="1050" dirty="0"/>
          </a:p>
        </p:txBody>
      </p:sp>
      <p:sp>
        <p:nvSpPr>
          <p:cNvPr id="9" name="Text 7"/>
          <p:cNvSpPr txBox="1"/>
          <p:nvPr/>
        </p:nvSpPr>
        <p:spPr>
          <a:xfrm>
            <a:off x="2514600" y="2935224"/>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F2F2F2"/>
                </a:solidFill>
                <a:latin typeface="Calibri" pitchFamily="34" charset="0"/>
                <a:ea typeface="Calibri" pitchFamily="34" charset="-122"/>
                <a:cs typeface="Calibri" pitchFamily="34" charset="-120"/>
              </a:rPr>
              <a:t>Matches each shift's site to the area it actually serves, then walks areas highest-need first so the most vulnerable neighbourhood gets first claim on volunteer capacity. No resident is assigned to two volunteers.</a:t>
            </a:r>
            <a:endParaRPr lang="en-US" sz="1180" dirty="0"/>
          </a:p>
        </p:txBody>
      </p:sp>
      <p:sp>
        <p:nvSpPr>
          <p:cNvPr id="10" name="Shape 8"/>
          <p:cNvSpPr/>
          <p:nvPr/>
        </p:nvSpPr>
        <p:spPr>
          <a:xfrm>
            <a:off x="594360" y="4197096"/>
            <a:ext cx="10972800" cy="1298448"/>
          </a:xfrm>
          <a:prstGeom prst="roundRect">
            <a:avLst>
              <a:gd name="adj" fmla="val 6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Text 9"/>
          <p:cNvSpPr txBox="1"/>
          <p:nvPr/>
        </p:nvSpPr>
        <p:spPr>
          <a:xfrm>
            <a:off x="868680" y="4343400"/>
            <a:ext cx="1554480" cy="274320"/>
          </a:xfrm>
          <a:prstGeom prst="rect">
            <a:avLst/>
          </a:prstGeom>
          <a:noFill/>
          <a:ln/>
        </p:spPr>
        <p:txBody>
          <a:bodyPr wrap="square" lIns="0" tIns="0" rIns="0" bIns="0" rtlCol="0" anchor="ctr"/>
          <a:lstStyle/>
          <a:p>
            <a:pPr indent="0" marL="0">
              <a:buNone/>
            </a:pPr>
            <a:r>
              <a:rPr lang="en-US" sz="1050" b="1" spc="200" kern="0" dirty="0">
                <a:solidFill>
                  <a:srgbClr val="1E2761"/>
                </a:solidFill>
                <a:latin typeface="Calibri" pitchFamily="34" charset="0"/>
                <a:ea typeface="Calibri" pitchFamily="34" charset="-122"/>
                <a:cs typeface="Calibri" pitchFamily="34" charset="-120"/>
              </a:rPr>
              <a:t>ACTS</a:t>
            </a:r>
            <a:endParaRPr lang="en-US" sz="1050" dirty="0"/>
          </a:p>
        </p:txBody>
      </p:sp>
      <p:sp>
        <p:nvSpPr>
          <p:cNvPr id="12" name="Text 10"/>
          <p:cNvSpPr txBox="1"/>
          <p:nvPr/>
        </p:nvSpPr>
        <p:spPr>
          <a:xfrm>
            <a:off x="2514600" y="4325112"/>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2B2B2B"/>
                </a:solidFill>
                <a:latin typeface="Calibri" pitchFamily="34" charset="0"/>
                <a:ea typeface="Calibri" pitchFamily="34" charset="-122"/>
                <a:cs typeface="Calibri" pitchFamily="34" charset="-120"/>
              </a:rPr>
              <a:t>Produces a plan — which volunteer checks on whom, during which shift, at which site — and, more usefully, reports the coverage gaps: high-need areas with nobody scheduled.</a:t>
            </a:r>
            <a:endParaRPr lang="en-US" sz="1180" dirty="0"/>
          </a:p>
        </p:txBody>
      </p:sp>
      <p:sp>
        <p:nvSpPr>
          <p:cNvPr id="13" name="Shape 11"/>
          <p:cNvSpPr/>
          <p:nvPr/>
        </p:nvSpPr>
        <p:spPr>
          <a:xfrm>
            <a:off x="594360" y="5596128"/>
            <a:ext cx="10972800" cy="749808"/>
          </a:xfrm>
          <a:prstGeom prst="roundRect">
            <a:avLst>
              <a:gd name="adj" fmla="val 10976"/>
            </a:avLst>
          </a:prstGeom>
          <a:solidFill>
            <a:srgbClr val="FBF0DC"/>
          </a:solidFill>
          <a:ln w="12700">
            <a:solidFill>
              <a:srgbClr val="EFD9AE"/>
            </a:solidFill>
            <a:prstDash val="solid"/>
          </a:ln>
        </p:spPr>
      </p:sp>
      <p:sp>
        <p:nvSpPr>
          <p:cNvPr id="14" name="Text 12"/>
          <p:cNvSpPr txBox="1"/>
          <p:nvPr/>
        </p:nvSpPr>
        <p:spPr>
          <a:xfrm>
            <a:off x="868680" y="5724144"/>
            <a:ext cx="10424160" cy="530352"/>
          </a:xfrm>
          <a:prstGeom prst="rect">
            <a:avLst/>
          </a:prstGeom>
          <a:noFill/>
          <a:ln/>
        </p:spPr>
        <p:txBody>
          <a:bodyPr wrap="square" lIns="0" tIns="0" rIns="0" bIns="0" rtlCol="0" anchor="ctr"/>
          <a:lstStyle/>
          <a:p>
            <a:pPr indent="0" marL="0">
              <a:lnSpc>
                <a:spcPct val="120000"/>
              </a:lnSpc>
              <a:buNone/>
            </a:pPr>
            <a:r>
              <a:rPr lang="en-US" sz="1120" i="1" dirty="0">
                <a:solidFill>
                  <a:srgbClr val="2B2B2B"/>
                </a:solidFill>
                <a:latin typeface="Calibri" pitchFamily="34" charset="0"/>
                <a:ea typeface="Calibri" pitchFamily="34" charset="-122"/>
                <a:cs typeface="Calibri" pitchFamily="34" charset="-120"/>
              </a:rPr>
              <a:t>It uses the volunteers and shifts tables, which had sat in the schema since the first commit without a single query ever reading them.</a:t>
            </a:r>
            <a:endParaRPr lang="en-US" sz="1120" dirty="0"/>
          </a:p>
        </p:txBody>
      </p:sp>
      <p:sp>
        <p:nvSpPr>
          <p:cNvPr id="15" name="Text 13"/>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16" name="Text 1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AGENT 3 OF 3 · RUNS DAILY</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Site Status Freshness</a:t>
            </a:r>
            <a:endParaRPr lang="en-US" sz="3000" dirty="0"/>
          </a:p>
        </p:txBody>
      </p:sp>
      <p:sp>
        <p:nvSpPr>
          <p:cNvPr id="4" name="Shape 2"/>
          <p:cNvSpPr/>
          <p:nvPr/>
        </p:nvSpPr>
        <p:spPr>
          <a:xfrm>
            <a:off x="594360" y="1417320"/>
            <a:ext cx="10972800" cy="1298448"/>
          </a:xfrm>
          <a:prstGeom prst="roundRect">
            <a:avLst>
              <a:gd name="adj" fmla="val 6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868680" y="1563624"/>
            <a:ext cx="1554480" cy="274320"/>
          </a:xfrm>
          <a:prstGeom prst="rect">
            <a:avLst/>
          </a:prstGeom>
          <a:noFill/>
          <a:ln/>
        </p:spPr>
        <p:txBody>
          <a:bodyPr wrap="square" lIns="0" tIns="0" rIns="0" bIns="0" rtlCol="0" anchor="ctr"/>
          <a:lstStyle/>
          <a:p>
            <a:pPr indent="0" marL="0">
              <a:buNone/>
            </a:pPr>
            <a:r>
              <a:rPr lang="en-US" sz="1050" b="1" spc="200" kern="0" dirty="0">
                <a:solidFill>
                  <a:srgbClr val="2E8B57"/>
                </a:solidFill>
                <a:latin typeface="Calibri" pitchFamily="34" charset="0"/>
                <a:ea typeface="Calibri" pitchFamily="34" charset="-122"/>
                <a:cs typeface="Calibri" pitchFamily="34" charset="-120"/>
              </a:rPr>
              <a:t>WATCHES</a:t>
            </a:r>
            <a:endParaRPr lang="en-US" sz="1050" dirty="0"/>
          </a:p>
        </p:txBody>
      </p:sp>
      <p:sp>
        <p:nvSpPr>
          <p:cNvPr id="6" name="Text 4"/>
          <p:cNvSpPr txBox="1"/>
          <p:nvPr/>
        </p:nvSpPr>
        <p:spPr>
          <a:xfrm>
            <a:off x="2514600" y="1545336"/>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2B2B2B"/>
                </a:solidFill>
                <a:latin typeface="Calibri" pitchFamily="34" charset="0"/>
                <a:ea typeface="Calibri" pitchFamily="34" charset="-122"/>
                <a:cs typeface="Calibri" pitchFamily="34" charset="-120"/>
              </a:rPr>
              <a:t>How long ago each site's open/closed status was confirmed, and what the weather is doing in that area right now.</a:t>
            </a:r>
            <a:endParaRPr lang="en-US" sz="1180" dirty="0"/>
          </a:p>
        </p:txBody>
      </p:sp>
      <p:sp>
        <p:nvSpPr>
          <p:cNvPr id="7" name="Shape 5"/>
          <p:cNvSpPr/>
          <p:nvPr/>
        </p:nvSpPr>
        <p:spPr>
          <a:xfrm>
            <a:off x="594360" y="2807208"/>
            <a:ext cx="10972800" cy="1298448"/>
          </a:xfrm>
          <a:prstGeom prst="roundRect">
            <a:avLst>
              <a:gd name="adj" fmla="val 6338"/>
            </a:avLst>
          </a:prstGeom>
          <a:solidFill>
            <a:srgbClr val="2E8B57"/>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Text 6"/>
          <p:cNvSpPr txBox="1"/>
          <p:nvPr/>
        </p:nvSpPr>
        <p:spPr>
          <a:xfrm>
            <a:off x="868680" y="2953512"/>
            <a:ext cx="1554480" cy="274320"/>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DECIDES</a:t>
            </a:r>
            <a:endParaRPr lang="en-US" sz="1050" dirty="0"/>
          </a:p>
        </p:txBody>
      </p:sp>
      <p:sp>
        <p:nvSpPr>
          <p:cNvPr id="9" name="Text 7"/>
          <p:cNvSpPr txBox="1"/>
          <p:nvPr/>
        </p:nvSpPr>
        <p:spPr>
          <a:xfrm>
            <a:off x="2514600" y="2935224"/>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F2F2F2"/>
                </a:solidFill>
                <a:latin typeface="Calibri" pitchFamily="34" charset="0"/>
                <a:ea typeface="Calibri" pitchFamily="34" charset="-122"/>
                <a:cs typeface="Calibri" pitchFamily="34" charset="-120"/>
              </a:rPr>
              <a:t>Judges how far a claim can still be trusted. Normally a status ages at 72 hours and expires at seven days; at or above 103°F that tightens to 12 hours and 48 hours. The same claim can be fresh in mild weather and expired during a heat event.</a:t>
            </a:r>
            <a:endParaRPr lang="en-US" sz="1180" dirty="0"/>
          </a:p>
        </p:txBody>
      </p:sp>
      <p:sp>
        <p:nvSpPr>
          <p:cNvPr id="10" name="Shape 8"/>
          <p:cNvSpPr/>
          <p:nvPr/>
        </p:nvSpPr>
        <p:spPr>
          <a:xfrm>
            <a:off x="594360" y="4197096"/>
            <a:ext cx="10972800" cy="1298448"/>
          </a:xfrm>
          <a:prstGeom prst="roundRect">
            <a:avLst>
              <a:gd name="adj" fmla="val 6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Text 9"/>
          <p:cNvSpPr txBox="1"/>
          <p:nvPr/>
        </p:nvSpPr>
        <p:spPr>
          <a:xfrm>
            <a:off x="868680" y="4343400"/>
            <a:ext cx="1554480" cy="274320"/>
          </a:xfrm>
          <a:prstGeom prst="rect">
            <a:avLst/>
          </a:prstGeom>
          <a:noFill/>
          <a:ln/>
        </p:spPr>
        <p:txBody>
          <a:bodyPr wrap="square" lIns="0" tIns="0" rIns="0" bIns="0" rtlCol="0" anchor="ctr"/>
          <a:lstStyle/>
          <a:p>
            <a:pPr indent="0" marL="0">
              <a:buNone/>
            </a:pPr>
            <a:r>
              <a:rPr lang="en-US" sz="1050" b="1" spc="200" kern="0" dirty="0">
                <a:solidFill>
                  <a:srgbClr val="2E8B57"/>
                </a:solidFill>
                <a:latin typeface="Calibri" pitchFamily="34" charset="0"/>
                <a:ea typeface="Calibri" pitchFamily="34" charset="-122"/>
                <a:cs typeface="Calibri" pitchFamily="34" charset="-120"/>
              </a:rPr>
              <a:t>ACTS</a:t>
            </a:r>
            <a:endParaRPr lang="en-US" sz="1050" dirty="0"/>
          </a:p>
        </p:txBody>
      </p:sp>
      <p:sp>
        <p:nvSpPr>
          <p:cNvPr id="12" name="Text 10"/>
          <p:cNvSpPr txBox="1"/>
          <p:nvPr/>
        </p:nvSpPr>
        <p:spPr>
          <a:xfrm>
            <a:off x="2514600" y="4325112"/>
            <a:ext cx="8778240" cy="1005840"/>
          </a:xfrm>
          <a:prstGeom prst="rect">
            <a:avLst/>
          </a:prstGeom>
          <a:noFill/>
          <a:ln/>
        </p:spPr>
        <p:txBody>
          <a:bodyPr wrap="square" lIns="0" tIns="0" rIns="0" bIns="0" rtlCol="0" anchor="ctr"/>
          <a:lstStyle/>
          <a:p>
            <a:pPr indent="0" marL="0">
              <a:lnSpc>
                <a:spcPct val="122000"/>
              </a:lnSpc>
              <a:buNone/>
            </a:pPr>
            <a:r>
              <a:rPr lang="en-US" sz="1180" dirty="0">
                <a:solidFill>
                  <a:srgbClr val="2B2B2B"/>
                </a:solidFill>
                <a:latin typeface="Calibri" pitchFamily="34" charset="0"/>
                <a:ea typeface="Calibri" pitchFamily="34" charset="-122"/>
                <a:cs typeface="Calibri" pitchFamily="34" charset="-120"/>
              </a:rPr>
              <a:t>Ranks what to re-confirm first by staleness, area vulnerability and heat. Retiring an expired claim is opt-in — it destroys something an organisation entered, so the agent reports and waits.</a:t>
            </a:r>
            <a:endParaRPr lang="en-US" sz="1180" dirty="0"/>
          </a:p>
        </p:txBody>
      </p:sp>
      <p:sp>
        <p:nvSpPr>
          <p:cNvPr id="13" name="Shape 11"/>
          <p:cNvSpPr/>
          <p:nvPr/>
        </p:nvSpPr>
        <p:spPr>
          <a:xfrm>
            <a:off x="594360" y="5596128"/>
            <a:ext cx="10972800" cy="749808"/>
          </a:xfrm>
          <a:prstGeom prst="roundRect">
            <a:avLst>
              <a:gd name="adj" fmla="val 10976"/>
            </a:avLst>
          </a:prstGeom>
          <a:solidFill>
            <a:srgbClr val="FBF0DC"/>
          </a:solidFill>
          <a:ln w="12700">
            <a:solidFill>
              <a:srgbClr val="EFD9AE"/>
            </a:solidFill>
            <a:prstDash val="solid"/>
          </a:ln>
        </p:spPr>
      </p:sp>
      <p:sp>
        <p:nvSpPr>
          <p:cNvPr id="14" name="Text 12"/>
          <p:cNvSpPr txBox="1"/>
          <p:nvPr/>
        </p:nvSpPr>
        <p:spPr>
          <a:xfrm>
            <a:off x="868680" y="5724144"/>
            <a:ext cx="10424160" cy="530352"/>
          </a:xfrm>
          <a:prstGeom prst="rect">
            <a:avLst/>
          </a:prstGeom>
          <a:noFill/>
          <a:ln/>
        </p:spPr>
        <p:txBody>
          <a:bodyPr wrap="square" lIns="0" tIns="0" rIns="0" bIns="0" rtlCol="0" anchor="ctr"/>
          <a:lstStyle/>
          <a:p>
            <a:pPr indent="0" marL="0">
              <a:lnSpc>
                <a:spcPct val="120000"/>
              </a:lnSpc>
              <a:buNone/>
            </a:pPr>
            <a:r>
              <a:rPr lang="en-US" sz="1120" i="1" dirty="0">
                <a:solidFill>
                  <a:srgbClr val="2B2B2B"/>
                </a:solidFill>
                <a:latin typeface="Calibri" pitchFamily="34" charset="0"/>
                <a:ea typeface="Calibri" pitchFamily="34" charset="-122"/>
                <a:cs typeface="Calibri" pitchFamily="34" charset="-120"/>
              </a:rPr>
              <a:t>This one exists because we found the priority engine was being starved: it ranks partly on distance to the nearest OPEN site, but nothing ever asked anyone to keep status current.</a:t>
            </a:r>
            <a:endParaRPr lang="en-US" sz="1120" dirty="0"/>
          </a:p>
        </p:txBody>
      </p:sp>
      <p:sp>
        <p:nvSpPr>
          <p:cNvPr id="15" name="Text 13"/>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16" name="Text 1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REAL COUNTIES, REAL HEAT, COMPUTED SCORES</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the Organization Sees</a:t>
            </a:r>
            <a:endParaRPr lang="en-US" sz="3000" dirty="0"/>
          </a:p>
        </p:txBody>
      </p:sp>
      <p:sp>
        <p:nvSpPr>
          <p:cNvPr id="4" name="Shape 2"/>
          <p:cNvSpPr/>
          <p:nvPr/>
        </p:nvSpPr>
        <p:spPr>
          <a:xfrm>
            <a:off x="539496" y="1408176"/>
            <a:ext cx="11082528" cy="3858768"/>
          </a:xfrm>
          <a:prstGeom prst="roundRect">
            <a:avLst>
              <a:gd name="adj" fmla="val 2133"/>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5" name="Image 0" descr="/tmp/claude-0/-home-claude/adf370eb-f340-5a92-b171-fa65d773f298/scratchpad/texas-shots/admin_priority_table_texas.png">    </p:cNvPr>
          <p:cNvPicPr>
            <a:picLocks noChangeAspect="1"/>
          </p:cNvPicPr>
          <p:nvPr/>
        </p:nvPicPr>
        <p:blipFill>
          <a:blip r:embed="rId1"/>
          <a:srcRect l="0" r="0" t="0" b="0"/>
          <a:stretch/>
        </p:blipFill>
        <p:spPr>
          <a:xfrm>
            <a:off x="594360" y="1463040"/>
            <a:ext cx="10972800" cy="3749040"/>
          </a:xfrm>
          <a:prstGeom prst="rect">
            <a:avLst/>
          </a:prstGeom>
        </p:spPr>
      </p:pic>
      <p:sp>
        <p:nvSpPr>
          <p:cNvPr id="6" name="Shape 3"/>
          <p:cNvSpPr/>
          <p:nvPr/>
        </p:nvSpPr>
        <p:spPr>
          <a:xfrm>
            <a:off x="594360" y="5349240"/>
            <a:ext cx="10972800" cy="914400"/>
          </a:xfrm>
          <a:prstGeom prst="roundRect">
            <a:avLst>
              <a:gd name="adj" fmla="val 9000"/>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7" name="Text 4"/>
          <p:cNvSpPr txBox="1"/>
          <p:nvPr/>
        </p:nvSpPr>
        <p:spPr>
          <a:xfrm>
            <a:off x="868680" y="5504688"/>
            <a:ext cx="10424160" cy="640080"/>
          </a:xfrm>
          <a:prstGeom prst="rect">
            <a:avLst/>
          </a:prstGeom>
          <a:noFill/>
          <a:ln/>
        </p:spPr>
        <p:txBody>
          <a:bodyPr wrap="square" lIns="0" tIns="0" rIns="0" bIns="0" rtlCol="0" anchor="ctr"/>
          <a:lstStyle/>
          <a:p>
            <a:pPr indent="0" marL="0">
              <a:lnSpc>
                <a:spcPct val="122000"/>
              </a:lnSpc>
              <a:buNone/>
            </a:pPr>
            <a:r>
              <a:rPr lang="en-US" sz="1150" dirty="0">
                <a:solidFill>
                  <a:srgbClr val="2B2B2B"/>
                </a:solidFill>
                <a:latin typeface="Calibri" pitchFamily="34" charset="0"/>
                <a:ea typeface="Calibri" pitchFamily="34" charset="-122"/>
                <a:cs typeface="Calibri" pitchFamily="34" charset="-120"/>
              </a:rPr>
              <a:t>Every score here was computed, not entered. “None open nearby” on each row is not a bug — it is the starvation the Site Status Freshness agent exists to fix: the ranking accounts for distance to the nearest OPEN site, and no site has ever been confirmed open.</a:t>
            </a:r>
            <a:endParaRPr lang="en-US" sz="1150" dirty="0"/>
          </a:p>
        </p:txBody>
      </p:sp>
      <p:sp>
        <p:nvSpPr>
          <p:cNvPr id="8" name="Text 5"/>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9" name="Text 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Behind the Scenes — Backend</a:t>
            </a:r>
            <a:endParaRPr lang="en-US" sz="3000" dirty="0"/>
          </a:p>
        </p:txBody>
      </p:sp>
      <p:sp>
        <p:nvSpPr>
          <p:cNvPr id="3" name="Shape 1"/>
          <p:cNvSpPr/>
          <p:nvPr/>
        </p:nvSpPr>
        <p:spPr>
          <a:xfrm>
            <a:off x="594360" y="1481328"/>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 name="Text 2"/>
          <p:cNvSpPr txBox="1"/>
          <p:nvPr/>
        </p:nvSpPr>
        <p:spPr>
          <a:xfrm>
            <a:off x="594360" y="14813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API</a:t>
            </a:r>
            <a:endParaRPr lang="en-US" sz="1200" dirty="0"/>
          </a:p>
        </p:txBody>
      </p:sp>
      <p:sp>
        <p:nvSpPr>
          <p:cNvPr id="5" name="Text 3"/>
          <p:cNvSpPr txBox="1"/>
          <p:nvPr/>
        </p:nvSpPr>
        <p:spPr>
          <a:xfrm>
            <a:off x="1252728" y="1408176"/>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New endpoints</a:t>
            </a:r>
            <a:endParaRPr lang="en-US" sz="1450" dirty="0"/>
          </a:p>
        </p:txBody>
      </p:sp>
      <p:sp>
        <p:nvSpPr>
          <p:cNvPr id="6" name="Text 4"/>
          <p:cNvSpPr txBox="1"/>
          <p:nvPr/>
        </p:nvSpPr>
        <p:spPr>
          <a:xfrm>
            <a:off x="1252728" y="1682496"/>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/api/geocode/zip, /api/invites, /api/residents, /api/agents — covering ZIP lookup, invite issue and redemption, the resident queue and all three agents.</a:t>
            </a:r>
            <a:endParaRPr lang="en-US" sz="1130" dirty="0"/>
          </a:p>
        </p:txBody>
      </p:sp>
      <p:sp>
        <p:nvSpPr>
          <p:cNvPr id="7" name="Shape 5"/>
          <p:cNvSpPr/>
          <p:nvPr/>
        </p:nvSpPr>
        <p:spPr>
          <a:xfrm>
            <a:off x="594360" y="2267712"/>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8" name="Text 6"/>
          <p:cNvSpPr txBox="1"/>
          <p:nvPr/>
        </p:nvSpPr>
        <p:spPr>
          <a:xfrm>
            <a:off x="594360" y="226771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200" dirty="0"/>
          </a:p>
        </p:txBody>
      </p:sp>
      <p:sp>
        <p:nvSpPr>
          <p:cNvPr id="9" name="Text 7"/>
          <p:cNvSpPr txBox="1"/>
          <p:nvPr/>
        </p:nvSpPr>
        <p:spPr>
          <a:xfrm>
            <a:off x="1252728" y="2194560"/>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New tables</a:t>
            </a:r>
            <a:endParaRPr lang="en-US" sz="1450" dirty="0"/>
          </a:p>
        </p:txBody>
      </p:sp>
      <p:sp>
        <p:nvSpPr>
          <p:cNvPr id="10" name="Text 8"/>
          <p:cNvSpPr txBox="1"/>
          <p:nvPr/>
        </p:nvSpPr>
        <p:spPr>
          <a:xfrm>
            <a:off x="1252728" y="2468880"/>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invites and residents, with spatial indexes; volunteers and volunteer_shifts finally read by something.</a:t>
            </a:r>
            <a:endParaRPr lang="en-US" sz="1130" dirty="0"/>
          </a:p>
        </p:txBody>
      </p:sp>
      <p:sp>
        <p:nvSpPr>
          <p:cNvPr id="11" name="Shape 9"/>
          <p:cNvSpPr/>
          <p:nvPr/>
        </p:nvSpPr>
        <p:spPr>
          <a:xfrm>
            <a:off x="594360" y="3054096"/>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2" name="Text 10"/>
          <p:cNvSpPr txBox="1"/>
          <p:nvPr/>
        </p:nvSpPr>
        <p:spPr>
          <a:xfrm>
            <a:off x="594360" y="30540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SEC</a:t>
            </a:r>
            <a:endParaRPr lang="en-US" sz="1200" dirty="0"/>
          </a:p>
        </p:txBody>
      </p:sp>
      <p:sp>
        <p:nvSpPr>
          <p:cNvPr id="13" name="Text 11"/>
          <p:cNvSpPr txBox="1"/>
          <p:nvPr/>
        </p:nvSpPr>
        <p:spPr>
          <a:xfrm>
            <a:off x="1252728" y="2980944"/>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Admin gate</a:t>
            </a:r>
            <a:endParaRPr lang="en-US" sz="1450" dirty="0"/>
          </a:p>
        </p:txBody>
      </p:sp>
      <p:sp>
        <p:nvSpPr>
          <p:cNvPr id="14" name="Text 12"/>
          <p:cNvSpPr txBox="1"/>
          <p:nvPr/>
        </p:nvSpPr>
        <p:spPr>
          <a:xfrm>
            <a:off x="1252728" y="3255264"/>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Every organisation-facing route behind a constant-time token check that fails closed rather than falling open.</a:t>
            </a:r>
            <a:endParaRPr lang="en-US" sz="1130" dirty="0"/>
          </a:p>
        </p:txBody>
      </p:sp>
      <p:sp>
        <p:nvSpPr>
          <p:cNvPr id="15" name="Shape 13"/>
          <p:cNvSpPr/>
          <p:nvPr/>
        </p:nvSpPr>
        <p:spPr>
          <a:xfrm>
            <a:off x="594360" y="3840480"/>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594360" y="3840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a:t>
            </a:r>
            <a:endParaRPr lang="en-US" sz="1200" dirty="0"/>
          </a:p>
        </p:txBody>
      </p:sp>
      <p:sp>
        <p:nvSpPr>
          <p:cNvPr id="17" name="Text 15"/>
          <p:cNvSpPr txBox="1"/>
          <p:nvPr/>
        </p:nvSpPr>
        <p:spPr>
          <a:xfrm>
            <a:off x="1252728" y="3767328"/>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Income redaction</a:t>
            </a:r>
            <a:endParaRPr lang="en-US" sz="1450" dirty="0"/>
          </a:p>
        </p:txBody>
      </p:sp>
      <p:sp>
        <p:nvSpPr>
          <p:cNvPr id="18" name="Text 16"/>
          <p:cNvSpPr txBox="1"/>
          <p:nvPr/>
        </p:nvSpPr>
        <p:spPr>
          <a:xfrm>
            <a:off x="1252728" y="4041648"/>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Enforced server-side — raw income never leaves the API, only a band.</a:t>
            </a:r>
            <a:endParaRPr lang="en-US" sz="1130" dirty="0"/>
          </a:p>
        </p:txBody>
      </p:sp>
      <p:sp>
        <p:nvSpPr>
          <p:cNvPr id="19" name="Shape 17"/>
          <p:cNvSpPr/>
          <p:nvPr/>
        </p:nvSpPr>
        <p:spPr>
          <a:xfrm>
            <a:off x="594360" y="4626864"/>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594360" y="462686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TST</a:t>
            </a:r>
            <a:endParaRPr lang="en-US" sz="1200" dirty="0"/>
          </a:p>
        </p:txBody>
      </p:sp>
      <p:sp>
        <p:nvSpPr>
          <p:cNvPr id="21" name="Text 19"/>
          <p:cNvSpPr txBox="1"/>
          <p:nvPr/>
        </p:nvSpPr>
        <p:spPr>
          <a:xfrm>
            <a:off x="1252728" y="4553712"/>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Test suite</a:t>
            </a:r>
            <a:endParaRPr lang="en-US" sz="1450" dirty="0"/>
          </a:p>
        </p:txBody>
      </p:sp>
      <p:sp>
        <p:nvSpPr>
          <p:cNvPr id="22" name="Text 20"/>
          <p:cNvSpPr txBox="1"/>
          <p:nvPr/>
        </p:nvSpPr>
        <p:spPr>
          <a:xfrm>
            <a:off x="1252728" y="4828032"/>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36 unit tests across the scoring engines and all three agents, covering boundaries and missing-data cases.</a:t>
            </a:r>
            <a:endParaRPr lang="en-US" sz="1130" dirty="0"/>
          </a:p>
        </p:txBody>
      </p:sp>
      <p:sp>
        <p:nvSpPr>
          <p:cNvPr id="23" name="Shape 21"/>
          <p:cNvSpPr/>
          <p:nvPr/>
        </p:nvSpPr>
        <p:spPr>
          <a:xfrm>
            <a:off x="594360" y="5413248"/>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24" name="Text 22"/>
          <p:cNvSpPr txBox="1"/>
          <p:nvPr/>
        </p:nvSpPr>
        <p:spPr>
          <a:xfrm>
            <a:off x="594360" y="54132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OPS</a:t>
            </a:r>
            <a:endParaRPr lang="en-US" sz="1200" dirty="0"/>
          </a:p>
        </p:txBody>
      </p:sp>
      <p:sp>
        <p:nvSpPr>
          <p:cNvPr id="25" name="Text 23"/>
          <p:cNvSpPr txBox="1"/>
          <p:nvPr/>
        </p:nvSpPr>
        <p:spPr>
          <a:xfrm>
            <a:off x="1252728" y="5340096"/>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Run scripts</a:t>
            </a:r>
            <a:endParaRPr lang="en-US" sz="1450" dirty="0"/>
          </a:p>
        </p:txBody>
      </p:sp>
      <p:sp>
        <p:nvSpPr>
          <p:cNvPr id="26" name="Text 24"/>
          <p:cNvSpPr txBox="1"/>
          <p:nvPr/>
        </p:nvSpPr>
        <p:spPr>
          <a:xfrm>
            <a:off x="1252728" y="5614416"/>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Restart and Stop scripts sharing one implementation, plus scheduled runners for two agents.</a:t>
            </a:r>
            <a:endParaRPr lang="en-US" sz="1130" dirty="0"/>
          </a:p>
        </p:txBody>
      </p:sp>
      <p:sp>
        <p:nvSpPr>
          <p:cNvPr id="27" name="Text 25"/>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BOTH FOUND BY WRITING TESTS, NOT BY A USER REPORTING THEM</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Defects Worth Naming</a:t>
            </a:r>
            <a:endParaRPr lang="en-US" sz="3000" dirty="0"/>
          </a:p>
        </p:txBody>
      </p:sp>
      <p:sp>
        <p:nvSpPr>
          <p:cNvPr id="4" name="Shape 2"/>
          <p:cNvSpPr/>
          <p:nvPr/>
        </p:nvSpPr>
        <p:spPr>
          <a:xfrm>
            <a:off x="594360" y="1463040"/>
            <a:ext cx="10972800" cy="1920240"/>
          </a:xfrm>
          <a:prstGeom prst="roundRect">
            <a:avLst>
              <a:gd name="adj" fmla="val 42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594360" y="1463040"/>
            <a:ext cx="91440" cy="1920240"/>
          </a:xfrm>
          <a:prstGeom prst="rect">
            <a:avLst/>
          </a:prstGeom>
          <a:solidFill>
            <a:srgbClr val="E8543A"/>
          </a:solidFill>
          <a:ln/>
        </p:spPr>
      </p:sp>
      <p:sp>
        <p:nvSpPr>
          <p:cNvPr id="6" name="Text 4"/>
          <p:cNvSpPr txBox="1"/>
          <p:nvPr/>
        </p:nvSpPr>
        <p:spPr>
          <a:xfrm>
            <a:off x="1005840" y="1645920"/>
            <a:ext cx="1024128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An absent reading was reported as safe</a:t>
            </a:r>
            <a:endParaRPr lang="en-US" sz="1450" dirty="0"/>
          </a:p>
        </p:txBody>
      </p:sp>
      <p:sp>
        <p:nvSpPr>
          <p:cNvPr id="7" name="Text 5"/>
          <p:cNvSpPr txBox="1"/>
          <p:nvPr/>
        </p:nvSpPr>
        <p:spPr>
          <a:xfrm>
            <a:off x="1005840" y="2011680"/>
            <a:ext cx="10241280" cy="1234440"/>
          </a:xfrm>
          <a:prstGeom prst="rect">
            <a:avLst/>
          </a:prstGeom>
          <a:noFill/>
          <a:ln/>
        </p:spPr>
        <p:txBody>
          <a:bodyPr wrap="square" lIns="0" tIns="0" rIns="0" bIns="0" rtlCol="0" anchor="ctr"/>
          <a:lstStyle/>
          <a:p>
            <a:pPr indent="0" marL="0">
              <a:lnSpc>
                <a:spcPct val="125000"/>
              </a:lnSpc>
              <a:buNone/>
            </a:pPr>
            <a:r>
              <a:rPr lang="en-US" sz="1180" dirty="0">
                <a:solidFill>
                  <a:srgbClr val="2B2B2B"/>
                </a:solidFill>
                <a:latin typeface="Calibri" pitchFamily="34" charset="0"/>
                <a:ea typeface="Calibri" pitchFamily="34" charset="-122"/>
                <a:cs typeface="Calibri" pitchFamily="34" charset="-120"/>
              </a:rPr>
              <a:t>In JavaScript, Number(null) is 0 — not NaN. So an area with no heat reading at all fell through the checks and was reported as “below caution levels”. In a heat-safety system, absence of a reading is not evidence of safety. It now says exactly that, and a test holds the line.</a:t>
            </a:r>
            <a:endParaRPr lang="en-US" sz="1180" dirty="0"/>
          </a:p>
        </p:txBody>
      </p:sp>
      <p:sp>
        <p:nvSpPr>
          <p:cNvPr id="8" name="Shape 6"/>
          <p:cNvSpPr/>
          <p:nvPr/>
        </p:nvSpPr>
        <p:spPr>
          <a:xfrm>
            <a:off x="594360" y="3566160"/>
            <a:ext cx="10972800" cy="1920240"/>
          </a:xfrm>
          <a:prstGeom prst="roundRect">
            <a:avLst>
              <a:gd name="adj" fmla="val 42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9" name="Shape 7"/>
          <p:cNvSpPr/>
          <p:nvPr/>
        </p:nvSpPr>
        <p:spPr>
          <a:xfrm>
            <a:off x="594360" y="3566160"/>
            <a:ext cx="91440" cy="1920240"/>
          </a:xfrm>
          <a:prstGeom prst="rect">
            <a:avLst/>
          </a:prstGeom>
          <a:solidFill>
            <a:srgbClr val="C98A2E"/>
          </a:solidFill>
          <a:ln/>
        </p:spPr>
      </p:sp>
      <p:sp>
        <p:nvSpPr>
          <p:cNvPr id="10" name="Text 8"/>
          <p:cNvSpPr txBox="1"/>
          <p:nvPr/>
        </p:nvSpPr>
        <p:spPr>
          <a:xfrm>
            <a:off x="1005840" y="3749040"/>
            <a:ext cx="1024128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 threshold that could never fire</a:t>
            </a:r>
            <a:endParaRPr lang="en-US" sz="1450" dirty="0"/>
          </a:p>
        </p:txBody>
      </p:sp>
      <p:sp>
        <p:nvSpPr>
          <p:cNvPr id="11" name="Text 9"/>
          <p:cNvSpPr txBox="1"/>
          <p:nvPr/>
        </p:nvSpPr>
        <p:spPr>
          <a:xfrm>
            <a:off x="1005840" y="4114800"/>
            <a:ext cx="10241280" cy="1234440"/>
          </a:xfrm>
          <a:prstGeom prst="rect">
            <a:avLst/>
          </a:prstGeom>
          <a:noFill/>
          <a:ln/>
        </p:spPr>
        <p:txBody>
          <a:bodyPr wrap="square" lIns="0" tIns="0" rIns="0" bIns="0" rtlCol="0" anchor="ctr"/>
          <a:lstStyle/>
          <a:p>
            <a:pPr indent="0" marL="0">
              <a:lnSpc>
                <a:spcPct val="125000"/>
              </a:lnSpc>
              <a:buNone/>
            </a:pPr>
            <a:r>
              <a:rPr lang="en-US" sz="1180" dirty="0">
                <a:solidFill>
                  <a:srgbClr val="2B2B2B"/>
                </a:solidFill>
                <a:latin typeface="Calibri" pitchFamily="34" charset="0"/>
                <a:ea typeface="Calibri" pitchFamily="34" charset="-122"/>
                <a:cs typeface="Calibri" pitchFamily="34" charset="-120"/>
              </a:rPr>
              <a:t>The agents used a round 40 as the “this area is vulnerable” line. Our five pilot areas actually score 24.8 to 30.6 — Texas housing is almost universally air-conditioned, so the no-AC factor sits at 6–10% and drags every score down despite carrying 30% of the weight. At 40, neither agent would ever have escalated. They would have looked like they were working while deciding nothing.</a:t>
            </a:r>
            <a:endParaRPr lang="en-US" sz="1180" dirty="0"/>
          </a:p>
        </p:txBody>
      </p:sp>
      <p:sp>
        <p:nvSpPr>
          <p:cNvPr id="12" name="Text 10"/>
          <p:cNvSpPr txBox="1"/>
          <p:nvPr/>
        </p:nvSpPr>
        <p:spPr>
          <a:xfrm>
            <a:off x="594360" y="5715000"/>
            <a:ext cx="10972800" cy="457200"/>
          </a:xfrm>
          <a:prstGeom prst="rect">
            <a:avLst/>
          </a:prstGeom>
          <a:noFill/>
          <a:ln/>
        </p:spPr>
        <p:txBody>
          <a:bodyPr wrap="square" lIns="0" tIns="0" rIns="0" bIns="0" rtlCol="0" anchor="ctr"/>
          <a:lstStyle/>
          <a:p>
            <a:pPr indent="0" marL="0">
              <a:buNone/>
            </a:pPr>
            <a:r>
              <a:rPr lang="en-US" sz="1250" b="1" i="1" dirty="0">
                <a:solidFill>
                  <a:srgbClr val="E8543A"/>
                </a:solidFill>
                <a:latin typeface="Calibri" pitchFamily="34" charset="0"/>
                <a:ea typeface="Calibri" pitchFamily="34" charset="-122"/>
                <a:cs typeface="Calibri" pitchFamily="34" charset="-120"/>
              </a:rPr>
              <a:t>Neither would have shown up in a demo. Both would have shown up the first time somebody relied on the system.</a:t>
            </a:r>
            <a:endParaRPr lang="en-US" sz="1250" dirty="0"/>
          </a:p>
        </p:txBody>
      </p:sp>
      <p:sp>
        <p:nvSpPr>
          <p:cNvPr id="13" name="Text 1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14" name="Text 1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42 ITEMS ACROSS 7 EPICS, ALL FORMAL USER STORIES</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the Backlog Stands</a:t>
            </a:r>
            <a:endParaRPr lang="en-US" sz="3000" dirty="0"/>
          </a:p>
        </p:txBody>
      </p:sp>
      <p:sp>
        <p:nvSpPr>
          <p:cNvPr id="4" name="Shape 2"/>
          <p:cNvSpPr/>
          <p:nvPr/>
        </p:nvSpPr>
        <p:spPr>
          <a:xfrm>
            <a:off x="594360" y="1463040"/>
            <a:ext cx="10972800" cy="960120"/>
          </a:xfrm>
          <a:prstGeom prst="roundRect">
            <a:avLst>
              <a:gd name="adj" fmla="val 8571"/>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594360" y="1463040"/>
            <a:ext cx="91440" cy="960120"/>
          </a:xfrm>
          <a:prstGeom prst="rect">
            <a:avLst/>
          </a:prstGeom>
          <a:solidFill>
            <a:srgbClr val="2E8B57"/>
          </a:solidFill>
          <a:ln/>
        </p:spPr>
      </p:sp>
      <p:sp>
        <p:nvSpPr>
          <p:cNvPr id="6" name="Text 4"/>
          <p:cNvSpPr txBox="1"/>
          <p:nvPr/>
        </p:nvSpPr>
        <p:spPr>
          <a:xfrm>
            <a:off x="1005840" y="1600200"/>
            <a:ext cx="1463040" cy="274320"/>
          </a:xfrm>
          <a:prstGeom prst="rect">
            <a:avLst/>
          </a:prstGeom>
          <a:noFill/>
          <a:ln/>
        </p:spPr>
        <p:txBody>
          <a:bodyPr wrap="square" lIns="0" tIns="0" rIns="0" bIns="0" rtlCol="0" anchor="ctr"/>
          <a:lstStyle/>
          <a:p>
            <a:pPr indent="0" marL="0">
              <a:buNone/>
            </a:pPr>
            <a:r>
              <a:rPr lang="en-US" sz="1350" b="1" dirty="0">
                <a:solidFill>
                  <a:srgbClr val="2E8B57"/>
                </a:solidFill>
                <a:latin typeface="Calibri" pitchFamily="34" charset="0"/>
                <a:ea typeface="Calibri" pitchFamily="34" charset="-122"/>
                <a:cs typeface="Calibri" pitchFamily="34" charset="-120"/>
              </a:rPr>
              <a:t>Sprint 1</a:t>
            </a:r>
            <a:endParaRPr lang="en-US" sz="1350" dirty="0"/>
          </a:p>
        </p:txBody>
      </p:sp>
      <p:sp>
        <p:nvSpPr>
          <p:cNvPr id="7" name="Text 5"/>
          <p:cNvSpPr txBox="1"/>
          <p:nvPr/>
        </p:nvSpPr>
        <p:spPr>
          <a:xfrm>
            <a:off x="2560320" y="1600200"/>
            <a:ext cx="512064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AI Priority Matching</a:t>
            </a:r>
            <a:endParaRPr lang="en-US" sz="1300" dirty="0"/>
          </a:p>
        </p:txBody>
      </p:sp>
      <p:sp>
        <p:nvSpPr>
          <p:cNvPr id="8" name="Text 6"/>
          <p:cNvSpPr txBox="1"/>
          <p:nvPr/>
        </p:nvSpPr>
        <p:spPr>
          <a:xfrm>
            <a:off x="7772400" y="1609344"/>
            <a:ext cx="182880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6 stories · 21 pts</a:t>
            </a:r>
            <a:endParaRPr lang="en-US" sz="1150" dirty="0"/>
          </a:p>
        </p:txBody>
      </p:sp>
      <p:sp>
        <p:nvSpPr>
          <p:cNvPr id="9" name="Text 7"/>
          <p:cNvSpPr txBox="1"/>
          <p:nvPr/>
        </p:nvSpPr>
        <p:spPr>
          <a:xfrm>
            <a:off x="9601200" y="1609344"/>
            <a:ext cx="1828800" cy="274320"/>
          </a:xfrm>
          <a:prstGeom prst="rect">
            <a:avLst/>
          </a:prstGeom>
          <a:noFill/>
          <a:ln/>
        </p:spPr>
        <p:txBody>
          <a:bodyPr wrap="square" lIns="0" tIns="0" rIns="0" bIns="0" rtlCol="0" anchor="ctr"/>
          <a:lstStyle/>
          <a:p>
            <a:pPr indent="0" marL="0">
              <a:buNone/>
            </a:pPr>
            <a:r>
              <a:rPr lang="en-US" sz="1150" b="1" dirty="0">
                <a:solidFill>
                  <a:srgbClr val="2E8B57"/>
                </a:solidFill>
                <a:latin typeface="Calibri" pitchFamily="34" charset="0"/>
                <a:ea typeface="Calibri" pitchFamily="34" charset="-122"/>
                <a:cs typeface="Calibri" pitchFamily="34" charset="-120"/>
              </a:rPr>
              <a:t>Complete and merged</a:t>
            </a:r>
            <a:endParaRPr lang="en-US" sz="1150" dirty="0"/>
          </a:p>
        </p:txBody>
      </p:sp>
      <p:sp>
        <p:nvSpPr>
          <p:cNvPr id="10" name="Shape 8"/>
          <p:cNvSpPr/>
          <p:nvPr/>
        </p:nvSpPr>
        <p:spPr>
          <a:xfrm>
            <a:off x="594360" y="2514600"/>
            <a:ext cx="10972800" cy="960120"/>
          </a:xfrm>
          <a:prstGeom prst="roundRect">
            <a:avLst>
              <a:gd name="adj" fmla="val 8571"/>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Shape 9"/>
          <p:cNvSpPr/>
          <p:nvPr/>
        </p:nvSpPr>
        <p:spPr>
          <a:xfrm>
            <a:off x="594360" y="2514600"/>
            <a:ext cx="91440" cy="960120"/>
          </a:xfrm>
          <a:prstGeom prst="rect">
            <a:avLst/>
          </a:prstGeom>
          <a:solidFill>
            <a:srgbClr val="C98A2E"/>
          </a:solidFill>
          <a:ln/>
        </p:spPr>
      </p:sp>
      <p:sp>
        <p:nvSpPr>
          <p:cNvPr id="12" name="Text 10"/>
          <p:cNvSpPr txBox="1"/>
          <p:nvPr/>
        </p:nvSpPr>
        <p:spPr>
          <a:xfrm>
            <a:off x="1005840" y="2651760"/>
            <a:ext cx="1463040" cy="274320"/>
          </a:xfrm>
          <a:prstGeom prst="rect">
            <a:avLst/>
          </a:prstGeom>
          <a:noFill/>
          <a:ln/>
        </p:spPr>
        <p:txBody>
          <a:bodyPr wrap="square" lIns="0" tIns="0" rIns="0" bIns="0" rtlCol="0" anchor="ctr"/>
          <a:lstStyle/>
          <a:p>
            <a:pPr indent="0" marL="0">
              <a:buNone/>
            </a:pPr>
            <a:r>
              <a:rPr lang="en-US" sz="1350" b="1" dirty="0">
                <a:solidFill>
                  <a:srgbClr val="C98A2E"/>
                </a:solidFill>
                <a:latin typeface="Calibri" pitchFamily="34" charset="0"/>
                <a:ea typeface="Calibri" pitchFamily="34" charset="-122"/>
                <a:cs typeface="Calibri" pitchFamily="34" charset="-120"/>
              </a:rPr>
              <a:t>Sprint 2</a:t>
            </a:r>
            <a:endParaRPr lang="en-US" sz="1350" dirty="0"/>
          </a:p>
        </p:txBody>
      </p:sp>
      <p:sp>
        <p:nvSpPr>
          <p:cNvPr id="13" name="Text 11"/>
          <p:cNvSpPr txBox="1"/>
          <p:nvPr/>
        </p:nvSpPr>
        <p:spPr>
          <a:xfrm>
            <a:off x="2560320" y="2651760"/>
            <a:ext cx="512064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Live Weather + Demographic Integration</a:t>
            </a:r>
            <a:endParaRPr lang="en-US" sz="1300" dirty="0"/>
          </a:p>
        </p:txBody>
      </p:sp>
      <p:sp>
        <p:nvSpPr>
          <p:cNvPr id="14" name="Text 12"/>
          <p:cNvSpPr txBox="1"/>
          <p:nvPr/>
        </p:nvSpPr>
        <p:spPr>
          <a:xfrm>
            <a:off x="7772400" y="2660904"/>
            <a:ext cx="182880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9 stories · 23 pts</a:t>
            </a:r>
            <a:endParaRPr lang="en-US" sz="1150" dirty="0"/>
          </a:p>
        </p:txBody>
      </p:sp>
      <p:sp>
        <p:nvSpPr>
          <p:cNvPr id="15" name="Text 13"/>
          <p:cNvSpPr txBox="1"/>
          <p:nvPr/>
        </p:nvSpPr>
        <p:spPr>
          <a:xfrm>
            <a:off x="9601200" y="2660904"/>
            <a:ext cx="1828800" cy="274320"/>
          </a:xfrm>
          <a:prstGeom prst="rect">
            <a:avLst/>
          </a:prstGeom>
          <a:noFill/>
          <a:ln/>
        </p:spPr>
        <p:txBody>
          <a:bodyPr wrap="square" lIns="0" tIns="0" rIns="0" bIns="0" rtlCol="0" anchor="ctr"/>
          <a:lstStyle/>
          <a:p>
            <a:pPr indent="0" marL="0">
              <a:buNone/>
            </a:pPr>
            <a:r>
              <a:rPr lang="en-US" sz="1150" b="1" dirty="0">
                <a:solidFill>
                  <a:srgbClr val="C98A2E"/>
                </a:solidFill>
                <a:latin typeface="Calibri" pitchFamily="34" charset="0"/>
                <a:ea typeface="Calibri" pitchFamily="34" charset="-122"/>
                <a:cs typeface="Calibri" pitchFamily="34" charset="-120"/>
              </a:rPr>
              <a:t>Scoped and assigned</a:t>
            </a:r>
            <a:endParaRPr lang="en-US" sz="1150" dirty="0"/>
          </a:p>
        </p:txBody>
      </p:sp>
      <p:sp>
        <p:nvSpPr>
          <p:cNvPr id="16" name="Shape 14"/>
          <p:cNvSpPr/>
          <p:nvPr/>
        </p:nvSpPr>
        <p:spPr>
          <a:xfrm>
            <a:off x="594360" y="3566160"/>
            <a:ext cx="10972800" cy="960120"/>
          </a:xfrm>
          <a:prstGeom prst="roundRect">
            <a:avLst>
              <a:gd name="adj" fmla="val 8571"/>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7" name="Shape 15"/>
          <p:cNvSpPr/>
          <p:nvPr/>
        </p:nvSpPr>
        <p:spPr>
          <a:xfrm>
            <a:off x="594360" y="3566160"/>
            <a:ext cx="91440" cy="960120"/>
          </a:xfrm>
          <a:prstGeom prst="rect">
            <a:avLst/>
          </a:prstGeom>
          <a:solidFill>
            <a:srgbClr val="E8543A"/>
          </a:solidFill>
          <a:ln/>
        </p:spPr>
      </p:sp>
      <p:sp>
        <p:nvSpPr>
          <p:cNvPr id="18" name="Text 16"/>
          <p:cNvSpPr txBox="1"/>
          <p:nvPr/>
        </p:nvSpPr>
        <p:spPr>
          <a:xfrm>
            <a:off x="1005840" y="3703320"/>
            <a:ext cx="1463040" cy="274320"/>
          </a:xfrm>
          <a:prstGeom prst="rect">
            <a:avLst/>
          </a:prstGeom>
          <a:noFill/>
          <a:ln/>
        </p:spPr>
        <p:txBody>
          <a:bodyPr wrap="square" lIns="0" tIns="0" rIns="0" bIns="0" rtlCol="0" anchor="ctr"/>
          <a:lstStyle/>
          <a:p>
            <a:pPr indent="0" marL="0">
              <a:buNone/>
            </a:pPr>
            <a:r>
              <a:rPr lang="en-US" sz="1350" b="1" dirty="0">
                <a:solidFill>
                  <a:srgbClr val="E8543A"/>
                </a:solidFill>
                <a:latin typeface="Calibri" pitchFamily="34" charset="0"/>
                <a:ea typeface="Calibri" pitchFamily="34" charset="-122"/>
                <a:cs typeface="Calibri" pitchFamily="34" charset="-120"/>
              </a:rPr>
              <a:t>Sprint 3</a:t>
            </a:r>
            <a:endParaRPr lang="en-US" sz="1350" dirty="0"/>
          </a:p>
        </p:txBody>
      </p:sp>
      <p:sp>
        <p:nvSpPr>
          <p:cNvPr id="19" name="Text 17"/>
          <p:cNvSpPr txBox="1"/>
          <p:nvPr/>
        </p:nvSpPr>
        <p:spPr>
          <a:xfrm>
            <a:off x="2560320" y="3703320"/>
            <a:ext cx="512064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Priority Access + React migration</a:t>
            </a:r>
            <a:endParaRPr lang="en-US" sz="1300" dirty="0"/>
          </a:p>
        </p:txBody>
      </p:sp>
      <p:sp>
        <p:nvSpPr>
          <p:cNvPr id="20" name="Text 18"/>
          <p:cNvSpPr txBox="1"/>
          <p:nvPr/>
        </p:nvSpPr>
        <p:spPr>
          <a:xfrm>
            <a:off x="7772400" y="3712464"/>
            <a:ext cx="182880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8 stories · 39 pts</a:t>
            </a:r>
            <a:endParaRPr lang="en-US" sz="1150" dirty="0"/>
          </a:p>
        </p:txBody>
      </p:sp>
      <p:sp>
        <p:nvSpPr>
          <p:cNvPr id="21" name="Text 19"/>
          <p:cNvSpPr txBox="1"/>
          <p:nvPr/>
        </p:nvSpPr>
        <p:spPr>
          <a:xfrm>
            <a:off x="9601200" y="3712464"/>
            <a:ext cx="1828800" cy="274320"/>
          </a:xfrm>
          <a:prstGeom prst="rect">
            <a:avLst/>
          </a:prstGeom>
          <a:noFill/>
          <a:ln/>
        </p:spPr>
        <p:txBody>
          <a:bodyPr wrap="square" lIns="0" tIns="0" rIns="0" bIns="0" rtlCol="0" anchor="ctr"/>
          <a:lstStyle/>
          <a:p>
            <a:pPr indent="0" marL="0">
              <a:buNone/>
            </a:pPr>
            <a:r>
              <a:rPr lang="en-US" sz="1150" b="1" dirty="0">
                <a:solidFill>
                  <a:srgbClr val="E8543A"/>
                </a:solidFill>
                <a:latin typeface="Calibri" pitchFamily="34" charset="0"/>
                <a:ea typeface="Calibri" pitchFamily="34" charset="-122"/>
                <a:cs typeface="Calibri" pitchFamily="34" charset="-120"/>
              </a:rPr>
              <a:t>In review</a:t>
            </a:r>
            <a:endParaRPr lang="en-US" sz="1150" dirty="0"/>
          </a:p>
        </p:txBody>
      </p:sp>
      <p:sp>
        <p:nvSpPr>
          <p:cNvPr id="22" name="Shape 20"/>
          <p:cNvSpPr/>
          <p:nvPr/>
        </p:nvSpPr>
        <p:spPr>
          <a:xfrm>
            <a:off x="594360" y="4617720"/>
            <a:ext cx="10972800" cy="960120"/>
          </a:xfrm>
          <a:prstGeom prst="roundRect">
            <a:avLst>
              <a:gd name="adj" fmla="val 8571"/>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3" name="Shape 21"/>
          <p:cNvSpPr/>
          <p:nvPr/>
        </p:nvSpPr>
        <p:spPr>
          <a:xfrm>
            <a:off x="594360" y="4617720"/>
            <a:ext cx="91440" cy="960120"/>
          </a:xfrm>
          <a:prstGeom prst="rect">
            <a:avLst/>
          </a:prstGeom>
          <a:solidFill>
            <a:srgbClr val="1E2761"/>
          </a:solidFill>
          <a:ln/>
        </p:spPr>
      </p:sp>
      <p:sp>
        <p:nvSpPr>
          <p:cNvPr id="24" name="Text 22"/>
          <p:cNvSpPr txBox="1"/>
          <p:nvPr/>
        </p:nvSpPr>
        <p:spPr>
          <a:xfrm>
            <a:off x="1005840" y="4754880"/>
            <a:ext cx="146304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Sprint 4</a:t>
            </a:r>
            <a:endParaRPr lang="en-US" sz="1350" dirty="0"/>
          </a:p>
        </p:txBody>
      </p:sp>
      <p:sp>
        <p:nvSpPr>
          <p:cNvPr id="25" name="Text 23"/>
          <p:cNvSpPr txBox="1"/>
          <p:nvPr/>
        </p:nvSpPr>
        <p:spPr>
          <a:xfrm>
            <a:off x="2560320" y="4754880"/>
            <a:ext cx="512064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Three agent epics</a:t>
            </a:r>
            <a:endParaRPr lang="en-US" sz="1300" dirty="0"/>
          </a:p>
        </p:txBody>
      </p:sp>
      <p:sp>
        <p:nvSpPr>
          <p:cNvPr id="26" name="Text 24"/>
          <p:cNvSpPr txBox="1"/>
          <p:nvPr/>
        </p:nvSpPr>
        <p:spPr>
          <a:xfrm>
            <a:off x="7772400" y="4764024"/>
            <a:ext cx="182880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11 stories · 46 pts</a:t>
            </a:r>
            <a:endParaRPr lang="en-US" sz="1150" dirty="0"/>
          </a:p>
        </p:txBody>
      </p:sp>
      <p:sp>
        <p:nvSpPr>
          <p:cNvPr id="27" name="Text 25"/>
          <p:cNvSpPr txBox="1"/>
          <p:nvPr/>
        </p:nvSpPr>
        <p:spPr>
          <a:xfrm>
            <a:off x="9601200" y="4764024"/>
            <a:ext cx="182880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In review</a:t>
            </a:r>
            <a:endParaRPr lang="en-US" sz="1150" dirty="0"/>
          </a:p>
        </p:txBody>
      </p:sp>
      <p:sp>
        <p:nvSpPr>
          <p:cNvPr id="28" name="Shape 26"/>
          <p:cNvSpPr/>
          <p:nvPr/>
        </p:nvSpPr>
        <p:spPr>
          <a:xfrm>
            <a:off x="594360" y="5669280"/>
            <a:ext cx="10972800" cy="777240"/>
          </a:xfrm>
          <a:prstGeom prst="roundRect">
            <a:avLst>
              <a:gd name="adj" fmla="val 10588"/>
            </a:avLst>
          </a:prstGeom>
          <a:solidFill>
            <a:srgbClr val="FBF0DC"/>
          </a:solidFill>
          <a:ln w="12700">
            <a:solidFill>
              <a:srgbClr val="EFD9AE"/>
            </a:solidFill>
            <a:prstDash val="solid"/>
          </a:ln>
        </p:spPr>
      </p:sp>
      <p:sp>
        <p:nvSpPr>
          <p:cNvPr id="29" name="Text 27"/>
          <p:cNvSpPr txBox="1"/>
          <p:nvPr/>
        </p:nvSpPr>
        <p:spPr>
          <a:xfrm>
            <a:off x="868680" y="5815584"/>
            <a:ext cx="10424160" cy="548640"/>
          </a:xfrm>
          <a:prstGeom prst="rect">
            <a:avLst/>
          </a:prstGeom>
          <a:noFill/>
          <a:ln/>
        </p:spPr>
        <p:txBody>
          <a:bodyPr wrap="square" lIns="0" tIns="0" rIns="0" bIns="0" rtlCol="0" anchor="ctr"/>
          <a:lstStyle/>
          <a:p>
            <a:pPr indent="0" marL="0">
              <a:lnSpc>
                <a:spcPct val="120000"/>
              </a:lnSpc>
              <a:buNone/>
            </a:pPr>
            <a:r>
              <a:rPr lang="en-US" sz="1150" i="1" dirty="0">
                <a:solidFill>
                  <a:srgbClr val="2B2B2B"/>
                </a:solidFill>
                <a:latin typeface="Calibri" pitchFamily="34" charset="0"/>
                <a:ea typeface="Calibri" pitchFamily="34" charset="-122"/>
                <a:cs typeface="Calibri" pitchFamily="34" charset="-120"/>
              </a:rPr>
              <a:t>Honest status: everything marked In Review is written and unit-tested, but has not yet been exercised against a live database. It becomes Done when we have run it and seen it work.</a:t>
            </a:r>
            <a:endParaRPr lang="en-US" sz="1150" dirty="0"/>
          </a:p>
        </p:txBody>
      </p:sp>
      <p:sp>
        <p:nvSpPr>
          <p:cNvPr id="30" name="Text 28"/>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31" name="Text 2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COMMITTED TO THE BACKLOG, NOT YET STARTED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What's Next</a:t>
            </a:r>
            <a:endParaRPr lang="en-US" sz="3000" dirty="0"/>
          </a:p>
        </p:txBody>
      </p:sp>
      <p:sp>
        <p:nvSpPr>
          <p:cNvPr id="4" name="Shape 2"/>
          <p:cNvSpPr/>
          <p:nvPr/>
        </p:nvSpPr>
        <p:spPr>
          <a:xfrm>
            <a:off x="594360" y="1463040"/>
            <a:ext cx="10972800" cy="2103120"/>
          </a:xfrm>
          <a:prstGeom prst="roundRect">
            <a:avLst>
              <a:gd name="adj" fmla="val 3913"/>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914400" y="1664208"/>
            <a:ext cx="7315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Organization user accounts</a:t>
            </a:r>
            <a:endParaRPr lang="en-US" sz="1500" dirty="0"/>
          </a:p>
        </p:txBody>
      </p:sp>
      <p:sp>
        <p:nvSpPr>
          <p:cNvPr id="6" name="Text 4"/>
          <p:cNvSpPr txBox="1"/>
          <p:nvPr/>
        </p:nvSpPr>
        <p:spPr>
          <a:xfrm>
            <a:off x="8412480" y="1700784"/>
            <a:ext cx="2926080" cy="274320"/>
          </a:xfrm>
          <a:prstGeom prst="rect">
            <a:avLst/>
          </a:prstGeom>
          <a:noFill/>
          <a:ln/>
        </p:spPr>
        <p:txBody>
          <a:bodyPr wrap="square" lIns="0" tIns="0" rIns="0" bIns="0" rtlCol="0" anchor="ctr"/>
          <a:lstStyle/>
          <a:p>
            <a:pPr algn="r" indent="0" marL="0">
              <a:buNone/>
            </a:pPr>
            <a:r>
              <a:rPr lang="en-US" sz="1100" dirty="0">
                <a:solidFill>
                  <a:srgbClr val="E8543A"/>
                </a:solidFill>
                <a:latin typeface="Courier New" pitchFamily="34" charset="0"/>
                <a:ea typeface="Courier New" pitchFamily="34" charset="-122"/>
                <a:cs typeface="Courier New" pitchFamily="34" charset="-120"/>
              </a:rPr>
              <a:t>SCRUM-53 · ~26 pts</a:t>
            </a:r>
            <a:endParaRPr lang="en-US" sz="1100" dirty="0"/>
          </a:p>
        </p:txBody>
      </p:sp>
      <p:sp>
        <p:nvSpPr>
          <p:cNvPr id="7" name="Text 5"/>
          <p:cNvSpPr txBox="1"/>
          <p:nvPr/>
        </p:nvSpPr>
        <p:spPr>
          <a:xfrm>
            <a:off x="914400" y="2084832"/>
            <a:ext cx="10332720" cy="1325880"/>
          </a:xfrm>
          <a:prstGeom prst="rect">
            <a:avLst/>
          </a:prstGeom>
          <a:noFill/>
          <a:ln/>
        </p:spPr>
        <p:txBody>
          <a:bodyPr wrap="square" lIns="0" tIns="0" rIns="0" bIns="0" rtlCol="0" anchor="ctr"/>
          <a:lstStyle/>
          <a:p>
            <a:pPr indent="0" marL="0">
              <a:lnSpc>
                <a:spcPct val="128000"/>
              </a:lnSpc>
              <a:buNone/>
            </a:pPr>
            <a:r>
              <a:rPr lang="en-US" sz="1180" dirty="0">
                <a:solidFill>
                  <a:srgbClr val="2B2B2B"/>
                </a:solidFill>
                <a:latin typeface="Calibri" pitchFamily="34" charset="0"/>
                <a:ea typeface="Calibri" pitchFamily="34" charset="-122"/>
                <a:cs typeface="Calibri" pitchFamily="34" charset="-120"/>
              </a:rPr>
              <a:t>Replace the shared organisation token with per-user logins tied to an organisation. Enables change tracking — who updated which site, who issued which invite — and organisation participation tracking. Passwords hashed with a modern algorithm; the shared token was always documented as a stopgap, and this retires it.</a:t>
            </a:r>
            <a:endParaRPr lang="en-US" sz="1180" dirty="0"/>
          </a:p>
        </p:txBody>
      </p:sp>
      <p:sp>
        <p:nvSpPr>
          <p:cNvPr id="8" name="Shape 6"/>
          <p:cNvSpPr/>
          <p:nvPr/>
        </p:nvSpPr>
        <p:spPr>
          <a:xfrm>
            <a:off x="594360" y="3749040"/>
            <a:ext cx="10972800" cy="2103120"/>
          </a:xfrm>
          <a:prstGeom prst="roundRect">
            <a:avLst>
              <a:gd name="adj" fmla="val 3913"/>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9" name="Text 7"/>
          <p:cNvSpPr txBox="1"/>
          <p:nvPr/>
        </p:nvSpPr>
        <p:spPr>
          <a:xfrm>
            <a:off x="914400" y="3950208"/>
            <a:ext cx="731520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County selector in the header</a:t>
            </a:r>
            <a:endParaRPr lang="en-US" sz="1500" dirty="0"/>
          </a:p>
        </p:txBody>
      </p:sp>
      <p:sp>
        <p:nvSpPr>
          <p:cNvPr id="10" name="Text 8"/>
          <p:cNvSpPr txBox="1"/>
          <p:nvPr/>
        </p:nvSpPr>
        <p:spPr>
          <a:xfrm>
            <a:off x="8412480" y="3986784"/>
            <a:ext cx="2926080" cy="274320"/>
          </a:xfrm>
          <a:prstGeom prst="rect">
            <a:avLst/>
          </a:prstGeom>
          <a:noFill/>
          <a:ln/>
        </p:spPr>
        <p:txBody>
          <a:bodyPr wrap="square" lIns="0" tIns="0" rIns="0" bIns="0" rtlCol="0" anchor="ctr"/>
          <a:lstStyle/>
          <a:p>
            <a:pPr algn="r" indent="0" marL="0">
              <a:buNone/>
            </a:pPr>
            <a:r>
              <a:rPr lang="en-US" sz="1100" dirty="0">
                <a:solidFill>
                  <a:srgbClr val="E8543A"/>
                </a:solidFill>
                <a:latin typeface="Courier New" pitchFamily="34" charset="0"/>
                <a:ea typeface="Courier New" pitchFamily="34" charset="-122"/>
                <a:cs typeface="Courier New" pitchFamily="34" charset="-120"/>
              </a:rPr>
              <a:t>SCRUM-54 · 5 pts</a:t>
            </a:r>
            <a:endParaRPr lang="en-US" sz="1100" dirty="0"/>
          </a:p>
        </p:txBody>
      </p:sp>
      <p:sp>
        <p:nvSpPr>
          <p:cNvPr id="11" name="Text 9"/>
          <p:cNvSpPr txBox="1"/>
          <p:nvPr/>
        </p:nvSpPr>
        <p:spPr>
          <a:xfrm>
            <a:off x="914400" y="4370832"/>
            <a:ext cx="10332720" cy="1325880"/>
          </a:xfrm>
          <a:prstGeom prst="rect">
            <a:avLst/>
          </a:prstGeom>
          <a:noFill/>
          <a:ln/>
        </p:spPr>
        <p:txBody>
          <a:bodyPr wrap="square" lIns="0" tIns="0" rIns="0" bIns="0" rtlCol="0" anchor="ctr"/>
          <a:lstStyle/>
          <a:p>
            <a:pPr indent="0" marL="0">
              <a:lnSpc>
                <a:spcPct val="128000"/>
              </a:lnSpc>
              <a:buNone/>
            </a:pPr>
            <a:r>
              <a:rPr lang="en-US" sz="1180" dirty="0">
                <a:solidFill>
                  <a:srgbClr val="2B2B2B"/>
                </a:solidFill>
                <a:latin typeface="Calibri" pitchFamily="34" charset="0"/>
                <a:ea typeface="Calibri" pitchFamily="34" charset="-122"/>
                <a:cs typeface="Calibri" pitchFamily="34" charset="-120"/>
              </a:rPr>
              <a:t>Today the county sits inside the site-search form beside the ZIP field, and alerts only load when Search is pressed. Two different jobs wearing the same costume. Moving it into the header and loading alerts the moment a county is chosen means a resident sees an active warning without having to search for anything.</a:t>
            </a:r>
            <a:endParaRPr lang="en-US" sz="1180" dirty="0"/>
          </a:p>
        </p:txBody>
      </p:sp>
      <p:sp>
        <p:nvSpPr>
          <p:cNvPr id="12" name="Text 10"/>
          <p:cNvSpPr txBox="1"/>
          <p:nvPr/>
        </p:nvSpPr>
        <p:spPr>
          <a:xfrm>
            <a:off x="594360" y="5943600"/>
            <a:ext cx="10972800" cy="3657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Both are scoped with acceptance criteria and development tasks. Neither is started — Sprint 2 comes first.</a:t>
            </a:r>
            <a:endParaRPr lang="en-US" sz="1200" dirty="0"/>
          </a:p>
        </p:txBody>
      </p:sp>
      <p:sp>
        <p:nvSpPr>
          <p:cNvPr id="13" name="Text 1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HeatSafe  •  CINS 5338/5388 — Software Project Management</a:t>
            </a:r>
            <a:endParaRPr lang="en-US" sz="900" dirty="0"/>
          </a:p>
        </p:txBody>
      </p:sp>
      <p:sp>
        <p:nvSpPr>
          <p:cNvPr id="14" name="Text 1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2377440" y="-2377440"/>
            <a:ext cx="6400800" cy="6400800"/>
          </a:xfrm>
          <a:prstGeom prst="ellipse">
            <a:avLst/>
          </a:prstGeom>
          <a:solidFill>
            <a:srgbClr val="E8543A">
              <a:alpha val="13000"/>
            </a:srgbClr>
          </a:solidFill>
          <a:ln/>
        </p:spPr>
      </p:sp>
      <p:sp>
        <p:nvSpPr>
          <p:cNvPr id="3" name="Shape 1"/>
          <p:cNvSpPr/>
          <p:nvPr/>
        </p:nvSpPr>
        <p:spPr>
          <a:xfrm>
            <a:off x="8961120" y="3840480"/>
            <a:ext cx="5943600" cy="5943600"/>
          </a:xfrm>
          <a:prstGeom prst="ellipse">
            <a:avLst/>
          </a:prstGeom>
          <a:solidFill>
            <a:srgbClr val="C98A2E">
              <a:alpha val="12000"/>
            </a:srgbClr>
          </a:solidFill>
          <a:ln/>
        </p:spPr>
      </p:sp>
      <p:sp>
        <p:nvSpPr>
          <p:cNvPr id="4" name="Text 2"/>
          <p:cNvSpPr txBox="1"/>
          <p:nvPr/>
        </p:nvSpPr>
        <p:spPr>
          <a:xfrm>
            <a:off x="0" y="2651760"/>
            <a:ext cx="12161520"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txBox="1"/>
          <p:nvPr/>
        </p:nvSpPr>
        <p:spPr>
          <a:xfrm>
            <a:off x="0" y="3611880"/>
            <a:ext cx="12161520" cy="457200"/>
          </a:xfrm>
          <a:prstGeom prst="rect">
            <a:avLst/>
          </a:prstGeom>
          <a:noFill/>
          <a:ln/>
        </p:spPr>
        <p:txBody>
          <a:bodyPr wrap="square" lIns="0" tIns="0" rIns="0" bIns="0" rtlCol="0" anchor="ctr"/>
          <a:lstStyle/>
          <a:p>
            <a:pPr algn="ctr" indent="0" marL="0">
              <a:buNone/>
            </a:pPr>
            <a:r>
              <a:rPr lang="en-US" sz="1500" spc="200" kern="0" dirty="0">
                <a:solidFill>
                  <a:srgbClr val="CFD6F5"/>
                </a:solidFill>
                <a:latin typeface="Calibri" pitchFamily="34" charset="0"/>
                <a:ea typeface="Calibri" pitchFamily="34" charset="-122"/>
                <a:cs typeface="Calibri" pitchFamily="34" charset="-120"/>
              </a:rPr>
              <a:t>F O R   Y O U R   A T T E N T I O N</a:t>
            </a:r>
            <a:endParaRPr lang="en-US" sz="1500" dirty="0"/>
          </a:p>
        </p:txBody>
      </p:sp>
      <p:sp>
        <p:nvSpPr>
          <p:cNvPr id="6" name="Text 4"/>
          <p:cNvSpPr txBox="1"/>
          <p:nvPr/>
        </p:nvSpPr>
        <p:spPr>
          <a:xfrm>
            <a:off x="0" y="6126480"/>
            <a:ext cx="12161520" cy="365760"/>
          </a:xfrm>
          <a:prstGeom prst="rect">
            <a:avLst/>
          </a:prstGeom>
          <a:noFill/>
          <a:ln/>
        </p:spPr>
        <p:txBody>
          <a:bodyPr wrap="square" lIns="0" tIns="0" rIns="0" bIns="0" rtlCol="0" anchor="ctr"/>
          <a:lstStyle/>
          <a:p>
            <a:pPr algn="ctr" indent="0" marL="0">
              <a:buNone/>
            </a:pPr>
            <a:r>
              <a:rPr lang="en-US" sz="1150" dirty="0">
                <a:solidFill>
                  <a:srgbClr val="8891C7"/>
                </a:solidFill>
                <a:latin typeface="Calibri" pitchFamily="34" charset="0"/>
                <a:ea typeface="Calibri" pitchFamily="34" charset="-122"/>
                <a:cs typeface="Calibri" pitchFamily="34" charset="-120"/>
              </a:rPr>
              <a:t>HeatSafe  •  Team 5  •  CINS 5338/5388</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2026-09-16T22:11:09Z</dcterms:created>
  <dcterms:modified xsi:type="dcterms:W3CDTF">2026-09-16T22:11:09Z</dcterms:modified>
</cp:coreProperties>
</file>